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9"/>
    <p:restoredTop sz="91418"/>
  </p:normalViewPr>
  <p:slideViewPr>
    <p:cSldViewPr snapToGrid="0">
      <p:cViewPr>
        <p:scale>
          <a:sx n="63" d="100"/>
          <a:sy n="63" d="100"/>
        </p:scale>
        <p:origin x="392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E3F31E-A8EC-1048-82D8-241CF29EAAD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A9625-1080-1447-822F-FE0562F54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05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A9625-1080-1447-822F-FE0562F542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0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3805-606E-039B-DF3F-868D9F8A6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7A9CA-DFCB-21A7-7A7E-FF7924611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DC806-BD6A-3E33-5CD4-7E0B6D6C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0792-3EC7-AB43-8C29-25F037CCCEF6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D593A-2B89-17A0-8D1B-223F6B3B1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409AF-0A54-4C14-8480-C8B731A1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0123-7983-A84A-AE8C-D26E7DCAD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8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CF6F-AFA6-3310-E26F-C5C18DF86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45288-9B2A-16EB-F45B-9F1795BE8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ADBA4-28F0-96C0-4B36-F0482CD9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0792-3EC7-AB43-8C29-25F037CCCEF6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91675-B281-CC61-23AA-8AF623D9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53BA5-BF41-5003-9158-608B867C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0123-7983-A84A-AE8C-D26E7DCAD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0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55A5-5A77-51E1-04C6-597B4204C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1199A-5773-F77E-B1DD-415144FFD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A5B80-6359-E682-4E56-470E607C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0792-3EC7-AB43-8C29-25F037CCCEF6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74A78-0A71-B8FD-BA01-356074C83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1EA2B-29AF-73A2-754F-D2846B52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0123-7983-A84A-AE8C-D26E7DCAD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7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8DDD7-DD8E-AFAC-1A48-5320CA84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BAD54-7D0F-18D1-A83A-1934A075E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FD2F1-4211-B1F4-F219-38CAF779E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66840-A2A6-58DA-90DB-BF7C78B4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0792-3EC7-AB43-8C29-25F037CCCEF6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8AF42-39E4-2D8D-BDC9-E227ADBA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420F9-AC68-04E9-C603-190B1295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0123-7983-A84A-AE8C-D26E7DCAD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83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E6F2B-3EC5-FD96-E045-65495816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98891-7AAE-8AB0-88AC-FD7F9C366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4E549-019D-6AF8-F55F-BE3AEFAEB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F0A71B-FE4D-96DE-BB25-C5D497525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12A89-8D2F-10DF-AAEC-249D8E91A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5C32A6-0CEB-9C7C-8165-DD8217F40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0792-3EC7-AB43-8C29-25F037CCCEF6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674EDC-9D1B-5062-12B8-8425C91D2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30F9BE-B9CB-AEDD-C021-196A967F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0123-7983-A84A-AE8C-D26E7DCAD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1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548A-3E80-5A4D-E154-C1B36E3D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BE375-A625-591F-CF05-EA4E98D5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0792-3EC7-AB43-8C29-25F037CCCEF6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83304-6169-1729-D9C4-5F65A3133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581F93-BD41-76D2-AA5E-3E15F642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0123-7983-A84A-AE8C-D26E7DCAD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7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97A1C-B908-BBC2-E029-1E45C79E7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0792-3EC7-AB43-8C29-25F037CCCEF6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A7742-F5BA-292B-26C1-6764511F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99DD-45CD-05A1-136A-E26FBB268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0123-7983-A84A-AE8C-D26E7DCAD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6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795E9-7BEB-A5EE-CF30-7EEB0F3C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7D90-1F61-28D9-0723-4B13F1970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52AC0-8409-4330-BDA1-8DD2C0D56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C4B56-8550-8DE2-B201-C100DD3BE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0792-3EC7-AB43-8C29-25F037CCCEF6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6D0CF-950E-E7BC-B14A-9E862E554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30E41-189E-ACAD-1BC4-03033C6A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0123-7983-A84A-AE8C-D26E7DCAD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DDDF9-FA32-B3F5-807D-4B072C3E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F4129-779E-9ACF-8C91-5959FF177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3F37D-DB50-4209-C2F0-D65FB89A3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9C05F-309B-DB3C-06A4-17F7D37E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0792-3EC7-AB43-8C29-25F037CCCEF6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56911-0099-7BFC-F433-BE3D0E38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75462-0FAF-C48A-3203-4B24175E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0123-7983-A84A-AE8C-D26E7DCAD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87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8975-40C0-2409-92C7-1102BE391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50F1C-67C9-9649-C10D-A08D19E14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33EE2-1065-C0AC-A536-90F7BB81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0792-3EC7-AB43-8C29-25F037CCCEF6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41E34-2C12-AA16-BC3D-54BF65257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A1394-D8E7-A561-A280-4F3873AF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0123-7983-A84A-AE8C-D26E7DCAD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43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8E2C76-42BB-774F-51BF-A4CDFBBCA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E36BC-9719-DD97-54D3-F4F915331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69D1-D529-D50F-FB84-08231786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0792-3EC7-AB43-8C29-25F037CCCEF6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BF493-5899-F0DF-8AD9-962721CF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0923-8A7A-AF73-CE40-A8EB7C3A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0123-7983-A84A-AE8C-D26E7DCAD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903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3331A-E83B-A970-4C85-6D0EBA7BD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23F3A-9B00-3496-873A-AB5B1FEAA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AC04E-7B1F-BD76-D5E1-D7B32D34C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680792-3EC7-AB43-8C29-25F037CCCEF6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8FA07-DE42-E4AB-7AD4-0C3318A21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E5EC1-5748-88E9-7DCA-3C0341F21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90123-7983-A84A-AE8C-D26E7DCAD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6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A633C-D3F4-B95B-9602-53FBC4BAEA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 – June 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9F4075-677B-90F5-1AB2-F2299A2033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 Earle</a:t>
            </a:r>
          </a:p>
        </p:txBody>
      </p:sp>
    </p:spTree>
    <p:extLst>
      <p:ext uri="{BB962C8B-B14F-4D97-AF65-F5344CB8AC3E}">
        <p14:creationId xmlns:p14="http://schemas.microsoft.com/office/powerpoint/2010/main" val="349599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46BC-72D4-0234-657E-22742A66F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Campus Mesh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57C9-6E68-868B-B551-21E8717DD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169"/>
            <a:ext cx="10515600" cy="483958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Last week, I finished setting up my campus mesh and began testing.</a:t>
            </a:r>
          </a:p>
          <a:p>
            <a:r>
              <a:rPr lang="en-US" dirty="0"/>
              <a:t>The first tests consisted of sending packets across various routes and intervals, gathering data on delivery rate and latency.</a:t>
            </a:r>
          </a:p>
          <a:p>
            <a:r>
              <a:rPr lang="en-US" dirty="0"/>
              <a:t>My initial plan was to get delivery rate and latency metrics across two different routes (Goldberg to Dalplex, LSC to CHEB) at 5-second and 1-minute intervals.</a:t>
            </a:r>
          </a:p>
          <a:p>
            <a:r>
              <a:rPr lang="en-US" dirty="0"/>
              <a:t>It took quite a few attempts to get this test consistently working between the Goldberg to Dalplex. Unfortunately, did not work between the LSC and CHEB. </a:t>
            </a:r>
          </a:p>
          <a:p>
            <a:r>
              <a:rPr lang="en-US" dirty="0"/>
              <a:t>It could be interesting to use this data to see how Meshtastic simulations compared to real-world results, and how MeshCore performs with the same test.</a:t>
            </a:r>
          </a:p>
        </p:txBody>
      </p:sp>
    </p:spTree>
    <p:extLst>
      <p:ext uri="{BB962C8B-B14F-4D97-AF65-F5344CB8AC3E}">
        <p14:creationId xmlns:p14="http://schemas.microsoft.com/office/powerpoint/2010/main" val="41256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11B1-C154-E69A-6F61-3534FB4A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Meshtastic Delivery Rate + Latency Test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52457F-F3D0-8DFF-743B-81F23F4B9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845642"/>
              </p:ext>
            </p:extLst>
          </p:nvPr>
        </p:nvGraphicFramePr>
        <p:xfrm>
          <a:off x="838200" y="1791245"/>
          <a:ext cx="10515601" cy="27336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6063">
                  <a:extLst>
                    <a:ext uri="{9D8B030D-6E8A-4147-A177-3AD203B41FA5}">
                      <a16:colId xmlns:a16="http://schemas.microsoft.com/office/drawing/2014/main" val="2636327911"/>
                    </a:ext>
                  </a:extLst>
                </a:gridCol>
                <a:gridCol w="1826063">
                  <a:extLst>
                    <a:ext uri="{9D8B030D-6E8A-4147-A177-3AD203B41FA5}">
                      <a16:colId xmlns:a16="http://schemas.microsoft.com/office/drawing/2014/main" val="3583101172"/>
                    </a:ext>
                  </a:extLst>
                </a:gridCol>
                <a:gridCol w="2266835">
                  <a:extLst>
                    <a:ext uri="{9D8B030D-6E8A-4147-A177-3AD203B41FA5}">
                      <a16:colId xmlns:a16="http://schemas.microsoft.com/office/drawing/2014/main" val="72097630"/>
                    </a:ext>
                  </a:extLst>
                </a:gridCol>
                <a:gridCol w="2434749">
                  <a:extLst>
                    <a:ext uri="{9D8B030D-6E8A-4147-A177-3AD203B41FA5}">
                      <a16:colId xmlns:a16="http://schemas.microsoft.com/office/drawing/2014/main" val="1601608458"/>
                    </a:ext>
                  </a:extLst>
                </a:gridCol>
                <a:gridCol w="2161891">
                  <a:extLst>
                    <a:ext uri="{9D8B030D-6E8A-4147-A177-3AD203B41FA5}">
                      <a16:colId xmlns:a16="http://schemas.microsoft.com/office/drawing/2014/main" val="4050630444"/>
                    </a:ext>
                  </a:extLst>
                </a:gridCol>
              </a:tblGrid>
              <a:tr h="6610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Interval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b="1" u="none" strike="noStrike" dirty="0">
                          <a:effectLst/>
                        </a:rPr>
                        <a:t>Avg DR (%)</a:t>
                      </a:r>
                      <a:endParaRPr lang="en-CA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b="1" u="none" strike="noStrike" dirty="0">
                          <a:effectLst/>
                        </a:rPr>
                        <a:t>Avg Latency (s)</a:t>
                      </a:r>
                      <a:endParaRPr lang="en-CA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b="1" u="none" strike="noStrike" dirty="0">
                          <a:effectLst/>
                        </a:rPr>
                        <a:t>ACK Received</a:t>
                      </a:r>
                      <a:endParaRPr lang="en-CA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b="1" u="none" strike="noStrike" dirty="0">
                          <a:effectLst/>
                        </a:rPr>
                        <a:t>Bidirectional %</a:t>
                      </a:r>
                      <a:endParaRPr lang="en-CA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2647613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1 minute</a:t>
                      </a:r>
                      <a:endParaRPr lang="en-CA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51.6666667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8.187308351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28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90.32258065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7961345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5 second</a:t>
                      </a:r>
                      <a:endParaRPr lang="en-CA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26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15.02221553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53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67.94871795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6830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94219E-A66D-9D93-0E6D-515831DD3AB2}"/>
              </a:ext>
            </a:extLst>
          </p:cNvPr>
          <p:cNvSpPr txBox="1"/>
          <p:nvPr/>
        </p:nvSpPr>
        <p:spPr>
          <a:xfrm>
            <a:off x="838200" y="4625455"/>
            <a:ext cx="102677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 more messages are sent throughout the mesh, delivery rate decreases and latency increases.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Latency is surprisingly high for both tests. This could be because of the LONG_FAST modem preset.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Unfortunately, for the time and effort put into these tests, these tests did not yield statistically significant results. Prioritizing other tests likely would have been more productive.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D52A9-790F-55A5-9A15-16B484EF59F9}"/>
              </a:ext>
            </a:extLst>
          </p:cNvPr>
          <p:cNvSpPr txBox="1"/>
          <p:nvPr/>
        </p:nvSpPr>
        <p:spPr>
          <a:xfrm>
            <a:off x="4362680" y="1321354"/>
            <a:ext cx="2908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Route: Goldberg to Dalplex</a:t>
            </a:r>
          </a:p>
        </p:txBody>
      </p:sp>
    </p:spTree>
    <p:extLst>
      <p:ext uri="{BB962C8B-B14F-4D97-AF65-F5344CB8AC3E}">
        <p14:creationId xmlns:p14="http://schemas.microsoft.com/office/powerpoint/2010/main" val="1709058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AD8AD-12EF-1C33-200D-4856249B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Mesh-wide Retransmission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99B38-C982-912D-1CD6-AB5C2264E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next test conducted was to determine how busy nodes are transmitting and retransmitting messages within a given time frame. </a:t>
            </a:r>
          </a:p>
          <a:p>
            <a:r>
              <a:rPr lang="en-US" dirty="0"/>
              <a:t>Procedure:</a:t>
            </a:r>
          </a:p>
          <a:p>
            <a:pPr lvl="1"/>
            <a:r>
              <a:rPr lang="en-US" dirty="0"/>
              <a:t>Walk around campus, gathering initial local_stats telemetry data, including:</a:t>
            </a:r>
          </a:p>
          <a:p>
            <a:pPr lvl="2"/>
            <a:r>
              <a:rPr lang="en-US" dirty="0"/>
              <a:t>Uptime seconds</a:t>
            </a:r>
          </a:p>
          <a:p>
            <a:pPr lvl="2"/>
            <a:r>
              <a:rPr lang="en-US" dirty="0"/>
              <a:t>% of time since boot taken up transmitting (</a:t>
            </a:r>
            <a:r>
              <a:rPr lang="en-US" dirty="0" err="1"/>
              <a:t>airUtilTx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Number of packets transmitted since boot</a:t>
            </a:r>
          </a:p>
          <a:p>
            <a:pPr lvl="2"/>
            <a:r>
              <a:rPr lang="en-US" dirty="0"/>
              <a:t>Number of packets received since boot</a:t>
            </a:r>
          </a:p>
          <a:p>
            <a:pPr lvl="2"/>
            <a:r>
              <a:rPr lang="en-US" dirty="0"/>
              <a:t>Number of duplicate packets</a:t>
            </a:r>
          </a:p>
          <a:p>
            <a:pPr lvl="2"/>
            <a:r>
              <a:rPr lang="en-US" dirty="0"/>
              <a:t>Number of packets relayed for other nodes</a:t>
            </a:r>
          </a:p>
          <a:p>
            <a:pPr lvl="1"/>
            <a:r>
              <a:rPr lang="en-US" dirty="0"/>
              <a:t>Send 1 packet every 5 seconds 100 times from the Goldberg to the Dalplex.</a:t>
            </a:r>
          </a:p>
          <a:p>
            <a:pPr lvl="1"/>
            <a:r>
              <a:rPr lang="en-US" dirty="0"/>
              <a:t>Walk around campus and gather the telemetry data again.</a:t>
            </a:r>
          </a:p>
        </p:txBody>
      </p:sp>
    </p:spTree>
    <p:extLst>
      <p:ext uri="{BB962C8B-B14F-4D97-AF65-F5344CB8AC3E}">
        <p14:creationId xmlns:p14="http://schemas.microsoft.com/office/powerpoint/2010/main" val="340355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742B-5259-C924-339B-DB64BEAA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Mesh-wide Retransmission Test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E4DD38-3C05-46CC-D076-3D582F327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426085"/>
              </p:ext>
            </p:extLst>
          </p:nvPr>
        </p:nvGraphicFramePr>
        <p:xfrm>
          <a:off x="595130" y="1433753"/>
          <a:ext cx="11014277" cy="47272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3751">
                  <a:extLst>
                    <a:ext uri="{9D8B030D-6E8A-4147-A177-3AD203B41FA5}">
                      <a16:colId xmlns:a16="http://schemas.microsoft.com/office/drawing/2014/main" val="4034306450"/>
                    </a:ext>
                  </a:extLst>
                </a:gridCol>
                <a:gridCol w="931996">
                  <a:extLst>
                    <a:ext uri="{9D8B030D-6E8A-4147-A177-3AD203B41FA5}">
                      <a16:colId xmlns:a16="http://schemas.microsoft.com/office/drawing/2014/main" val="3374045826"/>
                    </a:ext>
                  </a:extLst>
                </a:gridCol>
                <a:gridCol w="1012551">
                  <a:extLst>
                    <a:ext uri="{9D8B030D-6E8A-4147-A177-3AD203B41FA5}">
                      <a16:colId xmlns:a16="http://schemas.microsoft.com/office/drawing/2014/main" val="4167970547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252173028"/>
                    </a:ext>
                  </a:extLst>
                </a:gridCol>
                <a:gridCol w="865889">
                  <a:extLst>
                    <a:ext uri="{9D8B030D-6E8A-4147-A177-3AD203B41FA5}">
                      <a16:colId xmlns:a16="http://schemas.microsoft.com/office/drawing/2014/main" val="3687539061"/>
                    </a:ext>
                  </a:extLst>
                </a:gridCol>
                <a:gridCol w="905038">
                  <a:extLst>
                    <a:ext uri="{9D8B030D-6E8A-4147-A177-3AD203B41FA5}">
                      <a16:colId xmlns:a16="http://schemas.microsoft.com/office/drawing/2014/main" val="3180003315"/>
                    </a:ext>
                  </a:extLst>
                </a:gridCol>
                <a:gridCol w="650165">
                  <a:extLst>
                    <a:ext uri="{9D8B030D-6E8A-4147-A177-3AD203B41FA5}">
                      <a16:colId xmlns:a16="http://schemas.microsoft.com/office/drawing/2014/main" val="697460161"/>
                    </a:ext>
                  </a:extLst>
                </a:gridCol>
                <a:gridCol w="715647">
                  <a:extLst>
                    <a:ext uri="{9D8B030D-6E8A-4147-A177-3AD203B41FA5}">
                      <a16:colId xmlns:a16="http://schemas.microsoft.com/office/drawing/2014/main" val="2573195984"/>
                    </a:ext>
                  </a:extLst>
                </a:gridCol>
                <a:gridCol w="694481">
                  <a:extLst>
                    <a:ext uri="{9D8B030D-6E8A-4147-A177-3AD203B41FA5}">
                      <a16:colId xmlns:a16="http://schemas.microsoft.com/office/drawing/2014/main" val="2065922654"/>
                    </a:ext>
                  </a:extLst>
                </a:gridCol>
                <a:gridCol w="856423">
                  <a:extLst>
                    <a:ext uri="{9D8B030D-6E8A-4147-A177-3AD203B41FA5}">
                      <a16:colId xmlns:a16="http://schemas.microsoft.com/office/drawing/2014/main" val="3069453844"/>
                    </a:ext>
                  </a:extLst>
                </a:gridCol>
                <a:gridCol w="601987">
                  <a:extLst>
                    <a:ext uri="{9D8B030D-6E8A-4147-A177-3AD203B41FA5}">
                      <a16:colId xmlns:a16="http://schemas.microsoft.com/office/drawing/2014/main" val="1993326863"/>
                    </a:ext>
                  </a:extLst>
                </a:gridCol>
                <a:gridCol w="567160">
                  <a:extLst>
                    <a:ext uri="{9D8B030D-6E8A-4147-A177-3AD203B41FA5}">
                      <a16:colId xmlns:a16="http://schemas.microsoft.com/office/drawing/2014/main" val="3139228204"/>
                    </a:ext>
                  </a:extLst>
                </a:gridCol>
                <a:gridCol w="821802">
                  <a:extLst>
                    <a:ext uri="{9D8B030D-6E8A-4147-A177-3AD203B41FA5}">
                      <a16:colId xmlns:a16="http://schemas.microsoft.com/office/drawing/2014/main" val="1383553117"/>
                    </a:ext>
                  </a:extLst>
                </a:gridCol>
                <a:gridCol w="798653">
                  <a:extLst>
                    <a:ext uri="{9D8B030D-6E8A-4147-A177-3AD203B41FA5}">
                      <a16:colId xmlns:a16="http://schemas.microsoft.com/office/drawing/2014/main" val="1424494498"/>
                    </a:ext>
                  </a:extLst>
                </a:gridCol>
              </a:tblGrid>
              <a:tr h="3718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timestamp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latitude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solidFill>
                            <a:schemeClr val="bg1"/>
                          </a:solidFill>
                          <a:effectLst/>
                        </a:rPr>
                        <a:t>longitude</a:t>
                      </a:r>
                      <a:endParaRPr lang="en-CA" sz="8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solidFill>
                            <a:schemeClr val="bg1"/>
                          </a:solidFill>
                          <a:effectLst/>
                        </a:rPr>
                        <a:t> nodeId</a:t>
                      </a:r>
                      <a:endParaRPr lang="en-CA" sz="8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solidFill>
                            <a:schemeClr val="bg1"/>
                          </a:solidFill>
                          <a:effectLst/>
                        </a:rPr>
                        <a:t> uptimeSeconds</a:t>
                      </a:r>
                      <a:endParaRPr lang="en-CA" sz="8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solidFill>
                            <a:schemeClr val="bg1"/>
                          </a:solidFill>
                          <a:effectLst/>
                        </a:rPr>
                        <a:t>channelUtilization</a:t>
                      </a:r>
                      <a:endParaRPr lang="en-CA" sz="8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airUtilTx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solidFill>
                            <a:schemeClr val="bg1"/>
                          </a:solidFill>
                          <a:effectLst/>
                        </a:rPr>
                        <a:t>numPacketsTx</a:t>
                      </a:r>
                      <a:endParaRPr lang="en-CA" sz="8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solidFill>
                            <a:schemeClr val="bg1"/>
                          </a:solidFill>
                          <a:effectLst/>
                        </a:rPr>
                        <a:t>numPacketsRx</a:t>
                      </a:r>
                      <a:endParaRPr lang="en-CA" sz="8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solidFill>
                            <a:schemeClr val="bg1"/>
                          </a:solidFill>
                          <a:effectLst/>
                        </a:rPr>
                        <a:t>numPacketsRxBad</a:t>
                      </a:r>
                      <a:endParaRPr lang="en-CA" sz="8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solidFill>
                            <a:schemeClr val="bg1"/>
                          </a:solidFill>
                          <a:effectLst/>
                        </a:rPr>
                        <a:t>numRxDupe</a:t>
                      </a:r>
                      <a:endParaRPr lang="en-CA" sz="8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solidFill>
                            <a:schemeClr val="bg1"/>
                          </a:solidFill>
                          <a:effectLst/>
                        </a:rPr>
                        <a:t>numTxRelay</a:t>
                      </a:r>
                      <a:endParaRPr lang="en-CA" sz="8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numOnlineNodes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numTotalNodes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891362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1782308803.6791291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44.6374710331165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-63.5875248258794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!6c73daa0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7.8933334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0.06255556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7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47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2638215064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1782309202.331554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44.6369664633251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-63.5891976671482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!dadfb0cc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19.748333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0.12286111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7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5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474330681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1782310165.334353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44.6347432599171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-63.5917649968432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!dadfb8d4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10.715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0.05611111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5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3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3135297056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1782310732.606525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44.6362052985069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-63.5940921770574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!dadfb008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122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7.621667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0.06408334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8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79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908058911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1782312597.389235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44.6391960574960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-63.5828730326646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!dadfb03c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N/A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0.028055554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N/A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N/A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N/A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N/A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712003544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 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 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 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243026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1782315554.031728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44.6374710331165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-63.5875248258794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!6c73daa0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6844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2.0033333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5.9859166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447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665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156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400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18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51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3461017709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1782316035.450979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44.6369664633251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-63.5891976671482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!dadfb0cc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6902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4.14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5.2986665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409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1036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132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406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399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70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70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3115658900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1782316761.518246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44.6347432599171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-63.5917649968432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!dadfb8d4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6662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2.0033333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1.7945001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155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812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70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267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133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762929821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1782317435.696922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44.6362052985069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-63.5940921770574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!dadfb008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6784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7.5516663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4.1583333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386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832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95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261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385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79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3968629172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1782318815.515288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44.6391960574960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-63.5828730326646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!dadfb03c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6242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N/A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0.028833333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3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N/A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N/A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N/A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N/A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2302367308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 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 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 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36813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44.6374710331165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-63.5875248258794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!6c73daa0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6783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5.92336104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658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154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397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3662408758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44.6369664633251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-63.5891976671482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!dadfb0cc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6841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 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5.17580539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403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1022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131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399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394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8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8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3833887791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44.6347432599171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-63.5917649968432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!dadfb8d4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6601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1.73838899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153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807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67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266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132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1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0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2278563735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44.6362052985069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-63.5940921770574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!dadfb008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6662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4.09424996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384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824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91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259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384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0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1760752196"/>
                  </a:ext>
                </a:extLst>
              </a:tr>
              <a:tr h="2561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44.6391960574960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-63.5828730326646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!dadfb03c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6181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0.000777779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N/A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N/A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N/A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N/A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0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0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41052663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03809A-A54E-5481-130A-E4B47CB1A444}"/>
              </a:ext>
            </a:extLst>
          </p:cNvPr>
          <p:cNvSpPr txBox="1"/>
          <p:nvPr/>
        </p:nvSpPr>
        <p:spPr>
          <a:xfrm>
            <a:off x="2099839" y="6308209"/>
            <a:ext cx="11014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!dadfb03c (CHEB) did not have the default telemetry settings turned on</a:t>
            </a:r>
          </a:p>
        </p:txBody>
      </p:sp>
    </p:spTree>
    <p:extLst>
      <p:ext uri="{BB962C8B-B14F-4D97-AF65-F5344CB8AC3E}">
        <p14:creationId xmlns:p14="http://schemas.microsoft.com/office/powerpoint/2010/main" val="2333558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AE26-D9F2-D01C-6975-62AA959A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Mesh-wide Retransmission Test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99FE0A-3BCF-DE70-2FD8-0B457269C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932139"/>
              </p:ext>
            </p:extLst>
          </p:nvPr>
        </p:nvGraphicFramePr>
        <p:xfrm>
          <a:off x="838200" y="1377388"/>
          <a:ext cx="10515600" cy="52086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9026">
                  <a:extLst>
                    <a:ext uri="{9D8B030D-6E8A-4147-A177-3AD203B41FA5}">
                      <a16:colId xmlns:a16="http://schemas.microsoft.com/office/drawing/2014/main" val="2233003324"/>
                    </a:ext>
                  </a:extLst>
                </a:gridCol>
                <a:gridCol w="1099595">
                  <a:extLst>
                    <a:ext uri="{9D8B030D-6E8A-4147-A177-3AD203B41FA5}">
                      <a16:colId xmlns:a16="http://schemas.microsoft.com/office/drawing/2014/main" val="862000896"/>
                    </a:ext>
                  </a:extLst>
                </a:gridCol>
                <a:gridCol w="838629">
                  <a:extLst>
                    <a:ext uri="{9D8B030D-6E8A-4147-A177-3AD203B41FA5}">
                      <a16:colId xmlns:a16="http://schemas.microsoft.com/office/drawing/2014/main" val="341590623"/>
                    </a:ext>
                  </a:extLst>
                </a:gridCol>
                <a:gridCol w="1001083">
                  <a:extLst>
                    <a:ext uri="{9D8B030D-6E8A-4147-A177-3AD203B41FA5}">
                      <a16:colId xmlns:a16="http://schemas.microsoft.com/office/drawing/2014/main" val="3184167577"/>
                    </a:ext>
                  </a:extLst>
                </a:gridCol>
                <a:gridCol w="751678">
                  <a:extLst>
                    <a:ext uri="{9D8B030D-6E8A-4147-A177-3AD203B41FA5}">
                      <a16:colId xmlns:a16="http://schemas.microsoft.com/office/drawing/2014/main" val="3085456058"/>
                    </a:ext>
                  </a:extLst>
                </a:gridCol>
                <a:gridCol w="827384">
                  <a:extLst>
                    <a:ext uri="{9D8B030D-6E8A-4147-A177-3AD203B41FA5}">
                      <a16:colId xmlns:a16="http://schemas.microsoft.com/office/drawing/2014/main" val="1200792100"/>
                    </a:ext>
                  </a:extLst>
                </a:gridCol>
                <a:gridCol w="802913">
                  <a:extLst>
                    <a:ext uri="{9D8B030D-6E8A-4147-A177-3AD203B41FA5}">
                      <a16:colId xmlns:a16="http://schemas.microsoft.com/office/drawing/2014/main" val="3301623867"/>
                    </a:ext>
                  </a:extLst>
                </a:gridCol>
                <a:gridCol w="990139">
                  <a:extLst>
                    <a:ext uri="{9D8B030D-6E8A-4147-A177-3AD203B41FA5}">
                      <a16:colId xmlns:a16="http://schemas.microsoft.com/office/drawing/2014/main" val="3957271241"/>
                    </a:ext>
                  </a:extLst>
                </a:gridCol>
                <a:gridCol w="695977">
                  <a:extLst>
                    <a:ext uri="{9D8B030D-6E8A-4147-A177-3AD203B41FA5}">
                      <a16:colId xmlns:a16="http://schemas.microsoft.com/office/drawing/2014/main" val="1531518604"/>
                    </a:ext>
                  </a:extLst>
                </a:gridCol>
                <a:gridCol w="655713">
                  <a:extLst>
                    <a:ext uri="{9D8B030D-6E8A-4147-A177-3AD203B41FA5}">
                      <a16:colId xmlns:a16="http://schemas.microsoft.com/office/drawing/2014/main" val="3339899203"/>
                    </a:ext>
                  </a:extLst>
                </a:gridCol>
                <a:gridCol w="950113">
                  <a:extLst>
                    <a:ext uri="{9D8B030D-6E8A-4147-A177-3AD203B41FA5}">
                      <a16:colId xmlns:a16="http://schemas.microsoft.com/office/drawing/2014/main" val="4211591713"/>
                    </a:ext>
                  </a:extLst>
                </a:gridCol>
                <a:gridCol w="923350">
                  <a:extLst>
                    <a:ext uri="{9D8B030D-6E8A-4147-A177-3AD203B41FA5}">
                      <a16:colId xmlns:a16="http://schemas.microsoft.com/office/drawing/2014/main" val="995838181"/>
                    </a:ext>
                  </a:extLst>
                </a:gridCol>
              </a:tblGrid>
              <a:tr h="525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latitude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longitude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CA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nodeId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CA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uptimeSeconds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airUtilTx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numPacketsTx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numPacketsRx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numPacketsRxBad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numRxDupe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numTxRelay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numOnlineNodes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numTotalNodes</a:t>
                      </a:r>
                      <a:endParaRPr lang="en-CA" sz="8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045837"/>
                  </a:ext>
                </a:extLst>
              </a:tr>
              <a:tr h="936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44.6374710331165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-63.5875248258794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!6c73daa0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6783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5.92336104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444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658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154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397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63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763061183"/>
                  </a:ext>
                </a:extLst>
              </a:tr>
              <a:tr h="936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44.6369664633251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-63.5891976671482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!dadfb0cc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6841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5.17580539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403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1022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131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399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394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3575471287"/>
                  </a:ext>
                </a:extLst>
              </a:tr>
              <a:tr h="936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44.6347432599171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-63.5917649968432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!dadfb8d4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6601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1.73838899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153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807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67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266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132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0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4148668629"/>
                  </a:ext>
                </a:extLst>
              </a:tr>
              <a:tr h="936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44.6362052985069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-63.5940921770574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!dadfb008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6662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4.09424996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384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824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91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259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384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22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0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1718283873"/>
                  </a:ext>
                </a:extLst>
              </a:tr>
              <a:tr h="936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44.6391960574960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-63.5828730326646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!dadfb03c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6181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0.000777779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N/A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N/A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N/A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N/A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0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0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72" marR="6672" marT="6672" marB="0" anchor="ctr"/>
                </a:tc>
                <a:extLst>
                  <a:ext uri="{0D108BD9-81ED-4DB2-BD59-A6C34878D82A}">
                    <a16:rowId xmlns:a16="http://schemas.microsoft.com/office/drawing/2014/main" val="1186409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645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E7F2DB1-C53C-5646-7B2F-A744F5D71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467" y="-54542"/>
            <a:ext cx="12327467" cy="689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6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3B56-5549-A260-5397-AA6B846EA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Mesh-wide Retransmission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1F4F7-4C61-FA1F-6452-DFE112F73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There were some issues with the test:</a:t>
            </a:r>
          </a:p>
          <a:p>
            <a:pPr lvl="1"/>
            <a:r>
              <a:rPr lang="en-US" dirty="0"/>
              <a:t>There is supposed to be another node (</a:t>
            </a:r>
            <a:r>
              <a:rPr lang="en-CA" dirty="0"/>
              <a:t>!dadfb6c8)</a:t>
            </a:r>
            <a:r>
              <a:rPr lang="en-US" dirty="0"/>
              <a:t> in the McCain Arts Building Room 2130 but unfortunately, the doors to the classroom have been locked. Fortunately, the node is still active and is still part of the mesh.</a:t>
            </a:r>
          </a:p>
          <a:p>
            <a:pPr lvl="1"/>
            <a:r>
              <a:rPr lang="en-CA" dirty="0"/>
              <a:t>Although I assumed the node in the Collaborative Health Education Building (CHEB) had been recently re-flashed with default settings, I discovered this was not the case only after the test was completed. </a:t>
            </a:r>
            <a:r>
              <a:rPr lang="en-US" dirty="0"/>
              <a:t>Because the background telemetry settings were turned off, I was only able to see the </a:t>
            </a:r>
            <a:r>
              <a:rPr lang="en-US" dirty="0" err="1"/>
              <a:t>airUtilTx</a:t>
            </a:r>
            <a:r>
              <a:rPr lang="en-US" dirty="0"/>
              <a:t> and number of packets sent, which were low because the default background settings were turned off.</a:t>
            </a:r>
          </a:p>
          <a:p>
            <a:r>
              <a:rPr lang="en-US" dirty="0"/>
              <a:t>This test could be re-done in the future with these changes for more data and accurate results.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012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1006-99F6-D010-C23F-17EC4272B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D90D9-34A0-9BD8-2158-C7A42C2AD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Battery Consumption Testing</a:t>
            </a:r>
          </a:p>
          <a:p>
            <a:pPr lvl="1"/>
            <a:r>
              <a:rPr lang="en-US" dirty="0"/>
              <a:t>Observe the overnight power draw on nodes under default conditions.</a:t>
            </a:r>
          </a:p>
          <a:p>
            <a:r>
              <a:rPr lang="en-US" dirty="0"/>
              <a:t>Mobile Routing Test</a:t>
            </a:r>
          </a:p>
          <a:p>
            <a:pPr lvl="1"/>
            <a:r>
              <a:rPr lang="en-US" dirty="0"/>
              <a:t>Observing how Meshtastic adapts to moving nodes, how broken paths are updated dynamically and how this affects communication performance.</a:t>
            </a:r>
          </a:p>
          <a:p>
            <a:r>
              <a:rPr lang="en-US" dirty="0"/>
              <a:t>MeshCore</a:t>
            </a:r>
          </a:p>
          <a:p>
            <a:pPr lvl="1"/>
            <a:r>
              <a:rPr lang="en-US" dirty="0"/>
              <a:t>Re-run the previous tests and/or new tests on MeshCore firmware to compare how architectural differences impact results in urban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813073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973</Words>
  <Application>Microsoft Macintosh PowerPoint</Application>
  <PresentationFormat>Widescreen</PresentationFormat>
  <Paragraphs>380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Menlo</vt:lpstr>
      <vt:lpstr>Office Theme</vt:lpstr>
      <vt:lpstr>Meeting – June 25</vt:lpstr>
      <vt:lpstr>Campus Mesh Tests</vt:lpstr>
      <vt:lpstr>Meshtastic Delivery Rate + Latency Test Results</vt:lpstr>
      <vt:lpstr>Mesh-wide Retransmission Test</vt:lpstr>
      <vt:lpstr>Mesh-wide Retransmission Test Results</vt:lpstr>
      <vt:lpstr>Mesh-wide Retransmission Test Results</vt:lpstr>
      <vt:lpstr>PowerPoint Presentation</vt:lpstr>
      <vt:lpstr>Mesh-wide Retransmission Test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Earle</dc:creator>
  <cp:lastModifiedBy>Jonathan Earle</cp:lastModifiedBy>
  <cp:revision>13</cp:revision>
  <dcterms:created xsi:type="dcterms:W3CDTF">2026-06-25T12:45:19Z</dcterms:created>
  <dcterms:modified xsi:type="dcterms:W3CDTF">2026-06-25T15:51:40Z</dcterms:modified>
</cp:coreProperties>
</file>