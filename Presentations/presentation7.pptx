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99"/>
    <p:restoredTop sz="91418"/>
  </p:normalViewPr>
  <p:slideViewPr>
    <p:cSldViewPr snapToGrid="0">
      <p:cViewPr>
        <p:scale>
          <a:sx n="58" d="100"/>
          <a:sy n="58" d="100"/>
        </p:scale>
        <p:origin x="608" y="13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E3F31E-A8EC-1048-82D8-241CF29EAADA}" type="datetimeFigureOut">
              <a:rPr lang="en-US" smtClean="0"/>
              <a:t>6/25/26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9A9625-1080-1447-822F-FE0562F542A7}" type="slidenum">
              <a:rPr lang="en-US" smtClean="0"/>
              <a:t>‹#›</a:t>
            </a:fld>
            <a:endParaRPr lang="en-US"/>
          </a:p>
        </p:txBody>
      </p:sp>
    </p:spTree>
    <p:extLst>
      <p:ext uri="{BB962C8B-B14F-4D97-AF65-F5344CB8AC3E}">
        <p14:creationId xmlns:p14="http://schemas.microsoft.com/office/powerpoint/2010/main" val="13024059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D9A9625-1080-1447-822F-FE0562F542A7}" type="slidenum">
              <a:rPr lang="en-US" smtClean="0"/>
              <a:t>5</a:t>
            </a:fld>
            <a:endParaRPr lang="en-US"/>
          </a:p>
        </p:txBody>
      </p:sp>
    </p:spTree>
    <p:extLst>
      <p:ext uri="{BB962C8B-B14F-4D97-AF65-F5344CB8AC3E}">
        <p14:creationId xmlns:p14="http://schemas.microsoft.com/office/powerpoint/2010/main" val="17207009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4D3805-606E-039B-DF3F-868D9F8A63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737A9CA-DFCB-21A7-7A7E-FF79246115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54DC806-BD6A-3E33-5CD4-7E0B6D6C2BC4}"/>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5" name="Footer Placeholder 4">
            <a:extLst>
              <a:ext uri="{FF2B5EF4-FFF2-40B4-BE49-F238E27FC236}">
                <a16:creationId xmlns:a16="http://schemas.microsoft.com/office/drawing/2014/main" id="{5A3D593A-2B89-17A0-8D1B-223F6B3B17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A409AF-0A54-4C14-8480-C8B731A1FDB1}"/>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28304864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CCF6F-AFA6-3310-E26F-C5C18DF86B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D245288-9B2A-16EB-F45B-9F1795BE8B6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0ADBA4-28F0-96C0-4B36-F0482CD9E91A}"/>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5" name="Footer Placeholder 4">
            <a:extLst>
              <a:ext uri="{FF2B5EF4-FFF2-40B4-BE49-F238E27FC236}">
                <a16:creationId xmlns:a16="http://schemas.microsoft.com/office/drawing/2014/main" id="{25191675-B281-CC61-23AA-8AF623D954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153BA5-BF41-5003-9158-608B867CABA9}"/>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9922091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55A5-5A77-51E1-04C6-597B4204C6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C1199A-5773-F77E-B1DD-415144FFD9D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BA5B80-6359-E682-4E56-470E607C6B02}"/>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5" name="Footer Placeholder 4">
            <a:extLst>
              <a:ext uri="{FF2B5EF4-FFF2-40B4-BE49-F238E27FC236}">
                <a16:creationId xmlns:a16="http://schemas.microsoft.com/office/drawing/2014/main" id="{2AF74A78-0A71-B8FD-BA01-356074C834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11EA2B-29AF-73A2-754F-D2846B524D41}"/>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21212709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38DDD7-DD8E-AFAC-1A48-5320CA8412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8BAD54-7D0F-18D1-A83A-1934A075E26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DFD2F1-4211-B1F4-F219-38CAF779E47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C66840-A2A6-58DA-90DB-BF7C78B43CB8}"/>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6" name="Footer Placeholder 5">
            <a:extLst>
              <a:ext uri="{FF2B5EF4-FFF2-40B4-BE49-F238E27FC236}">
                <a16:creationId xmlns:a16="http://schemas.microsoft.com/office/drawing/2014/main" id="{3DA8AF42-39E4-2D8D-BDC9-E227ADBA07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E420F9-AC68-04E9-C603-190B1295107A}"/>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39618836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E6F2B-3EC5-FD96-E045-6549581666C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7898891-7AAE-8AB0-88AC-FD7F9C366C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C4E549-019D-6AF8-F55F-BE3AEFAEB5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2F0A71B-FE4D-96DE-BB25-C5D4975251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2812A89-8D2F-10DF-AAEC-249D8E91A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25C32A6-0CEB-9C7C-8165-DD8217F40146}"/>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8" name="Footer Placeholder 7">
            <a:extLst>
              <a:ext uri="{FF2B5EF4-FFF2-40B4-BE49-F238E27FC236}">
                <a16:creationId xmlns:a16="http://schemas.microsoft.com/office/drawing/2014/main" id="{7F674EDC-9D1B-5062-12B8-8425C91D25B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E30F9BE-B9CB-AEDD-C021-196A967F24BE}"/>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2914310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9548A-3E80-5A4D-E154-C1B36E3DCFA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BE375-A625-591F-CF05-EA4E98D5867E}"/>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4" name="Footer Placeholder 3">
            <a:extLst>
              <a:ext uri="{FF2B5EF4-FFF2-40B4-BE49-F238E27FC236}">
                <a16:creationId xmlns:a16="http://schemas.microsoft.com/office/drawing/2014/main" id="{D9383304-6169-1729-D9C4-5F65A3133A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1581F93-BD41-76D2-AA5E-3E15F642546E}"/>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38909751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2997A1C-B908-BBC2-E029-1E45C79E7AD7}"/>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3" name="Footer Placeholder 2">
            <a:extLst>
              <a:ext uri="{FF2B5EF4-FFF2-40B4-BE49-F238E27FC236}">
                <a16:creationId xmlns:a16="http://schemas.microsoft.com/office/drawing/2014/main" id="{FDCA7742-F5BA-292B-26C1-6764511F983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92599DD-45CD-05A1-136A-E26FBB26847C}"/>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10410683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795E9-7BEB-A5EE-CF30-7EEB0F3C22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FE7D90-1F61-28D9-0723-4B13F197019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852AC0-8409-4330-BDA1-8DD2C0D569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D1C4B56-8550-8DE2-B201-C100DD3BE7E8}"/>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6" name="Footer Placeholder 5">
            <a:extLst>
              <a:ext uri="{FF2B5EF4-FFF2-40B4-BE49-F238E27FC236}">
                <a16:creationId xmlns:a16="http://schemas.microsoft.com/office/drawing/2014/main" id="{9EC6D0CF-950E-E7BC-B14A-9E862E5543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030E41-189E-ACAD-1BC4-03033C6A7B8B}"/>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1898689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DDDF9-FA32-B3F5-807D-4B072C3E18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4AF4129-779E-9ACF-8C91-5959FF1779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133F37D-DB50-4209-C2F0-D65FB89A3C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29C05F-309B-DB3C-06A4-17F7D37E3642}"/>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6" name="Footer Placeholder 5">
            <a:extLst>
              <a:ext uri="{FF2B5EF4-FFF2-40B4-BE49-F238E27FC236}">
                <a16:creationId xmlns:a16="http://schemas.microsoft.com/office/drawing/2014/main" id="{5C256911-0099-7BFC-F433-BE3D0E38BEB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D75462-0FAF-C48A-3203-4B24175E6758}"/>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34664874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18975-40C0-2409-92C7-1102BE3919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9B50F1C-67C9-9649-C10D-A08D19E1476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433EE2-1065-C0AC-A536-90F7BB81D3BB}"/>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5" name="Footer Placeholder 4">
            <a:extLst>
              <a:ext uri="{FF2B5EF4-FFF2-40B4-BE49-F238E27FC236}">
                <a16:creationId xmlns:a16="http://schemas.microsoft.com/office/drawing/2014/main" id="{78841E34-2C12-AA16-BC3D-54BF652579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5A1394-D8E7-A561-A280-4F3873AFDA18}"/>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28119430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8E2C76-42BB-774F-51BF-A4CDFBBCAA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FFE36BC-9719-DD97-54D3-F4F9153316F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1569D1-D529-D50F-FB84-082317866D99}"/>
              </a:ext>
            </a:extLst>
          </p:cNvPr>
          <p:cNvSpPr>
            <a:spLocks noGrp="1"/>
          </p:cNvSpPr>
          <p:nvPr>
            <p:ph type="dt" sz="half" idx="10"/>
          </p:nvPr>
        </p:nvSpPr>
        <p:spPr/>
        <p:txBody>
          <a:bodyPr/>
          <a:lstStyle/>
          <a:p>
            <a:fld id="{F1680792-3EC7-AB43-8C29-25F037CCCEF6}" type="datetimeFigureOut">
              <a:rPr lang="en-US" smtClean="0"/>
              <a:t>6/25/26</a:t>
            </a:fld>
            <a:endParaRPr lang="en-US"/>
          </a:p>
        </p:txBody>
      </p:sp>
      <p:sp>
        <p:nvSpPr>
          <p:cNvPr id="5" name="Footer Placeholder 4">
            <a:extLst>
              <a:ext uri="{FF2B5EF4-FFF2-40B4-BE49-F238E27FC236}">
                <a16:creationId xmlns:a16="http://schemas.microsoft.com/office/drawing/2014/main" id="{CB7BF493-5899-F0DF-8AD9-962721CF48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E10923-8A7A-AF73-CE40-A8EB7C3AE635}"/>
              </a:ext>
            </a:extLst>
          </p:cNvPr>
          <p:cNvSpPr>
            <a:spLocks noGrp="1"/>
          </p:cNvSpPr>
          <p:nvPr>
            <p:ph type="sldNum" sz="quarter" idx="12"/>
          </p:nvPr>
        </p:nvSpPr>
        <p:spPr/>
        <p:txBody>
          <a:bodyPr/>
          <a:lstStyle/>
          <a:p>
            <a:fld id="{3F790123-7983-A84A-AE8C-D26E7DCAD9A4}" type="slidenum">
              <a:rPr lang="en-US" smtClean="0"/>
              <a:t>‹#›</a:t>
            </a:fld>
            <a:endParaRPr lang="en-US"/>
          </a:p>
        </p:txBody>
      </p:sp>
    </p:spTree>
    <p:extLst>
      <p:ext uri="{BB962C8B-B14F-4D97-AF65-F5344CB8AC3E}">
        <p14:creationId xmlns:p14="http://schemas.microsoft.com/office/powerpoint/2010/main" val="29609037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563331A-E83B-A970-4C85-6D0EBA7BD8F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BB23F3A-9B00-3496-873A-AB5B1FEAA96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AAC04E-7B1F-BD76-D5E1-D7B32D34C2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680792-3EC7-AB43-8C29-25F037CCCEF6}" type="datetimeFigureOut">
              <a:rPr lang="en-US" smtClean="0"/>
              <a:t>6/25/26</a:t>
            </a:fld>
            <a:endParaRPr lang="en-US"/>
          </a:p>
        </p:txBody>
      </p:sp>
      <p:sp>
        <p:nvSpPr>
          <p:cNvPr id="5" name="Footer Placeholder 4">
            <a:extLst>
              <a:ext uri="{FF2B5EF4-FFF2-40B4-BE49-F238E27FC236}">
                <a16:creationId xmlns:a16="http://schemas.microsoft.com/office/drawing/2014/main" id="{3198FA07-DE42-E4AB-7AD4-0C3318A2172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4EE5EC1-5748-88E9-7DCA-3C0341F21C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790123-7983-A84A-AE8C-D26E7DCAD9A4}" type="slidenum">
              <a:rPr lang="en-US" smtClean="0"/>
              <a:t>‹#›</a:t>
            </a:fld>
            <a:endParaRPr lang="en-US"/>
          </a:p>
        </p:txBody>
      </p:sp>
    </p:spTree>
    <p:extLst>
      <p:ext uri="{BB962C8B-B14F-4D97-AF65-F5344CB8AC3E}">
        <p14:creationId xmlns:p14="http://schemas.microsoft.com/office/powerpoint/2010/main" val="6014653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A633C-D3F4-B95B-9602-53FBC4BAEA4C}"/>
              </a:ext>
            </a:extLst>
          </p:cNvPr>
          <p:cNvSpPr>
            <a:spLocks noGrp="1"/>
          </p:cNvSpPr>
          <p:nvPr>
            <p:ph type="ctrTitle"/>
          </p:nvPr>
        </p:nvSpPr>
        <p:spPr/>
        <p:txBody>
          <a:bodyPr/>
          <a:lstStyle/>
          <a:p>
            <a:r>
              <a:rPr lang="en-US" dirty="0"/>
              <a:t>Meeting – June 25</a:t>
            </a:r>
          </a:p>
        </p:txBody>
      </p:sp>
      <p:sp>
        <p:nvSpPr>
          <p:cNvPr id="3" name="Subtitle 2">
            <a:extLst>
              <a:ext uri="{FF2B5EF4-FFF2-40B4-BE49-F238E27FC236}">
                <a16:creationId xmlns:a16="http://schemas.microsoft.com/office/drawing/2014/main" id="{FA9F4075-677B-90F5-1AB2-F2299A2033AF}"/>
              </a:ext>
            </a:extLst>
          </p:cNvPr>
          <p:cNvSpPr>
            <a:spLocks noGrp="1"/>
          </p:cNvSpPr>
          <p:nvPr>
            <p:ph type="subTitle" idx="1"/>
          </p:nvPr>
        </p:nvSpPr>
        <p:spPr/>
        <p:txBody>
          <a:bodyPr/>
          <a:lstStyle/>
          <a:p>
            <a:r>
              <a:rPr lang="en-US" dirty="0"/>
              <a:t>Jon Earle</a:t>
            </a:r>
          </a:p>
        </p:txBody>
      </p:sp>
    </p:spTree>
    <p:extLst>
      <p:ext uri="{BB962C8B-B14F-4D97-AF65-F5344CB8AC3E}">
        <p14:creationId xmlns:p14="http://schemas.microsoft.com/office/powerpoint/2010/main" val="3495992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946BC-72D4-0234-657E-22742A66F066}"/>
              </a:ext>
            </a:extLst>
          </p:cNvPr>
          <p:cNvSpPr>
            <a:spLocks noGrp="1"/>
          </p:cNvSpPr>
          <p:nvPr>
            <p:ph type="title"/>
          </p:nvPr>
        </p:nvSpPr>
        <p:spPr/>
        <p:txBody>
          <a:bodyPr/>
          <a:lstStyle/>
          <a:p>
            <a:r>
              <a:rPr lang="en-US" dirty="0"/>
              <a:t>Campus Mesh Tests</a:t>
            </a:r>
          </a:p>
        </p:txBody>
      </p:sp>
      <p:sp>
        <p:nvSpPr>
          <p:cNvPr id="3" name="Content Placeholder 2">
            <a:extLst>
              <a:ext uri="{FF2B5EF4-FFF2-40B4-BE49-F238E27FC236}">
                <a16:creationId xmlns:a16="http://schemas.microsoft.com/office/drawing/2014/main" id="{7F9457C9-6E68-868B-B551-21E8717DD355}"/>
              </a:ext>
            </a:extLst>
          </p:cNvPr>
          <p:cNvSpPr>
            <a:spLocks noGrp="1"/>
          </p:cNvSpPr>
          <p:nvPr>
            <p:ph idx="1"/>
          </p:nvPr>
        </p:nvSpPr>
        <p:spPr>
          <a:xfrm>
            <a:off x="838200" y="1528169"/>
            <a:ext cx="10515600" cy="4839580"/>
          </a:xfrm>
        </p:spPr>
        <p:txBody>
          <a:bodyPr>
            <a:normAutofit fontScale="92500" lnSpcReduction="10000"/>
          </a:bodyPr>
          <a:lstStyle/>
          <a:p>
            <a:r>
              <a:rPr lang="en-US" dirty="0"/>
              <a:t>Last week, I finished setting up my campus mesh and began testing.</a:t>
            </a:r>
          </a:p>
          <a:p>
            <a:r>
              <a:rPr lang="en-US" dirty="0"/>
              <a:t>The first tests consisted of sending packets across various routes and intervals, gathering data on delivery rate and latency.</a:t>
            </a:r>
          </a:p>
          <a:p>
            <a:r>
              <a:rPr lang="en-US" dirty="0"/>
              <a:t>My initial plan was to get delivery rate and latency metrics across two different routes (Goldberg to Dalplex, LSC to CHEB) at 5-second and 1-minute intervals.</a:t>
            </a:r>
          </a:p>
          <a:p>
            <a:r>
              <a:rPr lang="en-US" dirty="0"/>
              <a:t>It took quite a few attempts to get this test consistently working between the Goldberg to Dalplex. Unfortunately, did not work between the LSC and CHEB. </a:t>
            </a:r>
          </a:p>
          <a:p>
            <a:r>
              <a:rPr lang="en-US" dirty="0"/>
              <a:t>It could be interesting to use this data to see how Meshtastic simulations compared to real-world results, and how MeshCore performs with the same test.</a:t>
            </a:r>
          </a:p>
        </p:txBody>
      </p:sp>
    </p:spTree>
    <p:extLst>
      <p:ext uri="{BB962C8B-B14F-4D97-AF65-F5344CB8AC3E}">
        <p14:creationId xmlns:p14="http://schemas.microsoft.com/office/powerpoint/2010/main" val="4125683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D911B1-C154-E69A-6F61-3534FB4A5751}"/>
              </a:ext>
            </a:extLst>
          </p:cNvPr>
          <p:cNvSpPr>
            <a:spLocks noGrp="1"/>
          </p:cNvSpPr>
          <p:nvPr>
            <p:ph type="title"/>
          </p:nvPr>
        </p:nvSpPr>
        <p:spPr>
          <a:xfrm>
            <a:off x="838200" y="365124"/>
            <a:ext cx="10515600" cy="1325563"/>
          </a:xfrm>
        </p:spPr>
        <p:txBody>
          <a:bodyPr>
            <a:normAutofit/>
          </a:bodyPr>
          <a:lstStyle/>
          <a:p>
            <a:r>
              <a:rPr lang="en-US" sz="4000" dirty="0"/>
              <a:t>Meshtastic Delivery Rate + Latency Test Results</a:t>
            </a:r>
          </a:p>
        </p:txBody>
      </p:sp>
      <p:graphicFrame>
        <p:nvGraphicFramePr>
          <p:cNvPr id="4" name="Table 3">
            <a:extLst>
              <a:ext uri="{FF2B5EF4-FFF2-40B4-BE49-F238E27FC236}">
                <a16:creationId xmlns:a16="http://schemas.microsoft.com/office/drawing/2014/main" id="{E152457F-F3D0-8DFF-743B-81F23F4B99CE}"/>
              </a:ext>
            </a:extLst>
          </p:cNvPr>
          <p:cNvGraphicFramePr>
            <a:graphicFrameLocks noGrp="1"/>
          </p:cNvGraphicFramePr>
          <p:nvPr>
            <p:extLst>
              <p:ext uri="{D42A27DB-BD31-4B8C-83A1-F6EECF244321}">
                <p14:modId xmlns:p14="http://schemas.microsoft.com/office/powerpoint/2010/main" val="1977845642"/>
              </p:ext>
            </p:extLst>
          </p:nvPr>
        </p:nvGraphicFramePr>
        <p:xfrm>
          <a:off x="838200" y="1791245"/>
          <a:ext cx="10515601" cy="2733652"/>
        </p:xfrm>
        <a:graphic>
          <a:graphicData uri="http://schemas.openxmlformats.org/drawingml/2006/table">
            <a:tbl>
              <a:tblPr>
                <a:tableStyleId>{5C22544A-7EE6-4342-B048-85BDC9FD1C3A}</a:tableStyleId>
              </a:tblPr>
              <a:tblGrid>
                <a:gridCol w="1826063">
                  <a:extLst>
                    <a:ext uri="{9D8B030D-6E8A-4147-A177-3AD203B41FA5}">
                      <a16:colId xmlns:a16="http://schemas.microsoft.com/office/drawing/2014/main" val="2636327911"/>
                    </a:ext>
                  </a:extLst>
                </a:gridCol>
                <a:gridCol w="1826063">
                  <a:extLst>
                    <a:ext uri="{9D8B030D-6E8A-4147-A177-3AD203B41FA5}">
                      <a16:colId xmlns:a16="http://schemas.microsoft.com/office/drawing/2014/main" val="3583101172"/>
                    </a:ext>
                  </a:extLst>
                </a:gridCol>
                <a:gridCol w="2266835">
                  <a:extLst>
                    <a:ext uri="{9D8B030D-6E8A-4147-A177-3AD203B41FA5}">
                      <a16:colId xmlns:a16="http://schemas.microsoft.com/office/drawing/2014/main" val="72097630"/>
                    </a:ext>
                  </a:extLst>
                </a:gridCol>
                <a:gridCol w="2434749">
                  <a:extLst>
                    <a:ext uri="{9D8B030D-6E8A-4147-A177-3AD203B41FA5}">
                      <a16:colId xmlns:a16="http://schemas.microsoft.com/office/drawing/2014/main" val="1601608458"/>
                    </a:ext>
                  </a:extLst>
                </a:gridCol>
                <a:gridCol w="2161891">
                  <a:extLst>
                    <a:ext uri="{9D8B030D-6E8A-4147-A177-3AD203B41FA5}">
                      <a16:colId xmlns:a16="http://schemas.microsoft.com/office/drawing/2014/main" val="4050630444"/>
                    </a:ext>
                  </a:extLst>
                </a:gridCol>
              </a:tblGrid>
              <a:tr h="661012">
                <a:tc>
                  <a:txBody>
                    <a:bodyPr/>
                    <a:lstStyle/>
                    <a:p>
                      <a:pPr algn="ctr" fontAlgn="b">
                        <a:buNone/>
                      </a:pPr>
                      <a:r>
                        <a:rPr lang="en-CA" sz="2400" b="1" i="0" u="none" strike="noStrike" dirty="0">
                          <a:solidFill>
                            <a:srgbClr val="000000"/>
                          </a:solidFill>
                          <a:effectLst/>
                          <a:latin typeface="Aptos Narrow" panose="020B0004020202020204" pitchFamily="34" charset="0"/>
                        </a:rPr>
                        <a:t>Interval</a:t>
                      </a:r>
                    </a:p>
                  </a:txBody>
                  <a:tcPr marL="9525" marR="9525" marT="9525" marB="0" anchor="b"/>
                </a:tc>
                <a:tc>
                  <a:txBody>
                    <a:bodyPr/>
                    <a:lstStyle/>
                    <a:p>
                      <a:pPr algn="ctr" fontAlgn="b">
                        <a:buNone/>
                      </a:pPr>
                      <a:r>
                        <a:rPr lang="en-CA" sz="2400" b="1" u="none" strike="noStrike" dirty="0">
                          <a:effectLst/>
                        </a:rPr>
                        <a:t>Avg DR (%)</a:t>
                      </a:r>
                      <a:endParaRPr lang="en-CA" sz="24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b="1" u="none" strike="noStrike" dirty="0">
                          <a:effectLst/>
                        </a:rPr>
                        <a:t>Avg Latency (s)</a:t>
                      </a:r>
                      <a:endParaRPr lang="en-CA" sz="24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b="1" u="none" strike="noStrike" dirty="0">
                          <a:effectLst/>
                        </a:rPr>
                        <a:t>ACK Received</a:t>
                      </a:r>
                      <a:endParaRPr lang="en-CA" sz="24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b="1" u="none" strike="noStrike" dirty="0">
                          <a:effectLst/>
                        </a:rPr>
                        <a:t>Bidirectional %</a:t>
                      </a:r>
                      <a:endParaRPr lang="en-CA" sz="24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772647613"/>
                  </a:ext>
                </a:extLst>
              </a:tr>
              <a:tr h="1036320">
                <a:tc>
                  <a:txBody>
                    <a:bodyPr/>
                    <a:lstStyle/>
                    <a:p>
                      <a:pPr algn="ctr" fontAlgn="b">
                        <a:buNone/>
                      </a:pPr>
                      <a:r>
                        <a:rPr lang="en-CA" sz="2400" u="none" strike="noStrike" dirty="0">
                          <a:effectLst/>
                        </a:rPr>
                        <a:t>1 minute</a:t>
                      </a:r>
                      <a:endParaRPr lang="en-CA" sz="24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u="none" strike="noStrike">
                          <a:effectLst/>
                        </a:rPr>
                        <a:t>51.6666667</a:t>
                      </a:r>
                      <a:endParaRPr lang="en-CA" sz="24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u="none" strike="noStrike" dirty="0">
                          <a:effectLst/>
                        </a:rPr>
                        <a:t>8.187308351</a:t>
                      </a:r>
                      <a:endParaRPr lang="en-CA" sz="24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u="none" strike="noStrike" dirty="0">
                          <a:effectLst/>
                        </a:rPr>
                        <a:t>28</a:t>
                      </a:r>
                      <a:endParaRPr lang="en-CA" sz="24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u="none" strike="noStrike">
                          <a:effectLst/>
                        </a:rPr>
                        <a:t>90.32258065</a:t>
                      </a:r>
                      <a:endParaRPr lang="en-CA" sz="24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77961345"/>
                  </a:ext>
                </a:extLst>
              </a:tr>
              <a:tr h="1036320">
                <a:tc>
                  <a:txBody>
                    <a:bodyPr/>
                    <a:lstStyle/>
                    <a:p>
                      <a:pPr algn="ctr" fontAlgn="b">
                        <a:buNone/>
                      </a:pPr>
                      <a:r>
                        <a:rPr lang="en-CA" sz="2400" u="none" strike="noStrike" dirty="0">
                          <a:effectLst/>
                        </a:rPr>
                        <a:t>5 second</a:t>
                      </a:r>
                      <a:endParaRPr lang="en-CA" sz="24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u="none" strike="noStrike" dirty="0">
                          <a:effectLst/>
                        </a:rPr>
                        <a:t>26</a:t>
                      </a:r>
                      <a:endParaRPr lang="en-CA" sz="24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u="none" strike="noStrike">
                          <a:effectLst/>
                        </a:rPr>
                        <a:t>15.02221553</a:t>
                      </a:r>
                      <a:endParaRPr lang="en-CA" sz="24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u="none" strike="noStrike">
                          <a:effectLst/>
                        </a:rPr>
                        <a:t>53</a:t>
                      </a:r>
                      <a:endParaRPr lang="en-CA" sz="24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CA" sz="2400" u="none" strike="noStrike" dirty="0">
                          <a:effectLst/>
                        </a:rPr>
                        <a:t>67.94871795</a:t>
                      </a:r>
                      <a:endParaRPr lang="en-CA" sz="24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5683093"/>
                  </a:ext>
                </a:extLst>
              </a:tr>
            </a:tbl>
          </a:graphicData>
        </a:graphic>
      </p:graphicFrame>
      <p:sp>
        <p:nvSpPr>
          <p:cNvPr id="5" name="TextBox 4">
            <a:extLst>
              <a:ext uri="{FF2B5EF4-FFF2-40B4-BE49-F238E27FC236}">
                <a16:creationId xmlns:a16="http://schemas.microsoft.com/office/drawing/2014/main" id="{5294219E-A66D-9D93-0E6D-515831DD3AB2}"/>
              </a:ext>
            </a:extLst>
          </p:cNvPr>
          <p:cNvSpPr txBox="1"/>
          <p:nvPr/>
        </p:nvSpPr>
        <p:spPr>
          <a:xfrm>
            <a:off x="838200" y="4625455"/>
            <a:ext cx="10267722" cy="2246769"/>
          </a:xfrm>
          <a:prstGeom prst="rect">
            <a:avLst/>
          </a:prstGeom>
          <a:noFill/>
        </p:spPr>
        <p:txBody>
          <a:bodyPr wrap="square" rtlCol="0">
            <a:spAutoFit/>
          </a:bodyPr>
          <a:lstStyle/>
          <a:p>
            <a:pPr marL="285750" indent="-285750">
              <a:buFont typeface="Arial" panose="020B0604020202020204" pitchFamily="34" charset="0"/>
              <a:buChar char="•"/>
            </a:pPr>
            <a:r>
              <a:rPr lang="en-US" sz="2000" dirty="0"/>
              <a:t>As more messages are sent throughout the mesh, delivery rate decreases and latency increases. </a:t>
            </a:r>
          </a:p>
          <a:p>
            <a:pPr marL="285750" indent="-285750">
              <a:buFont typeface="Arial" panose="020B0604020202020204" pitchFamily="34" charset="0"/>
              <a:buChar char="•"/>
            </a:pPr>
            <a:r>
              <a:rPr lang="en-US" sz="2000" dirty="0"/>
              <a:t>Latency is surprisingly high for both tests. This could be because of the LONG_FAST modem preset.</a:t>
            </a:r>
          </a:p>
          <a:p>
            <a:pPr marL="285750" indent="-285750">
              <a:buFont typeface="Arial" panose="020B0604020202020204" pitchFamily="34" charset="0"/>
              <a:buChar char="•"/>
            </a:pPr>
            <a:r>
              <a:rPr lang="en-US" sz="2000" dirty="0"/>
              <a:t>Unfortunately, for the time and effort put into these tests, these tests did not yield statistically significant results. Prioritizing other tests likely would have been more productive.</a:t>
            </a:r>
          </a:p>
        </p:txBody>
      </p:sp>
      <p:sp>
        <p:nvSpPr>
          <p:cNvPr id="6" name="TextBox 5">
            <a:extLst>
              <a:ext uri="{FF2B5EF4-FFF2-40B4-BE49-F238E27FC236}">
                <a16:creationId xmlns:a16="http://schemas.microsoft.com/office/drawing/2014/main" id="{BE9D52A9-790F-55A5-9A15-16B484EF59F9}"/>
              </a:ext>
            </a:extLst>
          </p:cNvPr>
          <p:cNvSpPr txBox="1"/>
          <p:nvPr/>
        </p:nvSpPr>
        <p:spPr>
          <a:xfrm>
            <a:off x="4362680" y="1321354"/>
            <a:ext cx="2908453" cy="369332"/>
          </a:xfrm>
          <a:prstGeom prst="rect">
            <a:avLst/>
          </a:prstGeom>
          <a:noFill/>
        </p:spPr>
        <p:txBody>
          <a:bodyPr wrap="square" rtlCol="0">
            <a:spAutoFit/>
          </a:bodyPr>
          <a:lstStyle/>
          <a:p>
            <a:r>
              <a:rPr lang="en-US" dirty="0"/>
              <a:t>Route: Goldberg to Dalplex</a:t>
            </a:r>
          </a:p>
        </p:txBody>
      </p:sp>
    </p:spTree>
    <p:extLst>
      <p:ext uri="{BB962C8B-B14F-4D97-AF65-F5344CB8AC3E}">
        <p14:creationId xmlns:p14="http://schemas.microsoft.com/office/powerpoint/2010/main" val="17090587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FAD8AD-12EF-1C33-200D-4856249BFDA0}"/>
              </a:ext>
            </a:extLst>
          </p:cNvPr>
          <p:cNvSpPr>
            <a:spLocks noGrp="1"/>
          </p:cNvSpPr>
          <p:nvPr>
            <p:ph type="title"/>
          </p:nvPr>
        </p:nvSpPr>
        <p:spPr/>
        <p:txBody>
          <a:bodyPr/>
          <a:lstStyle/>
          <a:p>
            <a:r>
              <a:rPr lang="en-US" dirty="0"/>
              <a:t>Mesh-wide Retransmission Test</a:t>
            </a:r>
          </a:p>
        </p:txBody>
      </p:sp>
      <p:sp>
        <p:nvSpPr>
          <p:cNvPr id="3" name="Content Placeholder 2">
            <a:extLst>
              <a:ext uri="{FF2B5EF4-FFF2-40B4-BE49-F238E27FC236}">
                <a16:creationId xmlns:a16="http://schemas.microsoft.com/office/drawing/2014/main" id="{6A999B38-C982-912D-1CD6-AB5C2264EE6A}"/>
              </a:ext>
            </a:extLst>
          </p:cNvPr>
          <p:cNvSpPr>
            <a:spLocks noGrp="1"/>
          </p:cNvSpPr>
          <p:nvPr>
            <p:ph idx="1"/>
          </p:nvPr>
        </p:nvSpPr>
        <p:spPr/>
        <p:txBody>
          <a:bodyPr>
            <a:normAutofit fontScale="92500"/>
          </a:bodyPr>
          <a:lstStyle/>
          <a:p>
            <a:r>
              <a:rPr lang="en-US" dirty="0"/>
              <a:t>The next test conducted was to determine how busy nodes are transmitting and retransmitting messages within a given time frame. </a:t>
            </a:r>
          </a:p>
          <a:p>
            <a:r>
              <a:rPr lang="en-US" dirty="0"/>
              <a:t>Procedure:</a:t>
            </a:r>
          </a:p>
          <a:p>
            <a:pPr lvl="1"/>
            <a:r>
              <a:rPr lang="en-US" dirty="0"/>
              <a:t>Walk around campus, gathering initial local_stats telemetry data, including:</a:t>
            </a:r>
          </a:p>
          <a:p>
            <a:pPr lvl="2"/>
            <a:r>
              <a:rPr lang="en-US" dirty="0"/>
              <a:t>Uptime seconds</a:t>
            </a:r>
          </a:p>
          <a:p>
            <a:pPr lvl="2"/>
            <a:r>
              <a:rPr lang="en-US" dirty="0"/>
              <a:t>% of time since boot taken up transmitting (</a:t>
            </a:r>
            <a:r>
              <a:rPr lang="en-US" dirty="0" err="1"/>
              <a:t>airUtilTx</a:t>
            </a:r>
            <a:r>
              <a:rPr lang="en-US" dirty="0"/>
              <a:t>)</a:t>
            </a:r>
          </a:p>
          <a:p>
            <a:pPr lvl="2"/>
            <a:r>
              <a:rPr lang="en-US" dirty="0"/>
              <a:t>Number of packets transmitted since boot</a:t>
            </a:r>
          </a:p>
          <a:p>
            <a:pPr lvl="2"/>
            <a:r>
              <a:rPr lang="en-US" dirty="0"/>
              <a:t>Number of packets received since boot</a:t>
            </a:r>
          </a:p>
          <a:p>
            <a:pPr lvl="2"/>
            <a:r>
              <a:rPr lang="en-US" dirty="0"/>
              <a:t>Number of duplicate packets</a:t>
            </a:r>
          </a:p>
          <a:p>
            <a:pPr lvl="2"/>
            <a:r>
              <a:rPr lang="en-US" dirty="0"/>
              <a:t>Number of packets relayed for other nodes</a:t>
            </a:r>
          </a:p>
          <a:p>
            <a:pPr lvl="1"/>
            <a:r>
              <a:rPr lang="en-US" dirty="0"/>
              <a:t>Send 1 packet every 5 seconds 100 times from the Goldberg to the Dalplex.</a:t>
            </a:r>
          </a:p>
          <a:p>
            <a:pPr lvl="1"/>
            <a:r>
              <a:rPr lang="en-US" dirty="0"/>
              <a:t>Walk around campus and gather the telemetry data again.</a:t>
            </a:r>
          </a:p>
        </p:txBody>
      </p:sp>
    </p:spTree>
    <p:extLst>
      <p:ext uri="{BB962C8B-B14F-4D97-AF65-F5344CB8AC3E}">
        <p14:creationId xmlns:p14="http://schemas.microsoft.com/office/powerpoint/2010/main" val="34035571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D7742B-5259-C924-339B-DB64BEAA905F}"/>
              </a:ext>
            </a:extLst>
          </p:cNvPr>
          <p:cNvSpPr>
            <a:spLocks noGrp="1"/>
          </p:cNvSpPr>
          <p:nvPr>
            <p:ph type="title"/>
          </p:nvPr>
        </p:nvSpPr>
        <p:spPr/>
        <p:txBody>
          <a:bodyPr/>
          <a:lstStyle/>
          <a:p>
            <a:r>
              <a:rPr lang="en-US" dirty="0"/>
              <a:t>Mesh-wide Retransmission Test Results</a:t>
            </a:r>
          </a:p>
        </p:txBody>
      </p:sp>
      <p:graphicFrame>
        <p:nvGraphicFramePr>
          <p:cNvPr id="4" name="Table 3">
            <a:extLst>
              <a:ext uri="{FF2B5EF4-FFF2-40B4-BE49-F238E27FC236}">
                <a16:creationId xmlns:a16="http://schemas.microsoft.com/office/drawing/2014/main" id="{3BE4DD38-3C05-46CC-D076-3D582F327DEB}"/>
              </a:ext>
            </a:extLst>
          </p:cNvPr>
          <p:cNvGraphicFramePr>
            <a:graphicFrameLocks noGrp="1"/>
          </p:cNvGraphicFramePr>
          <p:nvPr>
            <p:extLst>
              <p:ext uri="{D42A27DB-BD31-4B8C-83A1-F6EECF244321}">
                <p14:modId xmlns:p14="http://schemas.microsoft.com/office/powerpoint/2010/main" val="4225426085"/>
              </p:ext>
            </p:extLst>
          </p:nvPr>
        </p:nvGraphicFramePr>
        <p:xfrm>
          <a:off x="595130" y="1433753"/>
          <a:ext cx="11014277" cy="4727281"/>
        </p:xfrm>
        <a:graphic>
          <a:graphicData uri="http://schemas.openxmlformats.org/drawingml/2006/table">
            <a:tbl>
              <a:tblPr>
                <a:tableStyleId>{5C22544A-7EE6-4342-B048-85BDC9FD1C3A}</a:tableStyleId>
              </a:tblPr>
              <a:tblGrid>
                <a:gridCol w="1013751">
                  <a:extLst>
                    <a:ext uri="{9D8B030D-6E8A-4147-A177-3AD203B41FA5}">
                      <a16:colId xmlns:a16="http://schemas.microsoft.com/office/drawing/2014/main" val="4034306450"/>
                    </a:ext>
                  </a:extLst>
                </a:gridCol>
                <a:gridCol w="931996">
                  <a:extLst>
                    <a:ext uri="{9D8B030D-6E8A-4147-A177-3AD203B41FA5}">
                      <a16:colId xmlns:a16="http://schemas.microsoft.com/office/drawing/2014/main" val="3374045826"/>
                    </a:ext>
                  </a:extLst>
                </a:gridCol>
                <a:gridCol w="1012551">
                  <a:extLst>
                    <a:ext uri="{9D8B030D-6E8A-4147-A177-3AD203B41FA5}">
                      <a16:colId xmlns:a16="http://schemas.microsoft.com/office/drawing/2014/main" val="4167970547"/>
                    </a:ext>
                  </a:extLst>
                </a:gridCol>
                <a:gridCol w="578734">
                  <a:extLst>
                    <a:ext uri="{9D8B030D-6E8A-4147-A177-3AD203B41FA5}">
                      <a16:colId xmlns:a16="http://schemas.microsoft.com/office/drawing/2014/main" val="2252173028"/>
                    </a:ext>
                  </a:extLst>
                </a:gridCol>
                <a:gridCol w="865889">
                  <a:extLst>
                    <a:ext uri="{9D8B030D-6E8A-4147-A177-3AD203B41FA5}">
                      <a16:colId xmlns:a16="http://schemas.microsoft.com/office/drawing/2014/main" val="3687539061"/>
                    </a:ext>
                  </a:extLst>
                </a:gridCol>
                <a:gridCol w="905038">
                  <a:extLst>
                    <a:ext uri="{9D8B030D-6E8A-4147-A177-3AD203B41FA5}">
                      <a16:colId xmlns:a16="http://schemas.microsoft.com/office/drawing/2014/main" val="3180003315"/>
                    </a:ext>
                  </a:extLst>
                </a:gridCol>
                <a:gridCol w="650165">
                  <a:extLst>
                    <a:ext uri="{9D8B030D-6E8A-4147-A177-3AD203B41FA5}">
                      <a16:colId xmlns:a16="http://schemas.microsoft.com/office/drawing/2014/main" val="697460161"/>
                    </a:ext>
                  </a:extLst>
                </a:gridCol>
                <a:gridCol w="715647">
                  <a:extLst>
                    <a:ext uri="{9D8B030D-6E8A-4147-A177-3AD203B41FA5}">
                      <a16:colId xmlns:a16="http://schemas.microsoft.com/office/drawing/2014/main" val="2573195984"/>
                    </a:ext>
                  </a:extLst>
                </a:gridCol>
                <a:gridCol w="694481">
                  <a:extLst>
                    <a:ext uri="{9D8B030D-6E8A-4147-A177-3AD203B41FA5}">
                      <a16:colId xmlns:a16="http://schemas.microsoft.com/office/drawing/2014/main" val="2065922654"/>
                    </a:ext>
                  </a:extLst>
                </a:gridCol>
                <a:gridCol w="856423">
                  <a:extLst>
                    <a:ext uri="{9D8B030D-6E8A-4147-A177-3AD203B41FA5}">
                      <a16:colId xmlns:a16="http://schemas.microsoft.com/office/drawing/2014/main" val="3069453844"/>
                    </a:ext>
                  </a:extLst>
                </a:gridCol>
                <a:gridCol w="601987">
                  <a:extLst>
                    <a:ext uri="{9D8B030D-6E8A-4147-A177-3AD203B41FA5}">
                      <a16:colId xmlns:a16="http://schemas.microsoft.com/office/drawing/2014/main" val="1993326863"/>
                    </a:ext>
                  </a:extLst>
                </a:gridCol>
                <a:gridCol w="567160">
                  <a:extLst>
                    <a:ext uri="{9D8B030D-6E8A-4147-A177-3AD203B41FA5}">
                      <a16:colId xmlns:a16="http://schemas.microsoft.com/office/drawing/2014/main" val="3139228204"/>
                    </a:ext>
                  </a:extLst>
                </a:gridCol>
                <a:gridCol w="821802">
                  <a:extLst>
                    <a:ext uri="{9D8B030D-6E8A-4147-A177-3AD203B41FA5}">
                      <a16:colId xmlns:a16="http://schemas.microsoft.com/office/drawing/2014/main" val="1383553117"/>
                    </a:ext>
                  </a:extLst>
                </a:gridCol>
                <a:gridCol w="798653">
                  <a:extLst>
                    <a:ext uri="{9D8B030D-6E8A-4147-A177-3AD203B41FA5}">
                      <a16:colId xmlns:a16="http://schemas.microsoft.com/office/drawing/2014/main" val="1424494498"/>
                    </a:ext>
                  </a:extLst>
                </a:gridCol>
              </a:tblGrid>
              <a:tr h="371898">
                <a:tc>
                  <a:txBody>
                    <a:bodyPr/>
                    <a:lstStyle/>
                    <a:p>
                      <a:pPr algn="ctr" fontAlgn="b">
                        <a:buNone/>
                      </a:pPr>
                      <a:r>
                        <a:rPr lang="en-CA" sz="800" u="none" strike="noStrike" dirty="0">
                          <a:solidFill>
                            <a:schemeClr val="bg1"/>
                          </a:solidFill>
                          <a:effectLst/>
                        </a:rPr>
                        <a:t>timestamp</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a:solidFill>
                            <a:schemeClr val="bg1"/>
                          </a:solidFill>
                          <a:effectLst/>
                        </a:rPr>
                        <a:t>latitude</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a:solidFill>
                            <a:schemeClr val="bg1"/>
                          </a:solidFill>
                          <a:effectLst/>
                        </a:rPr>
                        <a:t>longitude</a:t>
                      </a:r>
                      <a:endParaRPr lang="en-CA" sz="800" b="1" i="0" u="none" strike="noStrike">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a:solidFill>
                            <a:schemeClr val="bg1"/>
                          </a:solidFill>
                          <a:effectLst/>
                        </a:rPr>
                        <a:t> nodeId</a:t>
                      </a:r>
                      <a:endParaRPr lang="en-CA" sz="800" b="1" i="0" u="none" strike="noStrike">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a:solidFill>
                            <a:schemeClr val="bg1"/>
                          </a:solidFill>
                          <a:effectLst/>
                        </a:rPr>
                        <a:t> uptimeSeconds</a:t>
                      </a:r>
                      <a:endParaRPr lang="en-CA" sz="800" b="1" i="0" u="none" strike="noStrike">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a:solidFill>
                            <a:schemeClr val="bg1"/>
                          </a:solidFill>
                          <a:effectLst/>
                        </a:rPr>
                        <a:t>channelUtilization</a:t>
                      </a:r>
                      <a:endParaRPr lang="en-CA" sz="800" b="1" i="0" u="none" strike="noStrike">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a:solidFill>
                            <a:schemeClr val="bg1"/>
                          </a:solidFill>
                          <a:effectLst/>
                        </a:rPr>
                        <a:t>airUtilTx</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a:solidFill>
                            <a:schemeClr val="bg1"/>
                          </a:solidFill>
                          <a:effectLst/>
                        </a:rPr>
                        <a:t>numPacketsTx</a:t>
                      </a:r>
                      <a:endParaRPr lang="en-CA" sz="800" b="1" i="0" u="none" strike="noStrike">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a:solidFill>
                            <a:schemeClr val="bg1"/>
                          </a:solidFill>
                          <a:effectLst/>
                        </a:rPr>
                        <a:t>numPacketsRx</a:t>
                      </a:r>
                      <a:endParaRPr lang="en-CA" sz="800" b="1" i="0" u="none" strike="noStrike">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a:solidFill>
                            <a:schemeClr val="bg1"/>
                          </a:solidFill>
                          <a:effectLst/>
                        </a:rPr>
                        <a:t>numPacketsRxBad</a:t>
                      </a:r>
                      <a:endParaRPr lang="en-CA" sz="800" b="1" i="0" u="none" strike="noStrike">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a:solidFill>
                            <a:schemeClr val="bg1"/>
                          </a:solidFill>
                          <a:effectLst/>
                        </a:rPr>
                        <a:t>numRxDupe</a:t>
                      </a:r>
                      <a:endParaRPr lang="en-CA" sz="800" b="1" i="0" u="none" strike="noStrike">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a:solidFill>
                            <a:schemeClr val="bg1"/>
                          </a:solidFill>
                          <a:effectLst/>
                        </a:rPr>
                        <a:t>numTxRelay</a:t>
                      </a:r>
                      <a:endParaRPr lang="en-CA" sz="800" b="1" i="0" u="none" strike="noStrike">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a:solidFill>
                            <a:schemeClr val="bg1"/>
                          </a:solidFill>
                          <a:effectLst/>
                        </a:rPr>
                        <a:t>numOnlineNodes</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a:solidFill>
                            <a:schemeClr val="bg1"/>
                          </a:solidFill>
                          <a:effectLst/>
                        </a:rPr>
                        <a:t>numTotalNodes</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extLst>
                  <a:ext uri="{0D108BD9-81ED-4DB2-BD59-A6C34878D82A}">
                    <a16:rowId xmlns:a16="http://schemas.microsoft.com/office/drawing/2014/main" val="1981891362"/>
                  </a:ext>
                </a:extLst>
              </a:tr>
              <a:tr h="256199">
                <a:tc>
                  <a:txBody>
                    <a:bodyPr/>
                    <a:lstStyle/>
                    <a:p>
                      <a:pPr algn="ctr" fontAlgn="b">
                        <a:buNone/>
                      </a:pPr>
                      <a:r>
                        <a:rPr lang="en-CA" sz="800" u="none" strike="noStrike">
                          <a:effectLst/>
                        </a:rPr>
                        <a:t>1782308803.6791291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44.6374710331165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-63.5875248258794</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!6c73daa0</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7.8933334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0.06255556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7</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47</a:t>
                      </a:r>
                      <a:endParaRPr lang="en-CA" sz="800" b="0" i="0" u="none" strike="noStrike" dirty="0">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2638215064"/>
                  </a:ext>
                </a:extLst>
              </a:tr>
              <a:tr h="256199">
                <a:tc>
                  <a:txBody>
                    <a:bodyPr/>
                    <a:lstStyle/>
                    <a:p>
                      <a:pPr algn="ctr" fontAlgn="b">
                        <a:buNone/>
                      </a:pPr>
                      <a:r>
                        <a:rPr lang="en-CA" sz="800" u="none" strike="noStrike">
                          <a:effectLst/>
                        </a:rPr>
                        <a:t>1782309202.331554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44.6369664633251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-63.5891976671482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!dadfb0cc</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19.748333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0.12286111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7</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62</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474330681"/>
                  </a:ext>
                </a:extLst>
              </a:tr>
              <a:tr h="256199">
                <a:tc>
                  <a:txBody>
                    <a:bodyPr/>
                    <a:lstStyle/>
                    <a:p>
                      <a:pPr algn="ctr" fontAlgn="b">
                        <a:buNone/>
                      </a:pPr>
                      <a:r>
                        <a:rPr lang="en-CA" sz="800" u="none" strike="noStrike">
                          <a:effectLst/>
                        </a:rPr>
                        <a:t>1782310165.334353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44.6347432599171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-63.5917649968432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!dadfb8d4</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10.715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0.05611111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5</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3</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66</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3135297056"/>
                  </a:ext>
                </a:extLst>
              </a:tr>
              <a:tr h="256199">
                <a:tc>
                  <a:txBody>
                    <a:bodyPr/>
                    <a:lstStyle/>
                    <a:p>
                      <a:pPr algn="ctr" fontAlgn="b">
                        <a:buNone/>
                      </a:pPr>
                      <a:r>
                        <a:rPr lang="en-CA" sz="800" u="none" strike="noStrike">
                          <a:effectLst/>
                        </a:rPr>
                        <a:t>1782310732.606525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44.6362052985069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-63.5940921770574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!dadfb008</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122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7.621667</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0.06408334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8</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79</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908058911"/>
                  </a:ext>
                </a:extLst>
              </a:tr>
              <a:tr h="256199">
                <a:tc>
                  <a:txBody>
                    <a:bodyPr/>
                    <a:lstStyle/>
                    <a:p>
                      <a:pPr algn="ctr" fontAlgn="b">
                        <a:buNone/>
                      </a:pPr>
                      <a:r>
                        <a:rPr lang="en-CA" sz="800" u="none" strike="noStrike">
                          <a:effectLst/>
                        </a:rPr>
                        <a:t>1782312597.389235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44.6391960574960</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-63.5828730326646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!dadfb03c</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N/A</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0.028055554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N/A</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N/A</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N/A</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N/A</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41</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712003544"/>
                  </a:ext>
                </a:extLst>
              </a:tr>
              <a:tr h="256199">
                <a:tc>
                  <a:txBody>
                    <a:bodyPr/>
                    <a:lstStyle/>
                    <a:p>
                      <a:pPr algn="ctr" fontAlgn="b">
                        <a:buNone/>
                      </a:pPr>
                      <a:r>
                        <a:rPr lang="en-CA" sz="800" u="none" strike="noStrike" dirty="0">
                          <a:effectLst/>
                        </a:rPr>
                        <a:t> </a:t>
                      </a:r>
                      <a:endParaRPr lang="en-CA" sz="800" b="0" i="0" u="none" strike="noStrike" dirty="0">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dirty="0">
                          <a:effectLst/>
                        </a:rPr>
                        <a:t> </a:t>
                      </a:r>
                      <a:endParaRPr lang="en-CA" sz="800" b="0" i="0" u="none" strike="noStrike" dirty="0">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dirty="0">
                          <a:effectLst/>
                        </a:rPr>
                        <a:t> </a:t>
                      </a:r>
                      <a:endParaRPr lang="en-CA" sz="800" b="0" i="0" u="none" strike="noStrike" dirty="0">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extLst>
                  <a:ext uri="{0D108BD9-81ED-4DB2-BD59-A6C34878D82A}">
                    <a16:rowId xmlns:a16="http://schemas.microsoft.com/office/drawing/2014/main" val="2073243026"/>
                  </a:ext>
                </a:extLst>
              </a:tr>
              <a:tr h="256199">
                <a:tc>
                  <a:txBody>
                    <a:bodyPr/>
                    <a:lstStyle/>
                    <a:p>
                      <a:pPr algn="ctr" fontAlgn="b">
                        <a:buNone/>
                      </a:pPr>
                      <a:r>
                        <a:rPr lang="en-CA" sz="800" u="none" strike="noStrike">
                          <a:effectLst/>
                        </a:rPr>
                        <a:t>1782315554.031728</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44.6374710331165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-63.5875248258794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!6c73daa0</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6844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2.0033333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5.9859166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447</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665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156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400</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18</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51</a:t>
                      </a:r>
                      <a:endParaRPr lang="en-CA" sz="800" b="0" i="0" u="none" strike="noStrike" dirty="0">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3461017709"/>
                  </a:ext>
                </a:extLst>
              </a:tr>
              <a:tr h="256199">
                <a:tc>
                  <a:txBody>
                    <a:bodyPr/>
                    <a:lstStyle/>
                    <a:p>
                      <a:pPr algn="ctr" fontAlgn="b">
                        <a:buNone/>
                      </a:pPr>
                      <a:r>
                        <a:rPr lang="en-CA" sz="800" u="none" strike="noStrike" dirty="0">
                          <a:effectLst/>
                        </a:rPr>
                        <a:t>1782316035.450979</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44.6369664633251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-63.5891976671482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!dadfb0cc</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6902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4.14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5.2986665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409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1036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132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406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399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70</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70</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3115658900"/>
                  </a:ext>
                </a:extLst>
              </a:tr>
              <a:tr h="256199">
                <a:tc>
                  <a:txBody>
                    <a:bodyPr/>
                    <a:lstStyle/>
                    <a:p>
                      <a:pPr algn="ctr" fontAlgn="b">
                        <a:buNone/>
                      </a:pPr>
                      <a:r>
                        <a:rPr lang="en-CA" sz="800" u="none" strike="noStrike">
                          <a:effectLst/>
                        </a:rPr>
                        <a:t>1782316761.518246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44.6347432599171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-63.5917649968432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!dadfb8d4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6662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2.0033333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1.7945001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155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812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70</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267</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133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66</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762929821"/>
                  </a:ext>
                </a:extLst>
              </a:tr>
              <a:tr h="256199">
                <a:tc>
                  <a:txBody>
                    <a:bodyPr/>
                    <a:lstStyle/>
                    <a:p>
                      <a:pPr algn="ctr" fontAlgn="b">
                        <a:buNone/>
                      </a:pPr>
                      <a:r>
                        <a:rPr lang="en-CA" sz="800" u="none" strike="noStrike">
                          <a:effectLst/>
                        </a:rPr>
                        <a:t>1782317435.696922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44.6362052985069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-63.5940921770574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!dadfb008</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6784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7.5516663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4.1583333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386</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832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95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261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385</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79</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3968629172"/>
                  </a:ext>
                </a:extLst>
              </a:tr>
              <a:tr h="256199">
                <a:tc>
                  <a:txBody>
                    <a:bodyPr/>
                    <a:lstStyle/>
                    <a:p>
                      <a:pPr algn="ctr" fontAlgn="b">
                        <a:buNone/>
                      </a:pPr>
                      <a:r>
                        <a:rPr lang="en-CA" sz="800" u="none" strike="noStrike">
                          <a:effectLst/>
                        </a:rPr>
                        <a:t>1782318815.515288</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44.6391960574960</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-63.5828730326646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!dadfb03c</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6242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N/A</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0.028833333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3</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N/A</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N/A</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N/A</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N/A</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41</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2302367308"/>
                  </a:ext>
                </a:extLst>
              </a:tr>
              <a:tr h="256199">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dirty="0">
                          <a:effectLst/>
                        </a:rPr>
                        <a:t> </a:t>
                      </a:r>
                      <a:endParaRPr lang="en-CA" sz="800" b="0" i="0" u="none" strike="noStrike" dirty="0">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dirty="0">
                          <a:effectLst/>
                        </a:rPr>
                        <a:t> </a:t>
                      </a:r>
                      <a:endParaRPr lang="en-CA" sz="800" b="0" i="0" u="none" strike="noStrike" dirty="0">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tc>
                  <a:txBody>
                    <a:bodyPr/>
                    <a:lstStyle/>
                    <a:p>
                      <a:pPr algn="ctr" fontAlgn="b">
                        <a:buNone/>
                      </a:pPr>
                      <a:r>
                        <a:rPr lang="en-CA" sz="800" u="none" strike="noStrike" dirty="0">
                          <a:effectLst/>
                        </a:rPr>
                        <a:t> </a:t>
                      </a:r>
                      <a:endParaRPr lang="en-CA" sz="800" b="0" i="0" u="none" strike="noStrike" dirty="0">
                        <a:solidFill>
                          <a:srgbClr val="000000"/>
                        </a:solidFill>
                        <a:effectLst/>
                        <a:latin typeface="Aptos Narrow" panose="020B0004020202020204" pitchFamily="34" charset="0"/>
                      </a:endParaRPr>
                    </a:p>
                  </a:txBody>
                  <a:tcPr marL="6672" marR="6672" marT="6672" marB="0" anchor="ctr">
                    <a:solidFill>
                      <a:schemeClr val="tx2">
                        <a:lumMod val="25000"/>
                        <a:lumOff val="75000"/>
                      </a:schemeClr>
                    </a:solidFill>
                  </a:tcPr>
                </a:tc>
                <a:extLst>
                  <a:ext uri="{0D108BD9-81ED-4DB2-BD59-A6C34878D82A}">
                    <a16:rowId xmlns:a16="http://schemas.microsoft.com/office/drawing/2014/main" val="189036813"/>
                  </a:ext>
                </a:extLst>
              </a:tr>
              <a:tr h="256199">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44.6374710331165</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-63.5875248258794</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!6c73daa0</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6783</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5.92336104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658</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154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397</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3662408758"/>
                  </a:ext>
                </a:extLst>
              </a:tr>
              <a:tr h="256199">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44.6369664633251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-63.5891976671482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!dadfb0cc</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6841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 </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5.17580539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403</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1022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131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399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394</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8</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8</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3833887791"/>
                  </a:ext>
                </a:extLst>
              </a:tr>
              <a:tr h="256199">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44.6347432599171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-63.5917649968432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!dadfb8d4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6601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1.73838899</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153</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807</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67</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266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132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1</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0</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2278563735"/>
                  </a:ext>
                </a:extLst>
              </a:tr>
              <a:tr h="256199">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44.6362052985069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-63.5940921770574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!dadfb008</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6662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 </a:t>
                      </a:r>
                      <a:endParaRPr lang="en-CA" sz="800" b="0" i="0" u="none" strike="noStrike">
                        <a:solidFill>
                          <a:srgbClr val="BBBEBF"/>
                        </a:solidFill>
                        <a:effectLst/>
                        <a:latin typeface="Menlo" panose="020B0609030804020204" pitchFamily="49" charset="0"/>
                      </a:endParaRPr>
                    </a:p>
                  </a:txBody>
                  <a:tcPr marL="6672" marR="6672" marT="6672" marB="0" anchor="ctr"/>
                </a:tc>
                <a:tc>
                  <a:txBody>
                    <a:bodyPr/>
                    <a:lstStyle/>
                    <a:p>
                      <a:pPr algn="ctr" fontAlgn="b">
                        <a:buNone/>
                      </a:pPr>
                      <a:r>
                        <a:rPr lang="en-CA" sz="800" u="none" strike="noStrike">
                          <a:effectLst/>
                        </a:rPr>
                        <a:t>4.09424996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384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824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91</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259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384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0</a:t>
                      </a:r>
                      <a:endParaRPr lang="en-CA" sz="8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1760752196"/>
                  </a:ext>
                </a:extLst>
              </a:tr>
              <a:tr h="256199">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44.6391960574960</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-63.5828730326646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!dadfb03c</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6181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 </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0.000777779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N/A</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N/A</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N/A</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N/A</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0</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0</a:t>
                      </a:r>
                      <a:endParaRPr lang="en-CA" sz="800" b="0" i="0" u="none" strike="noStrike" dirty="0">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4105266353"/>
                  </a:ext>
                </a:extLst>
              </a:tr>
            </a:tbl>
          </a:graphicData>
        </a:graphic>
      </p:graphicFrame>
      <p:sp>
        <p:nvSpPr>
          <p:cNvPr id="5" name="TextBox 4">
            <a:extLst>
              <a:ext uri="{FF2B5EF4-FFF2-40B4-BE49-F238E27FC236}">
                <a16:creationId xmlns:a16="http://schemas.microsoft.com/office/drawing/2014/main" id="{A003809A-A54E-5481-130A-E4B47CB1A444}"/>
              </a:ext>
            </a:extLst>
          </p:cNvPr>
          <p:cNvSpPr txBox="1"/>
          <p:nvPr/>
        </p:nvSpPr>
        <p:spPr>
          <a:xfrm>
            <a:off x="2099839" y="6308209"/>
            <a:ext cx="11014277" cy="369332"/>
          </a:xfrm>
          <a:prstGeom prst="rect">
            <a:avLst/>
          </a:prstGeom>
          <a:noFill/>
        </p:spPr>
        <p:txBody>
          <a:bodyPr wrap="square" rtlCol="0">
            <a:spAutoFit/>
          </a:bodyPr>
          <a:lstStyle/>
          <a:p>
            <a:r>
              <a:rPr lang="en-US" dirty="0"/>
              <a:t>Note: !dadfb03c (CHEB) did not have the default telemetry settings turned on</a:t>
            </a:r>
          </a:p>
        </p:txBody>
      </p:sp>
    </p:spTree>
    <p:extLst>
      <p:ext uri="{BB962C8B-B14F-4D97-AF65-F5344CB8AC3E}">
        <p14:creationId xmlns:p14="http://schemas.microsoft.com/office/powerpoint/2010/main" val="2333558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FAE26-D9F2-D01C-6975-62AA959AB9D6}"/>
              </a:ext>
            </a:extLst>
          </p:cNvPr>
          <p:cNvSpPr>
            <a:spLocks noGrp="1"/>
          </p:cNvSpPr>
          <p:nvPr>
            <p:ph type="title"/>
          </p:nvPr>
        </p:nvSpPr>
        <p:spPr/>
        <p:txBody>
          <a:bodyPr/>
          <a:lstStyle/>
          <a:p>
            <a:r>
              <a:rPr lang="en-US" dirty="0"/>
              <a:t>Mesh-wide Retransmission Test Results</a:t>
            </a:r>
          </a:p>
        </p:txBody>
      </p:sp>
      <p:graphicFrame>
        <p:nvGraphicFramePr>
          <p:cNvPr id="4" name="Table 3">
            <a:extLst>
              <a:ext uri="{FF2B5EF4-FFF2-40B4-BE49-F238E27FC236}">
                <a16:creationId xmlns:a16="http://schemas.microsoft.com/office/drawing/2014/main" id="{5699FE0A-3BCF-DE70-2FD8-0B457269C978}"/>
              </a:ext>
            </a:extLst>
          </p:cNvPr>
          <p:cNvGraphicFramePr>
            <a:graphicFrameLocks noGrp="1"/>
          </p:cNvGraphicFramePr>
          <p:nvPr>
            <p:extLst>
              <p:ext uri="{D42A27DB-BD31-4B8C-83A1-F6EECF244321}">
                <p14:modId xmlns:p14="http://schemas.microsoft.com/office/powerpoint/2010/main" val="725932139"/>
              </p:ext>
            </p:extLst>
          </p:nvPr>
        </p:nvGraphicFramePr>
        <p:xfrm>
          <a:off x="838200" y="1377388"/>
          <a:ext cx="10515600" cy="5208609"/>
        </p:xfrm>
        <a:graphic>
          <a:graphicData uri="http://schemas.openxmlformats.org/drawingml/2006/table">
            <a:tbl>
              <a:tblPr>
                <a:tableStyleId>{5C22544A-7EE6-4342-B048-85BDC9FD1C3A}</a:tableStyleId>
              </a:tblPr>
              <a:tblGrid>
                <a:gridCol w="979026">
                  <a:extLst>
                    <a:ext uri="{9D8B030D-6E8A-4147-A177-3AD203B41FA5}">
                      <a16:colId xmlns:a16="http://schemas.microsoft.com/office/drawing/2014/main" val="2233003324"/>
                    </a:ext>
                  </a:extLst>
                </a:gridCol>
                <a:gridCol w="1099595">
                  <a:extLst>
                    <a:ext uri="{9D8B030D-6E8A-4147-A177-3AD203B41FA5}">
                      <a16:colId xmlns:a16="http://schemas.microsoft.com/office/drawing/2014/main" val="862000896"/>
                    </a:ext>
                  </a:extLst>
                </a:gridCol>
                <a:gridCol w="838629">
                  <a:extLst>
                    <a:ext uri="{9D8B030D-6E8A-4147-A177-3AD203B41FA5}">
                      <a16:colId xmlns:a16="http://schemas.microsoft.com/office/drawing/2014/main" val="341590623"/>
                    </a:ext>
                  </a:extLst>
                </a:gridCol>
                <a:gridCol w="1001083">
                  <a:extLst>
                    <a:ext uri="{9D8B030D-6E8A-4147-A177-3AD203B41FA5}">
                      <a16:colId xmlns:a16="http://schemas.microsoft.com/office/drawing/2014/main" val="3184167577"/>
                    </a:ext>
                  </a:extLst>
                </a:gridCol>
                <a:gridCol w="751678">
                  <a:extLst>
                    <a:ext uri="{9D8B030D-6E8A-4147-A177-3AD203B41FA5}">
                      <a16:colId xmlns:a16="http://schemas.microsoft.com/office/drawing/2014/main" val="3085456058"/>
                    </a:ext>
                  </a:extLst>
                </a:gridCol>
                <a:gridCol w="827384">
                  <a:extLst>
                    <a:ext uri="{9D8B030D-6E8A-4147-A177-3AD203B41FA5}">
                      <a16:colId xmlns:a16="http://schemas.microsoft.com/office/drawing/2014/main" val="1200792100"/>
                    </a:ext>
                  </a:extLst>
                </a:gridCol>
                <a:gridCol w="802913">
                  <a:extLst>
                    <a:ext uri="{9D8B030D-6E8A-4147-A177-3AD203B41FA5}">
                      <a16:colId xmlns:a16="http://schemas.microsoft.com/office/drawing/2014/main" val="3301623867"/>
                    </a:ext>
                  </a:extLst>
                </a:gridCol>
                <a:gridCol w="990139">
                  <a:extLst>
                    <a:ext uri="{9D8B030D-6E8A-4147-A177-3AD203B41FA5}">
                      <a16:colId xmlns:a16="http://schemas.microsoft.com/office/drawing/2014/main" val="3957271241"/>
                    </a:ext>
                  </a:extLst>
                </a:gridCol>
                <a:gridCol w="695977">
                  <a:extLst>
                    <a:ext uri="{9D8B030D-6E8A-4147-A177-3AD203B41FA5}">
                      <a16:colId xmlns:a16="http://schemas.microsoft.com/office/drawing/2014/main" val="1531518604"/>
                    </a:ext>
                  </a:extLst>
                </a:gridCol>
                <a:gridCol w="655713">
                  <a:extLst>
                    <a:ext uri="{9D8B030D-6E8A-4147-A177-3AD203B41FA5}">
                      <a16:colId xmlns:a16="http://schemas.microsoft.com/office/drawing/2014/main" val="3339899203"/>
                    </a:ext>
                  </a:extLst>
                </a:gridCol>
                <a:gridCol w="950113">
                  <a:extLst>
                    <a:ext uri="{9D8B030D-6E8A-4147-A177-3AD203B41FA5}">
                      <a16:colId xmlns:a16="http://schemas.microsoft.com/office/drawing/2014/main" val="4211591713"/>
                    </a:ext>
                  </a:extLst>
                </a:gridCol>
                <a:gridCol w="923350">
                  <a:extLst>
                    <a:ext uri="{9D8B030D-6E8A-4147-A177-3AD203B41FA5}">
                      <a16:colId xmlns:a16="http://schemas.microsoft.com/office/drawing/2014/main" val="995838181"/>
                    </a:ext>
                  </a:extLst>
                </a:gridCol>
              </a:tblGrid>
              <a:tr h="525839">
                <a:tc>
                  <a:txBody>
                    <a:bodyPr/>
                    <a:lstStyle/>
                    <a:p>
                      <a:pPr algn="ctr" fontAlgn="b">
                        <a:buNone/>
                      </a:pPr>
                      <a:r>
                        <a:rPr lang="en-CA" sz="800" u="none" strike="noStrike" dirty="0">
                          <a:solidFill>
                            <a:schemeClr val="bg1"/>
                          </a:solidFill>
                          <a:effectLst/>
                        </a:rPr>
                        <a:t>latitude</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a:solidFill>
                            <a:schemeClr val="bg1"/>
                          </a:solidFill>
                          <a:effectLst/>
                        </a:rPr>
                        <a:t>longitude</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a:solidFill>
                            <a:schemeClr val="bg1"/>
                          </a:solidFill>
                          <a:effectLst/>
                        </a:rPr>
                        <a:t> </a:t>
                      </a:r>
                      <a:r>
                        <a:rPr lang="en-CA" sz="800" u="none" strike="noStrike" dirty="0" err="1">
                          <a:solidFill>
                            <a:schemeClr val="bg1"/>
                          </a:solidFill>
                          <a:effectLst/>
                        </a:rPr>
                        <a:t>nodeId</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a:solidFill>
                            <a:schemeClr val="bg1"/>
                          </a:solidFill>
                          <a:effectLst/>
                        </a:rPr>
                        <a:t> </a:t>
                      </a:r>
                      <a:r>
                        <a:rPr lang="en-CA" sz="800" u="none" strike="noStrike" dirty="0" err="1">
                          <a:solidFill>
                            <a:schemeClr val="bg1"/>
                          </a:solidFill>
                          <a:effectLst/>
                        </a:rPr>
                        <a:t>uptimeSeconds</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a:solidFill>
                            <a:schemeClr val="bg1"/>
                          </a:solidFill>
                          <a:effectLst/>
                        </a:rPr>
                        <a:t>airUtilTx</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err="1">
                          <a:solidFill>
                            <a:schemeClr val="bg1"/>
                          </a:solidFill>
                          <a:effectLst/>
                        </a:rPr>
                        <a:t>numPacketsTx</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err="1">
                          <a:solidFill>
                            <a:schemeClr val="bg1"/>
                          </a:solidFill>
                          <a:effectLst/>
                        </a:rPr>
                        <a:t>numPacketsRx</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err="1">
                          <a:solidFill>
                            <a:schemeClr val="bg1"/>
                          </a:solidFill>
                          <a:effectLst/>
                        </a:rPr>
                        <a:t>numPacketsRxBad</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err="1">
                          <a:solidFill>
                            <a:schemeClr val="bg1"/>
                          </a:solidFill>
                          <a:effectLst/>
                        </a:rPr>
                        <a:t>numRxDupe</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err="1">
                          <a:solidFill>
                            <a:schemeClr val="bg1"/>
                          </a:solidFill>
                          <a:effectLst/>
                        </a:rPr>
                        <a:t>numTxRelay</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a:solidFill>
                            <a:schemeClr val="bg1"/>
                          </a:solidFill>
                          <a:effectLst/>
                        </a:rPr>
                        <a:t>numOnlineNodes</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tc>
                  <a:txBody>
                    <a:bodyPr/>
                    <a:lstStyle/>
                    <a:p>
                      <a:pPr algn="ctr" fontAlgn="b">
                        <a:buNone/>
                      </a:pPr>
                      <a:r>
                        <a:rPr lang="en-CA" sz="800" u="none" strike="noStrike" dirty="0">
                          <a:solidFill>
                            <a:schemeClr val="bg1"/>
                          </a:solidFill>
                          <a:effectLst/>
                        </a:rPr>
                        <a:t>numTotalNodes</a:t>
                      </a:r>
                      <a:endParaRPr lang="en-CA" sz="800" b="1" i="0" u="none" strike="noStrike" dirty="0">
                        <a:solidFill>
                          <a:schemeClr val="bg1"/>
                        </a:solidFill>
                        <a:effectLst/>
                        <a:latin typeface="Aptos Narrow" panose="020B0004020202020204" pitchFamily="34" charset="0"/>
                      </a:endParaRPr>
                    </a:p>
                  </a:txBody>
                  <a:tcPr marL="6672" marR="6672" marT="6672" marB="0" anchor="ctr">
                    <a:solidFill>
                      <a:schemeClr val="tx2">
                        <a:lumMod val="75000"/>
                        <a:lumOff val="25000"/>
                      </a:schemeClr>
                    </a:solidFill>
                  </a:tcPr>
                </a:tc>
                <a:extLst>
                  <a:ext uri="{0D108BD9-81ED-4DB2-BD59-A6C34878D82A}">
                    <a16:rowId xmlns:a16="http://schemas.microsoft.com/office/drawing/2014/main" val="3088045837"/>
                  </a:ext>
                </a:extLst>
              </a:tr>
              <a:tr h="936554">
                <a:tc>
                  <a:txBody>
                    <a:bodyPr/>
                    <a:lstStyle/>
                    <a:p>
                      <a:pPr algn="ctr" fontAlgn="b">
                        <a:buNone/>
                      </a:pPr>
                      <a:r>
                        <a:rPr lang="en-CA" sz="800" u="none" strike="noStrike" dirty="0">
                          <a:effectLst/>
                        </a:rPr>
                        <a:t>44.6374710331165</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-63.5875248258794</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!6c73daa0</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6783</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5.92336104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444</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658</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154</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397</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63</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9</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4</a:t>
                      </a:r>
                      <a:endParaRPr lang="en-CA" sz="12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763061183"/>
                  </a:ext>
                </a:extLst>
              </a:tr>
              <a:tr h="936554">
                <a:tc>
                  <a:txBody>
                    <a:bodyPr/>
                    <a:lstStyle/>
                    <a:p>
                      <a:pPr algn="ctr" fontAlgn="b">
                        <a:buNone/>
                      </a:pPr>
                      <a:r>
                        <a:rPr lang="en-CA" sz="800" u="none" strike="noStrike">
                          <a:effectLst/>
                        </a:rPr>
                        <a:t>44.6369664633251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-63.5891976671482</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!dadfb0cc</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6841</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5.17580539</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403</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1022</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131</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399</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394</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8</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8</a:t>
                      </a:r>
                      <a:endParaRPr lang="en-CA" sz="12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3575471287"/>
                  </a:ext>
                </a:extLst>
              </a:tr>
              <a:tr h="936554">
                <a:tc>
                  <a:txBody>
                    <a:bodyPr/>
                    <a:lstStyle/>
                    <a:p>
                      <a:pPr algn="ctr" fontAlgn="b">
                        <a:buNone/>
                      </a:pPr>
                      <a:r>
                        <a:rPr lang="en-CA" sz="800" u="none" strike="noStrike">
                          <a:effectLst/>
                        </a:rPr>
                        <a:t>44.6347432599171</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-63.5917649968432</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!dadfb8d4</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6601</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1.73838899</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153</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807</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67</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266</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132</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1</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0</a:t>
                      </a:r>
                      <a:endParaRPr lang="en-CA" sz="1200" b="0" i="0" u="none" strike="noStrike">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4148668629"/>
                  </a:ext>
                </a:extLst>
              </a:tr>
              <a:tr h="936554">
                <a:tc>
                  <a:txBody>
                    <a:bodyPr/>
                    <a:lstStyle/>
                    <a:p>
                      <a:pPr algn="ctr" fontAlgn="b">
                        <a:buNone/>
                      </a:pPr>
                      <a:r>
                        <a:rPr lang="en-CA" sz="800" u="none" strike="noStrike">
                          <a:effectLst/>
                        </a:rPr>
                        <a:t>44.6362052985069</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-63.5940921770574</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!dadfb008</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6662</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4.09424996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384</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824</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91</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259</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384</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22</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0</a:t>
                      </a:r>
                      <a:endParaRPr lang="en-CA" sz="1200" b="0" i="0" u="none" strike="noStrike" dirty="0">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1718283873"/>
                  </a:ext>
                </a:extLst>
              </a:tr>
              <a:tr h="936554">
                <a:tc>
                  <a:txBody>
                    <a:bodyPr/>
                    <a:lstStyle/>
                    <a:p>
                      <a:pPr algn="ctr" fontAlgn="b">
                        <a:buNone/>
                      </a:pPr>
                      <a:r>
                        <a:rPr lang="en-CA" sz="800" u="none" strike="noStrike" dirty="0">
                          <a:effectLst/>
                        </a:rPr>
                        <a:t>44.6391960574960</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a:effectLst/>
                        </a:rPr>
                        <a:t>-63.5828730326646</a:t>
                      </a:r>
                      <a:endParaRPr lang="en-CA" sz="8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!dadfb03c</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6181</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800" u="none" strike="noStrike" dirty="0">
                          <a:effectLst/>
                        </a:rPr>
                        <a:t>0.000777779</a:t>
                      </a:r>
                      <a:endParaRPr lang="en-CA" sz="8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2</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N/A</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a:effectLst/>
                        </a:rPr>
                        <a:t>N/A</a:t>
                      </a:r>
                      <a:endParaRPr lang="en-CA" sz="1200" b="0" i="0" u="none" strike="noStrike">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N/A</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N/A</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0</a:t>
                      </a:r>
                      <a:endParaRPr lang="en-CA" sz="1200" b="0" i="0" u="none" strike="noStrike" dirty="0">
                        <a:solidFill>
                          <a:srgbClr val="000000"/>
                        </a:solidFill>
                        <a:effectLst/>
                        <a:latin typeface="Aptos Narrow" panose="020B0004020202020204" pitchFamily="34" charset="0"/>
                      </a:endParaRPr>
                    </a:p>
                  </a:txBody>
                  <a:tcPr marL="6672" marR="6672" marT="6672" marB="0" anchor="ctr"/>
                </a:tc>
                <a:tc>
                  <a:txBody>
                    <a:bodyPr/>
                    <a:lstStyle/>
                    <a:p>
                      <a:pPr algn="ctr" fontAlgn="b">
                        <a:buNone/>
                      </a:pPr>
                      <a:r>
                        <a:rPr lang="en-CA" sz="1200" u="none" strike="noStrike" dirty="0">
                          <a:effectLst/>
                        </a:rPr>
                        <a:t>0</a:t>
                      </a:r>
                      <a:endParaRPr lang="en-CA" sz="1200" b="0" i="0" u="none" strike="noStrike" dirty="0">
                        <a:solidFill>
                          <a:srgbClr val="000000"/>
                        </a:solidFill>
                        <a:effectLst/>
                        <a:latin typeface="Aptos Narrow" panose="020B0004020202020204" pitchFamily="34" charset="0"/>
                      </a:endParaRPr>
                    </a:p>
                  </a:txBody>
                  <a:tcPr marL="6672" marR="6672" marT="6672" marB="0" anchor="ctr"/>
                </a:tc>
                <a:extLst>
                  <a:ext uri="{0D108BD9-81ED-4DB2-BD59-A6C34878D82A}">
                    <a16:rowId xmlns:a16="http://schemas.microsoft.com/office/drawing/2014/main" val="1186409628"/>
                  </a:ext>
                </a:extLst>
              </a:tr>
            </a:tbl>
          </a:graphicData>
        </a:graphic>
      </p:graphicFrame>
    </p:spTree>
    <p:extLst>
      <p:ext uri="{BB962C8B-B14F-4D97-AF65-F5344CB8AC3E}">
        <p14:creationId xmlns:p14="http://schemas.microsoft.com/office/powerpoint/2010/main" val="40336452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EE7F2DB1-C53C-5646-7B2F-A744F5D71C06}"/>
              </a:ext>
            </a:extLst>
          </p:cNvPr>
          <p:cNvPicPr>
            <a:picLocks noChangeAspect="1"/>
          </p:cNvPicPr>
          <p:nvPr/>
        </p:nvPicPr>
        <p:blipFill>
          <a:blip r:embed="rId2"/>
          <a:stretch>
            <a:fillRect/>
          </a:stretch>
        </p:blipFill>
        <p:spPr>
          <a:xfrm>
            <a:off x="-135467" y="-54542"/>
            <a:ext cx="12327467" cy="6891353"/>
          </a:xfrm>
          <a:prstGeom prst="rect">
            <a:avLst/>
          </a:prstGeom>
        </p:spPr>
      </p:pic>
    </p:spTree>
    <p:extLst>
      <p:ext uri="{BB962C8B-B14F-4D97-AF65-F5344CB8AC3E}">
        <p14:creationId xmlns:p14="http://schemas.microsoft.com/office/powerpoint/2010/main" val="178896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F73B56-5549-A260-5397-AA6B846EA901}"/>
              </a:ext>
            </a:extLst>
          </p:cNvPr>
          <p:cNvSpPr>
            <a:spLocks noGrp="1"/>
          </p:cNvSpPr>
          <p:nvPr>
            <p:ph type="title"/>
          </p:nvPr>
        </p:nvSpPr>
        <p:spPr/>
        <p:txBody>
          <a:bodyPr/>
          <a:lstStyle/>
          <a:p>
            <a:r>
              <a:rPr lang="en-US" dirty="0"/>
              <a:t>Mesh-wide Retransmission Test</a:t>
            </a:r>
          </a:p>
        </p:txBody>
      </p:sp>
      <p:sp>
        <p:nvSpPr>
          <p:cNvPr id="3" name="Content Placeholder 2">
            <a:extLst>
              <a:ext uri="{FF2B5EF4-FFF2-40B4-BE49-F238E27FC236}">
                <a16:creationId xmlns:a16="http://schemas.microsoft.com/office/drawing/2014/main" id="{A9B1F4F7-4C61-FA1F-6452-DFE112F734EC}"/>
              </a:ext>
            </a:extLst>
          </p:cNvPr>
          <p:cNvSpPr>
            <a:spLocks noGrp="1"/>
          </p:cNvSpPr>
          <p:nvPr>
            <p:ph idx="1"/>
          </p:nvPr>
        </p:nvSpPr>
        <p:spPr>
          <a:xfrm>
            <a:off x="838200" y="1572896"/>
            <a:ext cx="10515600" cy="5032375"/>
          </a:xfrm>
        </p:spPr>
        <p:txBody>
          <a:bodyPr>
            <a:normAutofit fontScale="92500" lnSpcReduction="10000"/>
          </a:bodyPr>
          <a:lstStyle/>
          <a:p>
            <a:r>
              <a:rPr lang="en-US" dirty="0"/>
              <a:t>There were some issues with the test:</a:t>
            </a:r>
          </a:p>
          <a:p>
            <a:pPr lvl="1"/>
            <a:r>
              <a:rPr lang="en-US" dirty="0"/>
              <a:t>There is supposed to be another node (</a:t>
            </a:r>
            <a:r>
              <a:rPr lang="en-CA" dirty="0"/>
              <a:t>!dadfb6c8)</a:t>
            </a:r>
            <a:r>
              <a:rPr lang="en-US" dirty="0"/>
              <a:t> in the McCain Arts Building Room 2130 but unfortunately, the doors to the classroom have been locked. Fortunately, the node is still active and is still part of the mesh.</a:t>
            </a:r>
          </a:p>
          <a:p>
            <a:pPr lvl="1"/>
            <a:r>
              <a:rPr lang="en-CA" dirty="0"/>
              <a:t>Although I assumed the node in the Collaborative Health Education Building (CHEB) had been recently re-flashed with default settings, I discovered this was not the case only after the test was completed. Because the telemetry module was disabled, data collection was restricted to airUtilTx and packet counts. These metrics remained artificially low because routine background broadcasts were suppressed.</a:t>
            </a:r>
            <a:endParaRPr lang="en-US" dirty="0"/>
          </a:p>
          <a:p>
            <a:r>
              <a:rPr lang="en-US" dirty="0"/>
              <a:t>This test could be re-done in the future with these changes for more data and accurate results.</a:t>
            </a:r>
          </a:p>
          <a:p>
            <a:r>
              <a:rPr lang="en-US" dirty="0"/>
              <a:t>Additionally, this test could be done with custom firmware I have written previously which exposes </a:t>
            </a:r>
            <a:r>
              <a:rPr lang="en-US" dirty="0" err="1"/>
              <a:t>airUtilTx</a:t>
            </a:r>
            <a:r>
              <a:rPr lang="en-US" dirty="0"/>
              <a:t> as milliseconds transferring packets since boot, instead of a percentage of time.</a:t>
            </a:r>
          </a:p>
          <a:p>
            <a:pPr lvl="1"/>
            <a:endParaRPr lang="en-US" dirty="0"/>
          </a:p>
        </p:txBody>
      </p:sp>
    </p:spTree>
    <p:extLst>
      <p:ext uri="{BB962C8B-B14F-4D97-AF65-F5344CB8AC3E}">
        <p14:creationId xmlns:p14="http://schemas.microsoft.com/office/powerpoint/2010/main" val="2721012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71006-99F6-D010-C23F-17EC4272B7F6}"/>
              </a:ext>
            </a:extLst>
          </p:cNvPr>
          <p:cNvSpPr>
            <a:spLocks noGrp="1"/>
          </p:cNvSpPr>
          <p:nvPr>
            <p:ph type="title"/>
          </p:nvPr>
        </p:nvSpPr>
        <p:spPr/>
        <p:txBody>
          <a:bodyPr/>
          <a:lstStyle/>
          <a:p>
            <a:r>
              <a:rPr lang="en-US" dirty="0"/>
              <a:t>Next Week</a:t>
            </a:r>
          </a:p>
        </p:txBody>
      </p:sp>
      <p:sp>
        <p:nvSpPr>
          <p:cNvPr id="3" name="Content Placeholder 2">
            <a:extLst>
              <a:ext uri="{FF2B5EF4-FFF2-40B4-BE49-F238E27FC236}">
                <a16:creationId xmlns:a16="http://schemas.microsoft.com/office/drawing/2014/main" id="{358D90D9-34A0-9BD8-2158-C7A42C2AD499}"/>
              </a:ext>
            </a:extLst>
          </p:cNvPr>
          <p:cNvSpPr>
            <a:spLocks noGrp="1"/>
          </p:cNvSpPr>
          <p:nvPr>
            <p:ph idx="1"/>
          </p:nvPr>
        </p:nvSpPr>
        <p:spPr/>
        <p:txBody>
          <a:bodyPr/>
          <a:lstStyle/>
          <a:p>
            <a:r>
              <a:rPr lang="en-US" dirty="0"/>
              <a:t>Battery Consumption Testing</a:t>
            </a:r>
          </a:p>
          <a:p>
            <a:pPr lvl="1"/>
            <a:r>
              <a:rPr lang="en-US" dirty="0"/>
              <a:t>Observe the overnight power draw on nodes under default conditions.</a:t>
            </a:r>
          </a:p>
          <a:p>
            <a:r>
              <a:rPr lang="en-US" dirty="0"/>
              <a:t>Mobile Routing Test</a:t>
            </a:r>
          </a:p>
          <a:p>
            <a:pPr lvl="1"/>
            <a:r>
              <a:rPr lang="en-US" dirty="0"/>
              <a:t>Observing how Meshtastic adapts to moving nodes, how broken paths are updated dynamically and how this affects communication performance.</a:t>
            </a:r>
          </a:p>
          <a:p>
            <a:r>
              <a:rPr lang="en-US" dirty="0"/>
              <a:t>MeshCore</a:t>
            </a:r>
          </a:p>
          <a:p>
            <a:pPr lvl="1"/>
            <a:r>
              <a:rPr lang="en-US" dirty="0"/>
              <a:t>Re-run the previous tests and/or new tests on MeshCore firmware to compare how architectural differences impact results in urban environments.</a:t>
            </a:r>
          </a:p>
        </p:txBody>
      </p:sp>
    </p:spTree>
    <p:extLst>
      <p:ext uri="{BB962C8B-B14F-4D97-AF65-F5344CB8AC3E}">
        <p14:creationId xmlns:p14="http://schemas.microsoft.com/office/powerpoint/2010/main" val="2813073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217</TotalTime>
  <Words>998</Words>
  <Application>Microsoft Macintosh PowerPoint</Application>
  <PresentationFormat>Widescreen</PresentationFormat>
  <Paragraphs>381</Paragraphs>
  <Slides>9</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Aptos Display</vt:lpstr>
      <vt:lpstr>Aptos Narrow</vt:lpstr>
      <vt:lpstr>Arial</vt:lpstr>
      <vt:lpstr>Menlo</vt:lpstr>
      <vt:lpstr>Office Theme</vt:lpstr>
      <vt:lpstr>Meeting – June 25</vt:lpstr>
      <vt:lpstr>Campus Mesh Tests</vt:lpstr>
      <vt:lpstr>Meshtastic Delivery Rate + Latency Test Results</vt:lpstr>
      <vt:lpstr>Mesh-wide Retransmission Test</vt:lpstr>
      <vt:lpstr>Mesh-wide Retransmission Test Results</vt:lpstr>
      <vt:lpstr>Mesh-wide Retransmission Test Results</vt:lpstr>
      <vt:lpstr>PowerPoint Presentation</vt:lpstr>
      <vt:lpstr>Mesh-wide Retransmission Test</vt:lpstr>
      <vt:lpstr>Next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Jonathan Earle</dc:creator>
  <cp:lastModifiedBy>Jonathan Earle</cp:lastModifiedBy>
  <cp:revision>14</cp:revision>
  <dcterms:created xsi:type="dcterms:W3CDTF">2026-06-25T12:45:19Z</dcterms:created>
  <dcterms:modified xsi:type="dcterms:W3CDTF">2026-06-25T16:22:43Z</dcterms:modified>
</cp:coreProperties>
</file>