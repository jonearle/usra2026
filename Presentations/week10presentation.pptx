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1"/>
  </p:normalViewPr>
  <p:slideViewPr>
    <p:cSldViewPr snapToGrid="0">
      <p:cViewPr>
        <p:scale>
          <a:sx n="113" d="100"/>
          <a:sy n="113" d="100"/>
        </p:scale>
        <p:origin x="4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dynamic_test/dynamic_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dynamic_test/dynamic_te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/Users/Jon/usra2026/data/dynamic_test/dynamic_te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Latency per Number of Edges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extra!$L$1</c:f>
              <c:strCache>
                <c:ptCount val="1"/>
                <c:pt idx="0">
                  <c:v>avg latency/number of edges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extra!$U$2:$U$7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extra!$L$2:$L$7</c:f>
              <c:numCache>
                <c:formatCode>General</c:formatCode>
                <c:ptCount val="6"/>
                <c:pt idx="0">
                  <c:v>2.1130033107030961</c:v>
                </c:pt>
                <c:pt idx="1">
                  <c:v>3.2530740824612705</c:v>
                </c:pt>
                <c:pt idx="2">
                  <c:v>2.6910797326992721</c:v>
                </c:pt>
                <c:pt idx="3">
                  <c:v>2.4956089933713277</c:v>
                </c:pt>
                <c:pt idx="4">
                  <c:v>2.3973559856414797</c:v>
                </c:pt>
                <c:pt idx="5">
                  <c:v>2.7814583381017051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43-1846-B5EA-B36754083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6009920"/>
        <c:axId val="1696016768"/>
      </c:barChart>
      <c:catAx>
        <c:axId val="169600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Edges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6016768"/>
        <c:crosses val="autoZero"/>
        <c:auto val="1"/>
        <c:lblAlgn val="ctr"/>
        <c:lblOffset val="100"/>
        <c:noMultiLvlLbl val="0"/>
      </c:catAx>
      <c:valAx>
        <c:axId val="1696016768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600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Latency per Number of Hops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extra!$J$1</c:f>
              <c:strCache>
                <c:ptCount val="1"/>
                <c:pt idx="0">
                  <c:v>avg latency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extra!$K$2:$K$7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extra!$J$2:$J$7</c:f>
              <c:numCache>
                <c:formatCode>General</c:formatCode>
                <c:ptCount val="6"/>
                <c:pt idx="0">
                  <c:v>2.1130033107030961</c:v>
                </c:pt>
                <c:pt idx="1">
                  <c:v>6.506148164922541</c:v>
                </c:pt>
                <c:pt idx="2">
                  <c:v>8.0732391980978164</c:v>
                </c:pt>
                <c:pt idx="3">
                  <c:v>9.9824359734853108</c:v>
                </c:pt>
                <c:pt idx="4">
                  <c:v>11.986779928207397</c:v>
                </c:pt>
                <c:pt idx="5">
                  <c:v>16.688750028610229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48-114A-ABA3-5165287D93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30375952"/>
        <c:axId val="1630369632"/>
      </c:barChart>
      <c:catAx>
        <c:axId val="16303759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Hops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369632"/>
        <c:crosses val="autoZero"/>
        <c:auto val="1"/>
        <c:lblAlgn val="ctr"/>
        <c:lblOffset val="100"/>
        <c:noMultiLvlLbl val="0"/>
      </c:catAx>
      <c:valAx>
        <c:axId val="1630369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375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extra!$H$2:$H$22</cx:f>
        <cx:lvl ptCount="21" formatCode="General">
          <cx:pt idx="0">1.8495399951934814</cx:pt>
          <cx:pt idx="1">2.0892601013183594</cx:pt>
          <cx:pt idx="2">1.7227399349212646</cx:pt>
          <cx:pt idx="3">2.5774099826812744</cx:pt>
          <cx:pt idx="4">1.9299499988555908</cx:pt>
          <cx:pt idx="5">2.0154600143432617</cx:pt>
          <cx:pt idx="6">3.5180301666259766</cx:pt>
          <cx:pt idx="7">1.891049861907959</cx:pt>
          <cx:pt idx="8">1.950390100479126</cx:pt>
          <cx:pt idx="9">1.890859842300415</cx:pt>
          <cx:pt idx="10">1.8667199611663818</cx:pt>
          <cx:pt idx="11">2.1085600852966309</cx:pt>
          <cx:pt idx="12">2.1308598518371582</cx:pt>
          <cx:pt idx="13">2.2323799133300781</cx:pt>
          <cx:pt idx="14">2.0226500034332275</cx:pt>
          <cx:pt idx="15">2.2043900489807129</cx:pt>
          <cx:pt idx="16">2.0721797943115234</cx:pt>
          <cx:pt idx="17">2.0957498550415039</cx:pt>
          <cx:pt idx="18">2.1098599433898926</cx:pt>
          <cx:pt idx="19">2.1185400485992432</cx:pt>
          <cx:pt idx="20">1.9764900207519531</cx:pt>
        </cx:lvl>
      </cx:numDim>
    </cx:data>
    <cx:data id="1">
      <cx:numDim type="val">
        <cx:f>extra!$H$23:$H$33</cx:f>
        <cx:lvl ptCount="11" formatCode="General">
          <cx:pt idx="0">5.5623300075531006</cx:pt>
          <cx:pt idx="1">4.229489803314209</cx:pt>
          <cx:pt idx="2">4.2816500663757324</cx:pt>
          <cx:pt idx="3">7.6958301067352295</cx:pt>
          <cx:pt idx="4">6.9838700294494629</cx:pt>
          <cx:pt idx="5">9.4755299091339111</cx:pt>
          <cx:pt idx="6">4.2533600330352783</cx:pt>
          <cx:pt idx="7">6.7750799655914307</cx:pt>
          <cx:pt idx="8">4.3078000545501709</cx:pt>
          <cx:pt idx="9">5.4314899444580078</cx:pt>
          <cx:pt idx="10">12.571199893951416</cx:pt>
        </cx:lvl>
      </cx:numDim>
    </cx:data>
    <cx:data id="2">
      <cx:numDim type="val">
        <cx:f>extra!$H$34:$H$46</cx:f>
        <cx:lvl ptCount="13" formatCode="General">
          <cx:pt idx="0">6.2929298877716064</cx:pt>
          <cx:pt idx="1">8.0320501327514648</cx:pt>
          <cx:pt idx="2">6.0901198387145996</cx:pt>
          <cx:pt idx="3">11.535619974136353</cx:pt>
          <cx:pt idx="4">6.2359099388122559</cx:pt>
          <cx:pt idx="5">6.9728498458862305</cx:pt>
          <cx:pt idx="6">6.8747200965881348</cx:pt>
          <cx:pt idx="7">9.6630101203918457</cx:pt>
          <cx:pt idx="8">8.0954799652099609</cx:pt>
          <cx:pt idx="9">12.416559934616089</cx:pt>
          <cx:pt idx="10">7.3911099433898926</cx:pt>
          <cx:pt idx="11">8.2458498477935791</cx:pt>
          <cx:pt idx="12">7.1059000492095947</cx:pt>
        </cx:lvl>
      </cx:numDim>
    </cx:data>
    <cx:data id="3">
      <cx:numDim type="val">
        <cx:f>extra!$H$47:$H$61</cx:f>
        <cx:lvl ptCount="15" formatCode="General">
          <cx:pt idx="0">8.5181601047515869</cx:pt>
          <cx:pt idx="1">10.298759937286377</cx:pt>
          <cx:pt idx="2">8.7825500965118408</cx:pt>
          <cx:pt idx="3">10.722690105438232</cx:pt>
          <cx:pt idx="4">9.2752299308776855</cx:pt>
          <cx:pt idx="5">11.458189964294434</cx:pt>
          <cx:pt idx="6">8.3998498916625977</cx:pt>
          <cx:pt idx="7">10.616899967193604</cx:pt>
          <cx:pt idx="8">11.051949977874756</cx:pt>
          <cx:pt idx="9">8.1484298706054688</cx:pt>
          <cx:pt idx="10">9.9340999126434326</cx:pt>
          <cx:pt idx="11">10.235640048980713</cx:pt>
          <cx:pt idx="12">8.3150398731231689</cx:pt>
          <cx:pt idx="13">11.176090002059937</cx:pt>
          <cx:pt idx="14">12.80295991897583</cx:pt>
        </cx:lvl>
      </cx:numDim>
    </cx:data>
    <cx:data id="4">
      <cx:numDim type="val">
        <cx:f>extra!$H$62</cx:f>
        <cx:lvl ptCount="1" formatCode="General">
          <cx:pt idx="0">11.986779928207397</cx:pt>
        </cx:lvl>
      </cx:numDim>
    </cx:data>
    <cx:data id="5">
      <cx:numDim type="val">
        <cx:f>extra!$H$63</cx:f>
        <cx:lvl ptCount="1" formatCode="General">
          <cx:pt idx="0">16.688750028610229</cx:pt>
        </cx:lvl>
      </cx:numDim>
    </cx:data>
  </cx:chartData>
  <cx:chart>
    <cx:title pos="t" align="ctr" overlay="0">
      <cx:tx>
        <cx:txData>
          <cx:v>Latency per Hop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Latency per Hop</a:t>
          </a:r>
        </a:p>
      </cx:txPr>
    </cx:title>
    <cx:plotArea>
      <cx:plotAreaRegion>
        <cx:series layoutId="boxWhisker" uniqueId="{00000000-ED4B-4548-9D42-45C6495CDFD9}">
          <cx:tx>
            <cx:txData>
              <cx:v>0 Hop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0000001-ED4B-4548-9D42-45C6495CDFD9}">
          <cx:tx>
            <cx:txData>
              <cx:v>1 Hop</cx:v>
            </cx:txData>
          </cx:tx>
          <cx:dataId val="1"/>
          <cx:layoutPr>
            <cx:visibility nonoutliers="0"/>
            <cx:statistics quartileMethod="exclusive"/>
          </cx:layoutPr>
        </cx:series>
        <cx:series layoutId="boxWhisker" uniqueId="{00000002-ED4B-4548-9D42-45C6495CDFD9}">
          <cx:tx>
            <cx:txData>
              <cx:v>2 Hop</cx:v>
            </cx:txData>
          </cx:tx>
          <cx:dataId val="2"/>
          <cx:layoutPr>
            <cx:visibility nonoutliers="0"/>
            <cx:statistics quartileMethod="exclusive"/>
          </cx:layoutPr>
        </cx:series>
        <cx:series layoutId="boxWhisker" uniqueId="{00000003-ED4B-4548-9D42-45C6495CDFD9}">
          <cx:tx>
            <cx:txData>
              <cx:v>3 Hop</cx:v>
            </cx:txData>
          </cx:tx>
          <cx:dataId val="3"/>
          <cx:layoutPr>
            <cx:visibility nonoutliers="0"/>
            <cx:statistics quartileMethod="exclusive"/>
          </cx:layoutPr>
        </cx:series>
        <cx:series layoutId="boxWhisker" uniqueId="{00000000-2643-A24C-952F-030BE949A363}">
          <cx:tx>
            <cx:txData>
              <cx:v>4 Hop</cx:v>
            </cx:txData>
          </cx:tx>
          <cx:dataId val="4"/>
          <cx:layoutPr>
            <cx:statistics quartileMethod="exclusive"/>
          </cx:layoutPr>
        </cx:series>
        <cx:series layoutId="boxWhisker" uniqueId="{00000001-2643-A24C-952F-030BE949A363}">
          <cx:tx>
            <cx:txData>
              <cx:v>5 Hop</cx:v>
            </cx:txData>
          </cx:tx>
          <cx:dataId val="5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title>
          <cx:tx>
            <cx:txData>
              <cx:v>Seconds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</a:rPr>
                <a:t>Seconds</a:t>
              </a:r>
            </a:p>
          </cx:txPr>
        </cx:title>
        <cx:majorGridlines/>
        <cx:tickLabels/>
      </cx:axis>
    </cx:plotArea>
    <cx:legend pos="b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BF1A4-EE6E-E34B-A2CD-426C37C45A3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F0549-C300-4F43-BE6C-A522AD88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5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F0549-C300-4F43-BE6C-A522AD8831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1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B652-C09E-CAF6-CE5F-660CFDD3B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DE34A-8A5D-8B3D-4B7C-40C832252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2FFFA-ACD6-E1F9-2D01-511C5C1C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A2E9-A8D7-EE1F-337E-A08D0665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D131-1858-F517-D9E0-30195F1C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FF02-C046-0D04-3FDC-FB7331EF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1DBA0-D758-A19A-E8F7-ED7AE0560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5629E-A5EE-771C-ADFB-CFD6F555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C382F-C047-4BF8-B52D-1C24E767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5B358-ED5B-9B69-0F88-B6D47127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1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1097-E8E8-A3FB-363A-D63C8331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A07DD-30FF-BC5B-380D-68A8971A3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2FDD3-73A5-BD01-78BD-3C62B008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77417-662B-139A-4A85-9007A882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2F7CC-CAE5-E421-E026-13E79E8E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2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2C25-A661-A814-D393-5CF9E59B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19B36-966D-7DEC-43C8-4F88D6671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24899-3F10-CD98-A7ED-D252F711A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300DC-9D56-51CF-5BC3-6380C3ACA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0FD69-01F0-948F-3209-81AC940F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43CE1-5C3A-F2E5-AFF4-127D7A9C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0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CA75-628D-38CC-CCCE-075D6B08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3EE9-9DF4-2478-BCD1-E9C9D9FA9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CEA22-AF04-338F-86C1-48EB54CC8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1D580-D76A-109D-DAC7-D4C997C08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CECC2-EB7C-3F77-87DC-518FC45C1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660AE-4C04-8388-8942-8D1A4B92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CA29A-2A95-DD84-7F46-DC4E520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3096B-4D64-ED29-5CDC-67EB4C91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4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8DD8-DDB5-FFD8-4E75-50E3F6BD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98CF2-381A-CCDD-5481-51FBF853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50340-08A5-F672-A547-65FFEA5D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211D2-E096-EFC9-AD1D-15B9A951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0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A4DC7-F461-09E7-FD96-BD2246DA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58BBB-E522-B440-51B4-60A8B29E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38191-74CB-9142-7D33-EF8D336D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5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8F3F-B8AA-02D6-C9B7-6E1AC620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429C1-7D2D-09D2-BF98-57889AFA5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B3323-F736-9799-60FD-CF523B08E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6458D-4D31-9A58-13C6-FE0005E8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887FD-1059-A829-36A4-68B84925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BADAB-5DC5-A5D6-A4D6-47064685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C236-6EF5-A830-4079-8906167B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A498E-E349-B6A0-E045-9D84ED17D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4B0EA-0F72-8CC0-2CFE-490B6B58A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C83B6-F61A-95F4-4454-84656E76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AC4CF-E109-3D0B-B873-71BFA309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23E91-D4E0-7459-AF61-C730A28E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B01C0-D2F2-78EA-5AFA-A519FD61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67D6-4A05-6ADF-FE72-38FEC011F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2A5A-12CD-FAE8-E626-6677903D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FAD33-8176-934A-C096-28513D90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7172D-2682-CCD8-2BFE-BFB6A2A0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4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81913-E7D9-DAB4-AF71-CB81E0E21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B90B3-E99A-32ED-2CE1-F12DA8C65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5394C-0D0A-ECF0-A352-C5477E2A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FA583-DFA7-FC9E-1981-FE08FCAB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135FA-4F9F-85AE-D2EE-78CD00B0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8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6A002-BD49-6418-7B9D-0013597A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E104-AC58-19F6-70EF-1AD12F830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49527-A90D-2C5F-A79F-8D217201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5D61A-66C0-4D43-AFA6-05E4D39E71D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16FD-6D06-7EA3-66C2-4E38A1191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B4328-AF35-308D-8355-2FD110911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0C0E6-4357-484E-ACEF-F5463061C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6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5671-A335-5E70-31E8-2D055D160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BFB9A-7183-5EC8-E34A-77292BCA8F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 Earle</a:t>
            </a:r>
          </a:p>
        </p:txBody>
      </p:sp>
    </p:spTree>
    <p:extLst>
      <p:ext uri="{BB962C8B-B14F-4D97-AF65-F5344CB8AC3E}">
        <p14:creationId xmlns:p14="http://schemas.microsoft.com/office/powerpoint/2010/main" val="167437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47A0-2AEA-A34A-7BEB-EF1D2F7F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Node Tests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4A0241D2-4499-6C40-84A6-51546BE6181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70682822"/>
                  </p:ext>
                </p:extLst>
              </p:nvPr>
            </p:nvGraphicFramePr>
            <p:xfrm>
              <a:off x="743896" y="1599045"/>
              <a:ext cx="7319449" cy="489383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4A0241D2-4499-6C40-84A6-51546BE618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896" y="1599045"/>
                <a:ext cx="7319449" cy="489383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DDE76D0-A71C-E999-025E-1DC30A305297}"/>
              </a:ext>
            </a:extLst>
          </p:cNvPr>
          <p:cNvSpPr txBox="1"/>
          <p:nvPr/>
        </p:nvSpPr>
        <p:spPr>
          <a:xfrm>
            <a:off x="8312133" y="1876301"/>
            <a:ext cx="38216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Metrics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Delivery Rate: 73.8%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Latency: 6.44 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Latency by Link: 2.62 sec </a:t>
            </a:r>
          </a:p>
        </p:txBody>
      </p:sp>
    </p:spTree>
    <p:extLst>
      <p:ext uri="{BB962C8B-B14F-4D97-AF65-F5344CB8AC3E}">
        <p14:creationId xmlns:p14="http://schemas.microsoft.com/office/powerpoint/2010/main" val="79891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508F-50D4-8D6F-3152-68CD1E0A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Node Tests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150522-940F-4BDF-4FD9-29D30CFA9D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8595719"/>
              </p:ext>
            </p:extLst>
          </p:nvPr>
        </p:nvGraphicFramePr>
        <p:xfrm>
          <a:off x="6096000" y="1502520"/>
          <a:ext cx="5649274" cy="4862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D25360-A739-D86E-1731-5E74C7D832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022901"/>
              </p:ext>
            </p:extLst>
          </p:nvPr>
        </p:nvGraphicFramePr>
        <p:xfrm>
          <a:off x="446727" y="1502519"/>
          <a:ext cx="5649274" cy="4784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8426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E59A-7EA0-8296-E5EA-4AF7C840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00"/>
            <a:ext cx="10515600" cy="1325563"/>
          </a:xfrm>
        </p:spPr>
        <p:txBody>
          <a:bodyPr/>
          <a:lstStyle/>
          <a:p>
            <a:r>
              <a:rPr lang="en-US" dirty="0"/>
              <a:t>Hops by Location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ECEAD9-2783-B39C-A138-3D6272717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585" y="1569363"/>
            <a:ext cx="6310745" cy="4738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7F3835-E5EA-8C1B-E600-EBFA958A9B66}"/>
              </a:ext>
            </a:extLst>
          </p:cNvPr>
          <p:cNvSpPr txBox="1"/>
          <p:nvPr/>
        </p:nvSpPr>
        <p:spPr>
          <a:xfrm>
            <a:off x="8361218" y="2368943"/>
            <a:ext cx="29925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Legend</a:t>
            </a:r>
          </a:p>
          <a:p>
            <a:pPr algn="ctr"/>
            <a:r>
              <a:rPr lang="en-US" dirty="0"/>
              <a:t>0 Hops - Bright Yellow</a:t>
            </a:r>
          </a:p>
          <a:p>
            <a:pPr algn="ctr"/>
            <a:r>
              <a:rPr lang="en-US" dirty="0"/>
              <a:t>1 Hop - Orange</a:t>
            </a:r>
          </a:p>
          <a:p>
            <a:pPr algn="ctr"/>
            <a:r>
              <a:rPr lang="en-US" dirty="0"/>
              <a:t>2 Hops - Light Red</a:t>
            </a:r>
          </a:p>
          <a:p>
            <a:pPr algn="ctr"/>
            <a:r>
              <a:rPr lang="en-US" dirty="0"/>
              <a:t>3 Hops - Magenta</a:t>
            </a:r>
          </a:p>
          <a:p>
            <a:pPr algn="ctr"/>
            <a:r>
              <a:rPr lang="en-US" dirty="0"/>
              <a:t>4 Hops - Purple</a:t>
            </a:r>
          </a:p>
          <a:p>
            <a:pPr algn="ctr"/>
            <a:r>
              <a:rPr lang="en-US" dirty="0"/>
              <a:t>5 Hops - Dark Blue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Green X = Node</a:t>
            </a:r>
          </a:p>
          <a:p>
            <a:pPr algn="ctr"/>
            <a:r>
              <a:rPr lang="en-US" dirty="0"/>
              <a:t>Note: There are two nodes on the Goldberg</a:t>
            </a:r>
          </a:p>
        </p:txBody>
      </p:sp>
    </p:spTree>
    <p:extLst>
      <p:ext uri="{BB962C8B-B14F-4D97-AF65-F5344CB8AC3E}">
        <p14:creationId xmlns:p14="http://schemas.microsoft.com/office/powerpoint/2010/main" val="412227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F657-0148-1285-B668-1D2CB73A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by Location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A28915-3A0A-7033-9327-4B64E047C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4434"/>
            <a:ext cx="6738257" cy="4816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876FC-0D6D-6D48-8F8B-94BC64E6DC8E}"/>
              </a:ext>
            </a:extLst>
          </p:cNvPr>
          <p:cNvSpPr txBox="1"/>
          <p:nvPr/>
        </p:nvSpPr>
        <p:spPr>
          <a:xfrm>
            <a:off x="8194962" y="2778427"/>
            <a:ext cx="35022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Legend</a:t>
            </a:r>
          </a:p>
          <a:p>
            <a:pPr algn="ctr"/>
            <a:r>
              <a:rPr lang="en-US" dirty="0"/>
              <a:t>Less than 3 seconds - Bright Yellow</a:t>
            </a:r>
          </a:p>
          <a:p>
            <a:pPr algn="ctr"/>
            <a:r>
              <a:rPr lang="en-US" dirty="0"/>
              <a:t>3 to 6 seconds - Orange</a:t>
            </a:r>
          </a:p>
          <a:p>
            <a:pPr algn="ctr"/>
            <a:r>
              <a:rPr lang="en-US" dirty="0"/>
              <a:t>6 to 9 seconds – Light Red</a:t>
            </a:r>
          </a:p>
          <a:p>
            <a:pPr algn="ctr"/>
            <a:r>
              <a:rPr lang="en-US" dirty="0"/>
              <a:t>9 to 12 seconds - Magenta</a:t>
            </a:r>
          </a:p>
          <a:p>
            <a:pPr algn="ctr"/>
            <a:r>
              <a:rPr lang="en-US" dirty="0"/>
              <a:t>12 to 15 seconds - Purple</a:t>
            </a:r>
          </a:p>
          <a:p>
            <a:pPr algn="ctr"/>
            <a:r>
              <a:rPr lang="en-US" dirty="0"/>
              <a:t>Over 15 seconds - Dark Blue</a:t>
            </a:r>
          </a:p>
        </p:txBody>
      </p:sp>
    </p:spTree>
    <p:extLst>
      <p:ext uri="{BB962C8B-B14F-4D97-AF65-F5344CB8AC3E}">
        <p14:creationId xmlns:p14="http://schemas.microsoft.com/office/powerpoint/2010/main" val="192821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139</Words>
  <Application>Microsoft Macintosh PowerPoint</Application>
  <PresentationFormat>Widescreen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 Theme</vt:lpstr>
      <vt:lpstr>Weekly Meeting</vt:lpstr>
      <vt:lpstr>Moving Node Tests</vt:lpstr>
      <vt:lpstr>Moving Node Tests</vt:lpstr>
      <vt:lpstr>Hops by Location</vt:lpstr>
      <vt:lpstr>Latency by Location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Earle</dc:creator>
  <cp:lastModifiedBy>Jonathan Earle</cp:lastModifiedBy>
  <cp:revision>9</cp:revision>
  <dcterms:created xsi:type="dcterms:W3CDTF">2026-07-16T15:53:28Z</dcterms:created>
  <dcterms:modified xsi:type="dcterms:W3CDTF">2026-07-17T20:00:58Z</dcterms:modified>
</cp:coreProperties>
</file>