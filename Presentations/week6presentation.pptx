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717"/>
    <p:restoredTop sz="94681"/>
  </p:normalViewPr>
  <p:slideViewPr>
    <p:cSldViewPr snapToGrid="0">
      <p:cViewPr>
        <p:scale>
          <a:sx n="81" d="100"/>
          <a:sy n="81" d="100"/>
        </p:scale>
        <p:origin x="-320" y="9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EC97-BF55-8D28-F4F9-8FB9E92135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441A81-E4AB-E96A-591B-DFEA72D6A2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E2846-2736-FC0B-2BAE-B7EF556EE98C}"/>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5" name="Footer Placeholder 4">
            <a:extLst>
              <a:ext uri="{FF2B5EF4-FFF2-40B4-BE49-F238E27FC236}">
                <a16:creationId xmlns:a16="http://schemas.microsoft.com/office/drawing/2014/main" id="{89843698-D834-63B5-F25D-13DA8313C1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6BDA5E-F167-C96B-BEF0-48BE89644697}"/>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1109252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92A31-7D95-091A-42D5-5A6CD8DFE8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B84E22-400A-EEE9-47E9-03DEE5EB3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46310B-337A-5EB8-F4C0-228EF2736565}"/>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5" name="Footer Placeholder 4">
            <a:extLst>
              <a:ext uri="{FF2B5EF4-FFF2-40B4-BE49-F238E27FC236}">
                <a16:creationId xmlns:a16="http://schemas.microsoft.com/office/drawing/2014/main" id="{123BAD08-64D7-DC4A-F7E2-C54FBB8EAE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86634B-A019-02A9-3CD5-545BD070B692}"/>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2901274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29781-66FE-2EFE-8E4B-7C583AA289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EEF9AF-7087-3EC5-66A1-3D5B943066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7A1A9F-0C01-D5DB-AF01-7614BC87350D}"/>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5" name="Footer Placeholder 4">
            <a:extLst>
              <a:ext uri="{FF2B5EF4-FFF2-40B4-BE49-F238E27FC236}">
                <a16:creationId xmlns:a16="http://schemas.microsoft.com/office/drawing/2014/main" id="{BB042E28-A24A-B813-B929-28BFE4D459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5EB718-E318-ECFA-A808-F1C265FBE4B0}"/>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1474754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76BE2-DCD0-9F87-193A-E9ACA22B41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7D41BD-7C9A-8850-66DD-30891C9B54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2E26E2-E749-0896-4FD9-5A18246944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86F3CD-9BA8-3D9A-4B84-A7441DE1D66F}"/>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6" name="Footer Placeholder 5">
            <a:extLst>
              <a:ext uri="{FF2B5EF4-FFF2-40B4-BE49-F238E27FC236}">
                <a16:creationId xmlns:a16="http://schemas.microsoft.com/office/drawing/2014/main" id="{503B9AFB-5AF9-2B85-FA56-A55A9976C2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657E3C-2FE2-397D-814F-87C82B12C1F8}"/>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3228356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4F483-E91D-D5AC-B568-E8A977E452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6C8CC2-4055-E038-0C7E-764395929C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51820B-F53D-7959-4EA1-28F3D2B2B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6B8D1A-DEE8-6BCF-AA0F-0D37BBBB44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21D6B3-1595-1473-0AAB-A3039C4846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C58475-838D-1388-3B2D-7216AE9BEA4B}"/>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8" name="Footer Placeholder 7">
            <a:extLst>
              <a:ext uri="{FF2B5EF4-FFF2-40B4-BE49-F238E27FC236}">
                <a16:creationId xmlns:a16="http://schemas.microsoft.com/office/drawing/2014/main" id="{8E77F375-27C0-ED46-DD66-F8B88840B2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C31848-869B-7BDD-4805-5B39FAFDDC5F}"/>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2609281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4CF4D-47C0-46FE-DC50-87A1218026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A6D466-8E22-6145-F238-EF3CC632D405}"/>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4" name="Footer Placeholder 3">
            <a:extLst>
              <a:ext uri="{FF2B5EF4-FFF2-40B4-BE49-F238E27FC236}">
                <a16:creationId xmlns:a16="http://schemas.microsoft.com/office/drawing/2014/main" id="{F7495DD8-CA40-FA06-C876-73B2846CD3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7ABBF7-6A26-AF5D-9A68-ECE5AB922E47}"/>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3183313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4597C0-D07F-799D-D727-1F97049E82C7}"/>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3" name="Footer Placeholder 2">
            <a:extLst>
              <a:ext uri="{FF2B5EF4-FFF2-40B4-BE49-F238E27FC236}">
                <a16:creationId xmlns:a16="http://schemas.microsoft.com/office/drawing/2014/main" id="{F736FB64-61B9-2EAF-D5B8-897F59F90A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CD4EC6-D53D-4DE1-0B82-CAC298778E0F}"/>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397627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D2D90-8643-D275-34A6-58228F63F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73D2BE-65B5-237E-F89A-75D65ED3C6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6E70A7-8C95-29FB-8623-0D964DEB75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ADE51B-A3AE-E890-A2A3-EF316BE5925B}"/>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6" name="Footer Placeholder 5">
            <a:extLst>
              <a:ext uri="{FF2B5EF4-FFF2-40B4-BE49-F238E27FC236}">
                <a16:creationId xmlns:a16="http://schemas.microsoft.com/office/drawing/2014/main" id="{2F400E71-1950-4F13-3EFB-D50E15984C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88E36D-9B92-37ED-9D31-7D023E4EAF57}"/>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423928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4C309-CC7E-D1CA-A50A-4946066E4E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59B4DB-79A7-00DF-6A0B-AD77F653D2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CB0475-58FB-0A9E-8A40-5D9D8ADA1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F0C36E-1C77-0217-E44F-E8AC61CF862D}"/>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6" name="Footer Placeholder 5">
            <a:extLst>
              <a:ext uri="{FF2B5EF4-FFF2-40B4-BE49-F238E27FC236}">
                <a16:creationId xmlns:a16="http://schemas.microsoft.com/office/drawing/2014/main" id="{E733D9C2-84BC-F140-9E7F-904A46B581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22B21B-5C99-C844-26A8-4DC482ADD64F}"/>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3877016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BCD9B-1DAB-3C77-A138-29D1060B3B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6A9DB0-DB82-9483-74EB-CE5DC8687F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DD9B4A-7C81-FA67-BD27-CBF31EEC246B}"/>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5" name="Footer Placeholder 4">
            <a:extLst>
              <a:ext uri="{FF2B5EF4-FFF2-40B4-BE49-F238E27FC236}">
                <a16:creationId xmlns:a16="http://schemas.microsoft.com/office/drawing/2014/main" id="{00B827C5-6DBE-4428-09F1-121AA3F243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821755-2501-A68C-719A-64609268F18E}"/>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4191157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3BC72C-9B66-0F40-ED36-0D828AE51C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9EFB55-C32F-A560-4755-F7920068C3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273F7D-24CF-5550-289F-0F23CA89424A}"/>
              </a:ext>
            </a:extLst>
          </p:cNvPr>
          <p:cNvSpPr>
            <a:spLocks noGrp="1"/>
          </p:cNvSpPr>
          <p:nvPr>
            <p:ph type="dt" sz="half" idx="10"/>
          </p:nvPr>
        </p:nvSpPr>
        <p:spPr/>
        <p:txBody>
          <a:bodyPr/>
          <a:lstStyle/>
          <a:p>
            <a:fld id="{1275EA34-94D9-F648-BAD8-D4693DF994C7}" type="datetimeFigureOut">
              <a:rPr lang="en-US" smtClean="0"/>
              <a:t>6/17/26</a:t>
            </a:fld>
            <a:endParaRPr lang="en-US"/>
          </a:p>
        </p:txBody>
      </p:sp>
      <p:sp>
        <p:nvSpPr>
          <p:cNvPr id="5" name="Footer Placeholder 4">
            <a:extLst>
              <a:ext uri="{FF2B5EF4-FFF2-40B4-BE49-F238E27FC236}">
                <a16:creationId xmlns:a16="http://schemas.microsoft.com/office/drawing/2014/main" id="{853DE926-C5FC-1762-E95A-EB2A143527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DCFD04-335A-D9E8-2043-58D3CA26A948}"/>
              </a:ext>
            </a:extLst>
          </p:cNvPr>
          <p:cNvSpPr>
            <a:spLocks noGrp="1"/>
          </p:cNvSpPr>
          <p:nvPr>
            <p:ph type="sldNum" sz="quarter" idx="12"/>
          </p:nvPr>
        </p:nvSpPr>
        <p:spPr/>
        <p:txBody>
          <a:bodyPr/>
          <a:lstStyle/>
          <a:p>
            <a:fld id="{1D421B5E-6789-CB4F-B684-BC49F570576B}" type="slidenum">
              <a:rPr lang="en-US" smtClean="0"/>
              <a:t>‹#›</a:t>
            </a:fld>
            <a:endParaRPr lang="en-US"/>
          </a:p>
        </p:txBody>
      </p:sp>
    </p:spTree>
    <p:extLst>
      <p:ext uri="{BB962C8B-B14F-4D97-AF65-F5344CB8AC3E}">
        <p14:creationId xmlns:p14="http://schemas.microsoft.com/office/powerpoint/2010/main" val="719399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9E2036-9CF8-6092-888C-946D155518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EB2BB0-1D5C-F4D4-3B9E-E7ECE7F896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5264C6-B52C-C894-16A9-5AB2F6E5E1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75EA34-94D9-F648-BAD8-D4693DF994C7}" type="datetimeFigureOut">
              <a:rPr lang="en-US" smtClean="0"/>
              <a:t>6/17/26</a:t>
            </a:fld>
            <a:endParaRPr lang="en-US"/>
          </a:p>
        </p:txBody>
      </p:sp>
      <p:sp>
        <p:nvSpPr>
          <p:cNvPr id="5" name="Footer Placeholder 4">
            <a:extLst>
              <a:ext uri="{FF2B5EF4-FFF2-40B4-BE49-F238E27FC236}">
                <a16:creationId xmlns:a16="http://schemas.microsoft.com/office/drawing/2014/main" id="{C5ABE5C7-D28C-B3A5-40F0-FCEC8E8A84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966896-2D5E-A1C4-B8D0-BF85EA784A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421B5E-6789-CB4F-B684-BC49F570576B}" type="slidenum">
              <a:rPr lang="en-US" smtClean="0"/>
              <a:t>‹#›</a:t>
            </a:fld>
            <a:endParaRPr lang="en-US"/>
          </a:p>
        </p:txBody>
      </p:sp>
    </p:spTree>
    <p:extLst>
      <p:ext uri="{BB962C8B-B14F-4D97-AF65-F5344CB8AC3E}">
        <p14:creationId xmlns:p14="http://schemas.microsoft.com/office/powerpoint/2010/main" val="1576347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0A44F-D2EC-CACB-0817-1BD217F71EE5}"/>
              </a:ext>
            </a:extLst>
          </p:cNvPr>
          <p:cNvSpPr>
            <a:spLocks noGrp="1"/>
          </p:cNvSpPr>
          <p:nvPr>
            <p:ph type="ctrTitle"/>
          </p:nvPr>
        </p:nvSpPr>
        <p:spPr/>
        <p:txBody>
          <a:bodyPr/>
          <a:lstStyle/>
          <a:p>
            <a:r>
              <a:rPr lang="en-US" dirty="0"/>
              <a:t>Meeting – June 18</a:t>
            </a:r>
          </a:p>
        </p:txBody>
      </p:sp>
      <p:sp>
        <p:nvSpPr>
          <p:cNvPr id="3" name="Subtitle 2">
            <a:extLst>
              <a:ext uri="{FF2B5EF4-FFF2-40B4-BE49-F238E27FC236}">
                <a16:creationId xmlns:a16="http://schemas.microsoft.com/office/drawing/2014/main" id="{EDE61B9C-92F3-C5B0-7CD0-C3F24289CC9C}"/>
              </a:ext>
            </a:extLst>
          </p:cNvPr>
          <p:cNvSpPr>
            <a:spLocks noGrp="1"/>
          </p:cNvSpPr>
          <p:nvPr>
            <p:ph type="subTitle" idx="1"/>
          </p:nvPr>
        </p:nvSpPr>
        <p:spPr/>
        <p:txBody>
          <a:bodyPr/>
          <a:lstStyle/>
          <a:p>
            <a:r>
              <a:rPr lang="en-US" dirty="0"/>
              <a:t>Jon Earle</a:t>
            </a:r>
          </a:p>
        </p:txBody>
      </p:sp>
    </p:spTree>
    <p:extLst>
      <p:ext uri="{BB962C8B-B14F-4D97-AF65-F5344CB8AC3E}">
        <p14:creationId xmlns:p14="http://schemas.microsoft.com/office/powerpoint/2010/main" val="1221226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C31C9-CB6A-76BA-ADEF-35E92A20CF3D}"/>
              </a:ext>
            </a:extLst>
          </p:cNvPr>
          <p:cNvSpPr>
            <a:spLocks noGrp="1"/>
          </p:cNvSpPr>
          <p:nvPr>
            <p:ph type="title"/>
          </p:nvPr>
        </p:nvSpPr>
        <p:spPr/>
        <p:txBody>
          <a:bodyPr/>
          <a:lstStyle/>
          <a:p>
            <a:r>
              <a:rPr lang="en-US" dirty="0"/>
              <a:t>Campus Mesh Deployment</a:t>
            </a:r>
          </a:p>
        </p:txBody>
      </p:sp>
      <p:sp>
        <p:nvSpPr>
          <p:cNvPr id="3" name="Content Placeholder 2">
            <a:extLst>
              <a:ext uri="{FF2B5EF4-FFF2-40B4-BE49-F238E27FC236}">
                <a16:creationId xmlns:a16="http://schemas.microsoft.com/office/drawing/2014/main" id="{D97252DF-3633-145F-4FE7-56C4D48CB0DC}"/>
              </a:ext>
            </a:extLst>
          </p:cNvPr>
          <p:cNvSpPr>
            <a:spLocks noGrp="1"/>
          </p:cNvSpPr>
          <p:nvPr>
            <p:ph idx="1"/>
          </p:nvPr>
        </p:nvSpPr>
        <p:spPr/>
        <p:txBody>
          <a:bodyPr>
            <a:normAutofit lnSpcReduction="10000"/>
          </a:bodyPr>
          <a:lstStyle/>
          <a:p>
            <a:r>
              <a:rPr lang="en-US" dirty="0"/>
              <a:t>Last week, I began deploying Meshtastic devices around campus, building a LoRa Mesh.</a:t>
            </a:r>
          </a:p>
          <a:p>
            <a:r>
              <a:rPr lang="en-CA" dirty="0"/>
              <a:t>The goal of the mesh is to study the behavior of LoRa mesh networks in an urban environment and compare how different firmware platforms (Meshtastic and MeshCore) perform.</a:t>
            </a:r>
          </a:p>
          <a:p>
            <a:r>
              <a:rPr lang="en-US" dirty="0"/>
              <a:t>At the beginning of the week, I was focused on finding appropriate locations for devices and mapping connections between nodes, ensuring the mesh is functioning properly</a:t>
            </a:r>
          </a:p>
          <a:p>
            <a:r>
              <a:rPr lang="en-US" dirty="0"/>
              <a:t>Currently, I am running various tests with Meshtastic, gathering benchmarks on metrics like delivery rate, latency and airtime usage.</a:t>
            </a:r>
          </a:p>
        </p:txBody>
      </p:sp>
    </p:spTree>
    <p:extLst>
      <p:ext uri="{BB962C8B-B14F-4D97-AF65-F5344CB8AC3E}">
        <p14:creationId xmlns:p14="http://schemas.microsoft.com/office/powerpoint/2010/main" val="253898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94420-D0C1-D005-04C0-C982BEACF4EE}"/>
              </a:ext>
            </a:extLst>
          </p:cNvPr>
          <p:cNvSpPr>
            <a:spLocks noGrp="1"/>
          </p:cNvSpPr>
          <p:nvPr>
            <p:ph type="title"/>
          </p:nvPr>
        </p:nvSpPr>
        <p:spPr/>
        <p:txBody>
          <a:bodyPr/>
          <a:lstStyle/>
          <a:p>
            <a:r>
              <a:rPr lang="en-US" dirty="0"/>
              <a:t>Campus Mesh cont.</a:t>
            </a:r>
          </a:p>
        </p:txBody>
      </p:sp>
      <p:sp>
        <p:nvSpPr>
          <p:cNvPr id="3" name="Content Placeholder 2">
            <a:extLst>
              <a:ext uri="{FF2B5EF4-FFF2-40B4-BE49-F238E27FC236}">
                <a16:creationId xmlns:a16="http://schemas.microsoft.com/office/drawing/2014/main" id="{BC28A448-B67B-BF58-9867-07362D8BD6E0}"/>
              </a:ext>
            </a:extLst>
          </p:cNvPr>
          <p:cNvSpPr>
            <a:spLocks noGrp="1"/>
          </p:cNvSpPr>
          <p:nvPr>
            <p:ph idx="1"/>
          </p:nvPr>
        </p:nvSpPr>
        <p:spPr/>
        <p:txBody>
          <a:bodyPr>
            <a:normAutofit lnSpcReduction="10000"/>
          </a:bodyPr>
          <a:lstStyle/>
          <a:p>
            <a:r>
              <a:rPr lang="en-US" dirty="0"/>
              <a:t>Currently, there are six nodes scattered around campus, deployed strategically such that: </a:t>
            </a:r>
          </a:p>
          <a:p>
            <a:pPr lvl="1"/>
            <a:r>
              <a:rPr lang="en-CA" dirty="0"/>
              <a:t>Nodes are positioned to take advantage of elevation and propagation corridors (streets).</a:t>
            </a:r>
          </a:p>
          <a:p>
            <a:pPr lvl="1"/>
            <a:r>
              <a:rPr lang="en-US" dirty="0"/>
              <a:t>Edge nodes require at least one or two hops to communicate.</a:t>
            </a:r>
          </a:p>
          <a:p>
            <a:r>
              <a:rPr lang="en-CA" dirty="0"/>
              <a:t>Some of the locations I had originally planned could not be used because there was either no access to a window or no nearby power outlet</a:t>
            </a:r>
            <a:r>
              <a:rPr lang="en-US" dirty="0"/>
              <a:t>. </a:t>
            </a:r>
          </a:p>
          <a:p>
            <a:r>
              <a:rPr lang="en-US" dirty="0"/>
              <a:t>For MeshCore, every node will be a receiver node except for the two nodes used in the transmission tests. Those nodes will be Bluetooth companions.</a:t>
            </a:r>
          </a:p>
        </p:txBody>
      </p:sp>
    </p:spTree>
    <p:extLst>
      <p:ext uri="{BB962C8B-B14F-4D97-AF65-F5344CB8AC3E}">
        <p14:creationId xmlns:p14="http://schemas.microsoft.com/office/powerpoint/2010/main" val="1031201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A0B15-0660-65DA-87FF-4EDD9C06AB41}"/>
              </a:ext>
            </a:extLst>
          </p:cNvPr>
          <p:cNvSpPr>
            <a:spLocks noGrp="1"/>
          </p:cNvSpPr>
          <p:nvPr>
            <p:ph type="title"/>
          </p:nvPr>
        </p:nvSpPr>
        <p:spPr>
          <a:xfrm>
            <a:off x="3074245" y="239001"/>
            <a:ext cx="10515600" cy="1325563"/>
          </a:xfrm>
        </p:spPr>
        <p:txBody>
          <a:bodyPr/>
          <a:lstStyle/>
          <a:p>
            <a:r>
              <a:rPr lang="en-US" dirty="0"/>
              <a:t>Map of the Campus Mesh</a:t>
            </a:r>
          </a:p>
        </p:txBody>
      </p:sp>
      <p:pic>
        <p:nvPicPr>
          <p:cNvPr id="5" name="Content Placeholder 4">
            <a:extLst>
              <a:ext uri="{FF2B5EF4-FFF2-40B4-BE49-F238E27FC236}">
                <a16:creationId xmlns:a16="http://schemas.microsoft.com/office/drawing/2014/main" id="{53BF2424-E061-0719-15EA-9DED595BF328}"/>
              </a:ext>
            </a:extLst>
          </p:cNvPr>
          <p:cNvPicPr>
            <a:picLocks noGrp="1" noChangeAspect="1"/>
          </p:cNvPicPr>
          <p:nvPr>
            <p:ph idx="1"/>
          </p:nvPr>
        </p:nvPicPr>
        <p:blipFill>
          <a:blip r:embed="rId2"/>
          <a:stretch>
            <a:fillRect/>
          </a:stretch>
        </p:blipFill>
        <p:spPr>
          <a:xfrm>
            <a:off x="1906147" y="1424980"/>
            <a:ext cx="8379705" cy="5067895"/>
          </a:xfrm>
          <a:prstGeom prst="rect">
            <a:avLst/>
          </a:prstGeom>
        </p:spPr>
      </p:pic>
    </p:spTree>
    <p:extLst>
      <p:ext uri="{BB962C8B-B14F-4D97-AF65-F5344CB8AC3E}">
        <p14:creationId xmlns:p14="http://schemas.microsoft.com/office/powerpoint/2010/main" val="700360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496EB-C560-D6BA-A545-EDA83044D6F9}"/>
              </a:ext>
            </a:extLst>
          </p:cNvPr>
          <p:cNvSpPr>
            <a:spLocks noGrp="1"/>
          </p:cNvSpPr>
          <p:nvPr>
            <p:ph type="title"/>
          </p:nvPr>
        </p:nvSpPr>
        <p:spPr/>
        <p:txBody>
          <a:bodyPr/>
          <a:lstStyle/>
          <a:p>
            <a:r>
              <a:rPr lang="en-US" dirty="0"/>
              <a:t>Mapping Neighbors</a:t>
            </a:r>
          </a:p>
        </p:txBody>
      </p:sp>
      <p:sp>
        <p:nvSpPr>
          <p:cNvPr id="3" name="Content Placeholder 2">
            <a:extLst>
              <a:ext uri="{FF2B5EF4-FFF2-40B4-BE49-F238E27FC236}">
                <a16:creationId xmlns:a16="http://schemas.microsoft.com/office/drawing/2014/main" id="{32AA6D4B-CD84-8FEE-AE6B-63A1AD54603C}"/>
              </a:ext>
            </a:extLst>
          </p:cNvPr>
          <p:cNvSpPr>
            <a:spLocks noGrp="1"/>
          </p:cNvSpPr>
          <p:nvPr>
            <p:ph idx="1"/>
          </p:nvPr>
        </p:nvSpPr>
        <p:spPr/>
        <p:txBody>
          <a:bodyPr/>
          <a:lstStyle/>
          <a:p>
            <a:r>
              <a:rPr lang="en-US" dirty="0"/>
              <a:t>To determine which nodes were neighbors with other nodes, the plan was to use Meshtastic’s Neighbor Node module to map the mesh. However:</a:t>
            </a:r>
          </a:p>
          <a:p>
            <a:pPr lvl="1"/>
            <a:r>
              <a:rPr lang="en-US" dirty="0"/>
              <a:t>Neighbor Node packets are sent at a minimum interval of four hours to prevent saturation. Attempts to edit the firmware to evade this limit were unsuccessful.</a:t>
            </a:r>
          </a:p>
          <a:p>
            <a:pPr lvl="1"/>
            <a:r>
              <a:rPr lang="en-US" dirty="0"/>
              <a:t>I then left the nodes over the weekend to gather the neighbor data. However, the process only worked for one node.</a:t>
            </a:r>
          </a:p>
          <a:p>
            <a:r>
              <a:rPr lang="en-US" dirty="0"/>
              <a:t>I then decided to manually go to every node and run a traceroute on every other node in the mesh to add it into the node database and use the resulting information instead.</a:t>
            </a:r>
          </a:p>
        </p:txBody>
      </p:sp>
    </p:spTree>
    <p:extLst>
      <p:ext uri="{BB962C8B-B14F-4D97-AF65-F5344CB8AC3E}">
        <p14:creationId xmlns:p14="http://schemas.microsoft.com/office/powerpoint/2010/main" val="4090319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98A75-01FC-8F0B-E129-767596D3F7BD}"/>
              </a:ext>
            </a:extLst>
          </p:cNvPr>
          <p:cNvSpPr>
            <a:spLocks noGrp="1"/>
          </p:cNvSpPr>
          <p:nvPr>
            <p:ph type="title"/>
          </p:nvPr>
        </p:nvSpPr>
        <p:spPr/>
        <p:txBody>
          <a:bodyPr/>
          <a:lstStyle/>
          <a:p>
            <a:r>
              <a:rPr lang="en-US" dirty="0"/>
              <a:t>Tests</a:t>
            </a:r>
          </a:p>
        </p:txBody>
      </p:sp>
      <p:sp>
        <p:nvSpPr>
          <p:cNvPr id="3" name="Content Placeholder 2">
            <a:extLst>
              <a:ext uri="{FF2B5EF4-FFF2-40B4-BE49-F238E27FC236}">
                <a16:creationId xmlns:a16="http://schemas.microsoft.com/office/drawing/2014/main" id="{1ED65BFC-506E-E67B-2405-9532A93916AF}"/>
              </a:ext>
            </a:extLst>
          </p:cNvPr>
          <p:cNvSpPr>
            <a:spLocks noGrp="1"/>
          </p:cNvSpPr>
          <p:nvPr>
            <p:ph idx="1"/>
          </p:nvPr>
        </p:nvSpPr>
        <p:spPr>
          <a:xfrm>
            <a:off x="838200" y="1690688"/>
            <a:ext cx="10515600" cy="4906251"/>
          </a:xfrm>
        </p:spPr>
        <p:txBody>
          <a:bodyPr>
            <a:normAutofit lnSpcReduction="10000"/>
          </a:bodyPr>
          <a:lstStyle/>
          <a:p>
            <a:r>
              <a:rPr lang="en-US" dirty="0"/>
              <a:t>For both Meshtastic and MeshCore, I plan on testing delivery rate, latency* and transmission airtime within the mesh with both stationary and moving nodes</a:t>
            </a:r>
          </a:p>
          <a:p>
            <a:pPr lvl="1"/>
            <a:r>
              <a:rPr lang="en-US" dirty="0"/>
              <a:t>End-to-end latency, not strictly network latency. Timestamps taken in Python.</a:t>
            </a:r>
          </a:p>
          <a:p>
            <a:r>
              <a:rPr lang="en-US" dirty="0"/>
              <a:t>For delivery rate and latency, the test involves periodically sending 1000 messages between two nodes, comparing the two firmware platforms based on how many packets arrive and how long they take to send</a:t>
            </a:r>
          </a:p>
          <a:p>
            <a:pPr lvl="1"/>
            <a:r>
              <a:rPr lang="en-US" dirty="0"/>
              <a:t>This test will be conducted across multiple routes and once with a moving node walking around campus</a:t>
            </a:r>
          </a:p>
          <a:p>
            <a:pPr lvl="1"/>
            <a:r>
              <a:rPr lang="en-US" dirty="0"/>
              <a:t>Routes include: Dalplex to Goldberg, LSC Biology 8</a:t>
            </a:r>
            <a:r>
              <a:rPr lang="en-US" baseline="30000" dirty="0"/>
              <a:t>th</a:t>
            </a:r>
            <a:r>
              <a:rPr lang="en-US" dirty="0"/>
              <a:t> floor to Collaborative Health Education Building</a:t>
            </a:r>
          </a:p>
        </p:txBody>
      </p:sp>
    </p:spTree>
    <p:extLst>
      <p:ext uri="{BB962C8B-B14F-4D97-AF65-F5344CB8AC3E}">
        <p14:creationId xmlns:p14="http://schemas.microsoft.com/office/powerpoint/2010/main" val="1353188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B062-090A-B22F-39CB-FDD6A008D61D}"/>
              </a:ext>
            </a:extLst>
          </p:cNvPr>
          <p:cNvSpPr>
            <a:spLocks noGrp="1"/>
          </p:cNvSpPr>
          <p:nvPr>
            <p:ph type="title"/>
          </p:nvPr>
        </p:nvSpPr>
        <p:spPr/>
        <p:txBody>
          <a:bodyPr/>
          <a:lstStyle/>
          <a:p>
            <a:r>
              <a:rPr lang="en-US" dirty="0"/>
              <a:t>Tests cont.</a:t>
            </a:r>
          </a:p>
        </p:txBody>
      </p:sp>
      <p:sp>
        <p:nvSpPr>
          <p:cNvPr id="3" name="Content Placeholder 2">
            <a:extLst>
              <a:ext uri="{FF2B5EF4-FFF2-40B4-BE49-F238E27FC236}">
                <a16:creationId xmlns:a16="http://schemas.microsoft.com/office/drawing/2014/main" id="{75983CB6-4FB4-97D2-30AD-734ADC7A06DE}"/>
              </a:ext>
            </a:extLst>
          </p:cNvPr>
          <p:cNvSpPr>
            <a:spLocks noGrp="1"/>
          </p:cNvSpPr>
          <p:nvPr>
            <p:ph idx="1"/>
          </p:nvPr>
        </p:nvSpPr>
        <p:spPr>
          <a:xfrm>
            <a:off x="838200" y="1825625"/>
            <a:ext cx="10515600" cy="4667250"/>
          </a:xfrm>
        </p:spPr>
        <p:txBody>
          <a:bodyPr>
            <a:normAutofit fontScale="92500"/>
          </a:bodyPr>
          <a:lstStyle/>
          <a:p>
            <a:r>
              <a:rPr lang="en-US" dirty="0"/>
              <a:t>For transmission airtime testing, MeshCore exposes the metrics directly through the command line. With Meshtastic, airtime is tracked internally. To get around this, I have written custom Meshtastic firmware to expose airtime.</a:t>
            </a:r>
          </a:p>
          <a:p>
            <a:pPr lvl="1"/>
            <a:r>
              <a:rPr lang="en-US" dirty="0"/>
              <a:t>The firmware retains all the default settings but modifies the </a:t>
            </a:r>
            <a:r>
              <a:rPr lang="en-US" dirty="0" err="1"/>
              <a:t>airUtilTx</a:t>
            </a:r>
            <a:r>
              <a:rPr lang="en-US" dirty="0"/>
              <a:t> metric to milliseconds instead of a percentage since boot. Because this is the only change, it is still comparable to default Meshtastic firmware for tests. </a:t>
            </a:r>
          </a:p>
          <a:p>
            <a:pPr lvl="1"/>
            <a:r>
              <a:rPr lang="en-US" dirty="0"/>
              <a:t>Unfortunately, I cannot efficiently gather airtime data for all nodes within the mesh without connecting a computer to every node. Thus, I am currently limited to collecting airtime data from the sender node and one intermediate node.</a:t>
            </a:r>
          </a:p>
          <a:p>
            <a:r>
              <a:rPr lang="en-US" dirty="0"/>
              <a:t>For the moving tests, I plan on walking around campus with a sender node and place the receiver node at the LSC Biology 8</a:t>
            </a:r>
            <a:r>
              <a:rPr lang="en-US" baseline="30000" dirty="0"/>
              <a:t>th</a:t>
            </a:r>
            <a:r>
              <a:rPr lang="en-US" dirty="0"/>
              <a:t> floor, recording all the previous metrics, as well as the path taken with every message.</a:t>
            </a:r>
          </a:p>
        </p:txBody>
      </p:sp>
    </p:spTree>
    <p:extLst>
      <p:ext uri="{BB962C8B-B14F-4D97-AF65-F5344CB8AC3E}">
        <p14:creationId xmlns:p14="http://schemas.microsoft.com/office/powerpoint/2010/main" val="1141301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C2ED-E655-5751-5E75-FC12389A57B7}"/>
              </a:ext>
            </a:extLst>
          </p:cNvPr>
          <p:cNvSpPr>
            <a:spLocks noGrp="1"/>
          </p:cNvSpPr>
          <p:nvPr>
            <p:ph type="title"/>
          </p:nvPr>
        </p:nvSpPr>
        <p:spPr/>
        <p:txBody>
          <a:bodyPr/>
          <a:lstStyle/>
          <a:p>
            <a:r>
              <a:rPr lang="en-US" dirty="0"/>
              <a:t>Planning for Next Week</a:t>
            </a:r>
          </a:p>
        </p:txBody>
      </p:sp>
      <p:sp>
        <p:nvSpPr>
          <p:cNvPr id="3" name="Content Placeholder 2">
            <a:extLst>
              <a:ext uri="{FF2B5EF4-FFF2-40B4-BE49-F238E27FC236}">
                <a16:creationId xmlns:a16="http://schemas.microsoft.com/office/drawing/2014/main" id="{DA045987-B5C7-5038-7540-AF3466A96E41}"/>
              </a:ext>
            </a:extLst>
          </p:cNvPr>
          <p:cNvSpPr>
            <a:spLocks noGrp="1"/>
          </p:cNvSpPr>
          <p:nvPr>
            <p:ph idx="1"/>
          </p:nvPr>
        </p:nvSpPr>
        <p:spPr/>
        <p:txBody>
          <a:bodyPr>
            <a:normAutofit fontScale="92500" lnSpcReduction="10000"/>
          </a:bodyPr>
          <a:lstStyle/>
          <a:p>
            <a:r>
              <a:rPr lang="en-CA" dirty="0"/>
              <a:t>Although I had planned to begin testing earlier in the week, deployment and mapping of the mesh took longer than anticipated.</a:t>
            </a:r>
          </a:p>
          <a:p>
            <a:r>
              <a:rPr lang="en-US" dirty="0"/>
              <a:t>Today, I began testing delivery rate and latency on Meshtastic and plan on testing airtime as well.</a:t>
            </a:r>
          </a:p>
          <a:p>
            <a:r>
              <a:rPr lang="en-US" dirty="0"/>
              <a:t>Next week, I hope to complete all the tests mentioned previously, while also analyzing node databases to determine how communication ranges within an urban environment</a:t>
            </a:r>
          </a:p>
          <a:p>
            <a:r>
              <a:rPr lang="en-US" dirty="0"/>
              <a:t>I hope that these tests will provide sufficient data to draw conclusions about how LoRa mesh networks behave within an urban environment and how Meshtastic and MeshCore compare within such an environment.</a:t>
            </a:r>
          </a:p>
        </p:txBody>
      </p:sp>
    </p:spTree>
    <p:extLst>
      <p:ext uri="{BB962C8B-B14F-4D97-AF65-F5344CB8AC3E}">
        <p14:creationId xmlns:p14="http://schemas.microsoft.com/office/powerpoint/2010/main" val="437936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1311</TotalTime>
  <Words>705</Words>
  <Application>Microsoft Macintosh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Meeting – June 18</vt:lpstr>
      <vt:lpstr>Campus Mesh Deployment</vt:lpstr>
      <vt:lpstr>Campus Mesh cont.</vt:lpstr>
      <vt:lpstr>Map of the Campus Mesh</vt:lpstr>
      <vt:lpstr>Mapping Neighbors</vt:lpstr>
      <vt:lpstr>Tests</vt:lpstr>
      <vt:lpstr>Tests cont.</vt:lpstr>
      <vt:lpstr>Planning for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Earle</dc:creator>
  <cp:lastModifiedBy>Jonathan Earle</cp:lastModifiedBy>
  <cp:revision>17</cp:revision>
  <dcterms:created xsi:type="dcterms:W3CDTF">2026-06-17T17:20:14Z</dcterms:created>
  <dcterms:modified xsi:type="dcterms:W3CDTF">2026-06-18T15:11:47Z</dcterms:modified>
</cp:coreProperties>
</file>