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>
        <p:scale>
          <a:sx n="112" d="100"/>
          <a:sy n="112" d="100"/>
        </p:scale>
        <p:origin x="4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/usra2026/data/PlexToGB/5sec_to_1mi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/Users/Jon/usra2026/data/PlexToGB/5sec_to_1mi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Afternoon - DR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total!$A$17</c:f>
              <c:strCache>
                <c:ptCount val="1"/>
                <c:pt idx="0">
                  <c:v>DR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total!$B$16:$E$16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total!$B$17:$E$17</c:f>
              <c:numCache>
                <c:formatCode>General</c:formatCode>
                <c:ptCount val="4"/>
                <c:pt idx="0">
                  <c:v>78</c:v>
                </c:pt>
                <c:pt idx="1">
                  <c:v>86</c:v>
                </c:pt>
                <c:pt idx="2">
                  <c:v>90</c:v>
                </c:pt>
                <c:pt idx="3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C4-B449-BFD5-5339E44678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399440"/>
        <c:axId val="197401152"/>
      </c:lineChart>
      <c:catAx>
        <c:axId val="197399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401152"/>
        <c:crosses val="autoZero"/>
        <c:auto val="1"/>
        <c:lblAlgn val="ctr"/>
        <c:lblOffset val="100"/>
        <c:noMultiLvlLbl val="0"/>
      </c:catAx>
      <c:valAx>
        <c:axId val="197401152"/>
        <c:scaling>
          <c:orientation val="minMax"/>
          <c:max val="100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99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Afternoon</a:t>
            </a:r>
            <a:r>
              <a:rPr lang="en-US" baseline="0"/>
              <a:t> - </a:t>
            </a:r>
            <a:r>
              <a:rPr lang="en-US"/>
              <a:t>ACKs received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total!$A$26</c:f>
              <c:strCache>
                <c:ptCount val="1"/>
                <c:pt idx="0">
                  <c:v>ACKs received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total!$B$16:$E$16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total!$B$26:$E$26</c:f>
              <c:numCache>
                <c:formatCode>General</c:formatCode>
                <c:ptCount val="4"/>
                <c:pt idx="0">
                  <c:v>34</c:v>
                </c:pt>
                <c:pt idx="1">
                  <c:v>86</c:v>
                </c:pt>
                <c:pt idx="2">
                  <c:v>92</c:v>
                </c:pt>
                <c:pt idx="3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A4-CD48-8E69-40E296E755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0471808"/>
        <c:axId val="1410933040"/>
      </c:lineChart>
      <c:catAx>
        <c:axId val="1410471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0933040"/>
        <c:crosses val="autoZero"/>
        <c:auto val="1"/>
        <c:lblAlgn val="ctr"/>
        <c:lblOffset val="100"/>
        <c:noMultiLvlLbl val="0"/>
      </c:catAx>
      <c:valAx>
        <c:axId val="141093304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0471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Afternoon - Latency (avg)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total!$A$16</c:f>
              <c:strCache>
                <c:ptCount val="1"/>
                <c:pt idx="0">
                  <c:v>AFTERNOON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total!$B$16:$E$16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total!$B$18:$E$18</c:f>
              <c:numCache>
                <c:formatCode>General</c:formatCode>
                <c:ptCount val="4"/>
                <c:pt idx="0">
                  <c:v>65.991809759384552</c:v>
                </c:pt>
                <c:pt idx="1">
                  <c:v>6.236659049987793</c:v>
                </c:pt>
                <c:pt idx="2">
                  <c:v>6.6167393456334649</c:v>
                </c:pt>
                <c:pt idx="3">
                  <c:v>6.2146381747965913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F8-0645-B2F8-E283C948E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0066272"/>
        <c:axId val="1770067984"/>
      </c:lineChart>
      <c:catAx>
        <c:axId val="177006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0067984"/>
        <c:crosses val="autoZero"/>
        <c:auto val="1"/>
        <c:lblAlgn val="ctr"/>
        <c:lblOffset val="100"/>
        <c:noMultiLvlLbl val="0"/>
      </c:catAx>
      <c:valAx>
        <c:axId val="177006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0066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All</a:t>
            </a:r>
            <a:r>
              <a:rPr lang="en-US" baseline="0"/>
              <a:t> Times - DR%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total!$A$1</c:f>
              <c:strCache>
                <c:ptCount val="1"/>
                <c:pt idx="0">
                  <c:v>MORNING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total!$B$2:$E$2</c:f>
              <c:numCache>
                <c:formatCode>General</c:formatCode>
                <c:ptCount val="4"/>
                <c:pt idx="0">
                  <c:v>74</c:v>
                </c:pt>
                <c:pt idx="1">
                  <c:v>98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20-CA4A-94C9-00FE1411A10E}"/>
            </c:ext>
          </c:extLst>
        </c:ser>
        <c:ser>
          <c:idx val="2"/>
          <c:order val="1"/>
          <c:tx>
            <c:strRef>
              <c:f>total!$A$16</c:f>
              <c:strCache>
                <c:ptCount val="1"/>
                <c:pt idx="0">
                  <c:v>AFTERNOON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total!$B$17:$E$17</c:f>
              <c:numCache>
                <c:formatCode>General</c:formatCode>
                <c:ptCount val="4"/>
                <c:pt idx="0">
                  <c:v>78</c:v>
                </c:pt>
                <c:pt idx="1">
                  <c:v>86</c:v>
                </c:pt>
                <c:pt idx="2">
                  <c:v>90</c:v>
                </c:pt>
                <c:pt idx="3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20-CA4A-94C9-00FE1411A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9545231"/>
        <c:axId val="1859546943"/>
      </c:lineChart>
      <c:catAx>
        <c:axId val="185954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6943"/>
        <c:crosses val="autoZero"/>
        <c:auto val="1"/>
        <c:lblAlgn val="ctr"/>
        <c:lblOffset val="100"/>
        <c:noMultiLvlLbl val="0"/>
      </c:catAx>
      <c:valAx>
        <c:axId val="1859546943"/>
        <c:scaling>
          <c:orientation val="minMax"/>
          <c:max val="100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All</a:t>
            </a:r>
            <a:r>
              <a:rPr lang="en-US" baseline="0"/>
              <a:t> Times - ACKs Received per Packet Sent (%)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total!$A$1</c:f>
              <c:strCache>
                <c:ptCount val="1"/>
                <c:pt idx="0">
                  <c:v>MORNING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total!$B$10:$E$10</c:f>
              <c:numCache>
                <c:formatCode>General</c:formatCode>
                <c:ptCount val="4"/>
                <c:pt idx="0">
                  <c:v>26</c:v>
                </c:pt>
                <c:pt idx="1">
                  <c:v>98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C9-C84E-A6CE-D807F570A3D9}"/>
            </c:ext>
          </c:extLst>
        </c:ser>
        <c:ser>
          <c:idx val="2"/>
          <c:order val="1"/>
          <c:tx>
            <c:strRef>
              <c:f>total!$A$16</c:f>
              <c:strCache>
                <c:ptCount val="1"/>
                <c:pt idx="0">
                  <c:v>AFTERNOON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total!$B$26:$E$26</c:f>
              <c:numCache>
                <c:formatCode>General</c:formatCode>
                <c:ptCount val="4"/>
                <c:pt idx="0">
                  <c:v>34</c:v>
                </c:pt>
                <c:pt idx="1">
                  <c:v>86</c:v>
                </c:pt>
                <c:pt idx="2">
                  <c:v>92</c:v>
                </c:pt>
                <c:pt idx="3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C9-C84E-A6CE-D807F570A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9545231"/>
        <c:axId val="1859546943"/>
      </c:lineChart>
      <c:catAx>
        <c:axId val="185954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6943"/>
        <c:crosses val="autoZero"/>
        <c:auto val="1"/>
        <c:lblAlgn val="ctr"/>
        <c:lblOffset val="100"/>
        <c:noMultiLvlLbl val="0"/>
      </c:catAx>
      <c:valAx>
        <c:axId val="185954694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All</a:t>
            </a:r>
            <a:r>
              <a:rPr lang="en-US" baseline="0"/>
              <a:t> Times - DR%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total!$A$1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total!$B$2:$E$2</c:f>
              <c:numCache>
                <c:formatCode>General</c:formatCode>
                <c:ptCount val="4"/>
                <c:pt idx="0">
                  <c:v>74</c:v>
                </c:pt>
                <c:pt idx="1">
                  <c:v>98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DA-0043-8AA5-D1DA36616B33}"/>
            </c:ext>
          </c:extLst>
        </c:ser>
        <c:ser>
          <c:idx val="2"/>
          <c:order val="1"/>
          <c:tx>
            <c:strRef>
              <c:f>total!$A$16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total!$B$17:$E$17</c:f>
              <c:numCache>
                <c:formatCode>General</c:formatCode>
                <c:ptCount val="4"/>
                <c:pt idx="0">
                  <c:v>78</c:v>
                </c:pt>
                <c:pt idx="1">
                  <c:v>86</c:v>
                </c:pt>
                <c:pt idx="2">
                  <c:v>90</c:v>
                </c:pt>
                <c:pt idx="3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DA-0043-8AA5-D1DA36616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59545231"/>
        <c:axId val="1859546943"/>
      </c:barChart>
      <c:catAx>
        <c:axId val="185954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6943"/>
        <c:crosses val="autoZero"/>
        <c:auto val="1"/>
        <c:lblAlgn val="ctr"/>
        <c:lblOffset val="100"/>
        <c:noMultiLvlLbl val="0"/>
      </c:catAx>
      <c:valAx>
        <c:axId val="185954694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All</a:t>
            </a:r>
            <a:r>
              <a:rPr lang="en-US" baseline="0"/>
              <a:t> Times - ACKs Received per Packet Sent (%)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total!$A$1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total!$B$10:$E$10</c:f>
              <c:numCache>
                <c:formatCode>General</c:formatCode>
                <c:ptCount val="4"/>
                <c:pt idx="0">
                  <c:v>26</c:v>
                </c:pt>
                <c:pt idx="1">
                  <c:v>98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5-1F4D-965C-4E3B345E4A0E}"/>
            </c:ext>
          </c:extLst>
        </c:ser>
        <c:ser>
          <c:idx val="2"/>
          <c:order val="1"/>
          <c:tx>
            <c:strRef>
              <c:f>total!$A$16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total!$B$26:$E$26</c:f>
              <c:numCache>
                <c:formatCode>General</c:formatCode>
                <c:ptCount val="4"/>
                <c:pt idx="0">
                  <c:v>34</c:v>
                </c:pt>
                <c:pt idx="1">
                  <c:v>86</c:v>
                </c:pt>
                <c:pt idx="2">
                  <c:v>92</c:v>
                </c:pt>
                <c:pt idx="3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B5-1F4D-965C-4E3B345E4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59545231"/>
        <c:axId val="1859546943"/>
      </c:barChart>
      <c:catAx>
        <c:axId val="185954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6943"/>
        <c:crosses val="autoZero"/>
        <c:auto val="1"/>
        <c:lblAlgn val="ctr"/>
        <c:lblOffset val="100"/>
        <c:noMultiLvlLbl val="0"/>
      </c:catAx>
      <c:valAx>
        <c:axId val="185954694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54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'20sec_afternon'!$K$1:$K$43</cx:f>
        <cx:lvl ptCount="43" formatCode="General">
          <cx:pt idx="0">6.3444697856903076</cx:pt>
          <cx:pt idx="1">5.4751300811767578</cx:pt>
          <cx:pt idx="2">6.5749800205230713</cx:pt>
          <cx:pt idx="3">6.3227899074554443</cx:pt>
          <cx:pt idx="4">7.6879401206970215</cx:pt>
          <cx:pt idx="5">5.5706300735473633</cx:pt>
          <cx:pt idx="6">4.0957598686218262</cx:pt>
          <cx:pt idx="7">6.0787498950958252</cx:pt>
          <cx:pt idx="8">6.6559700965881348</cx:pt>
          <cx:pt idx="9">6.700700044631958</cx:pt>
          <cx:pt idx="10">5.5768399238586426</cx:pt>
          <cx:pt idx="11">7.3299000263214111</cx:pt>
          <cx:pt idx="12">6.3691799640655518</cx:pt>
          <cx:pt idx="13">5.798259973526001</cx:pt>
          <cx:pt idx="14">6.5890398025512695</cx:pt>
          <cx:pt idx="15">6.6343700885772705</cx:pt>
          <cx:pt idx="16">5.3930001258850098</cx:pt>
          <cx:pt idx="17">7.1890099048614502</cx:pt>
          <cx:pt idx="18">4.4413700103759766</cx:pt>
          <cx:pt idx="19">7.0401401519775391</cx:pt>
          <cx:pt idx="20">6.0657598972320557</cx:pt>
          <cx:pt idx="21">6.5769898891448975</cx:pt>
          <cx:pt idx="22">6.5668799877166748</cx:pt>
          <cx:pt idx="23">5.6795001029968262</cx:pt>
          <cx:pt idx="24">6.3768599033355713</cx:pt>
          <cx:pt idx="25">5.8784899711608887</cx:pt>
          <cx:pt idx="26">5.7235698699951172</cx:pt>
          <cx:pt idx="27">4.7696599960327148</cx:pt>
          <cx:pt idx="28">7.2941799163818359</cx:pt>
          <cx:pt idx="29">5.0195200443267822</cx:pt>
          <cx:pt idx="30">6.0650200843811035</cx:pt>
          <cx:pt idx="31">6.4460999965667725</cx:pt>
          <cx:pt idx="32">7.7019801139831543</cx:pt>
          <cx:pt idx="33">6.4418900012969971</cx:pt>
          <cx:pt idx="34">6.8599300384521484</cx:pt>
          <cx:pt idx="35">6.0369298458099365</cx:pt>
          <cx:pt idx="36">6.6208598613739014</cx:pt>
          <cx:pt idx="37">5.8697700500488281</cx:pt>
          <cx:pt idx="38">5.3944699764251709</cx:pt>
          <cx:pt idx="39">6.4674298763275146</cx:pt>
          <cx:pt idx="40">6.2880799770355225</cx:pt>
          <cx:pt idx="41">6.3075499534606934</cx:pt>
          <cx:pt idx="42">7.8566899299621582</cx:pt>
        </cx:lvl>
      </cx:numDim>
    </cx:data>
    <cx:data id="1">
      <cx:numDim type="val">
        <cx:f>'40sec_afternoon'!$K$1:$K$46</cx:f>
        <cx:lvl ptCount="46" formatCode="General">
          <cx:pt idx="0">6.5861999988555908</cx:pt>
          <cx:pt idx="1">5.7166900634765625</cx:pt>
          <cx:pt idx="2">6.7555100917816162</cx:pt>
          <cx:pt idx="3">6.7417600154876709</cx:pt>
          <cx:pt idx="4">7.0493001937866211</cx:pt>
          <cx:pt idx="5">6.6500599384307861</cx:pt>
          <cx:pt idx="6">7.1653099060058594</cx:pt>
          <cx:pt idx="7">5.5466001033782959</cx:pt>
          <cx:pt idx="8">6.4207000732421875</cx:pt>
          <cx:pt idx="9">5.4937100410461426</cx:pt>
          <cx:pt idx="10">13.440099954605103</cx:pt>
          <cx:pt idx="11">6.7751400470733643</cx:pt>
          <cx:pt idx="12">6.0407998561859131</cx:pt>
          <cx:pt idx="13">12.561009883880615</cx:pt>
          <cx:pt idx="14">6.2183899879455566</cx:pt>
          <cx:pt idx="15">5.3258800506591797</cx:pt>
          <cx:pt idx="16">7.3111498355865479</cx:pt>
          <cx:pt idx="17">5.8415601253509521</cx:pt>
          <cx:pt idx="18">5.3566699028015137</cx:pt>
          <cx:pt idx="19">5.9903099536895752</cx:pt>
          <cx:pt idx="20">5.6078300476074219</cx:pt>
          <cx:pt idx="21">4.6671600341796875</cx:pt>
          <cx:pt idx="22">5.5820801258087158</cx:pt>
          <cx:pt idx="23">6.5044000148773193</cx:pt>
          <cx:pt idx="24">6.5158298015594482</cx:pt>
          <cx:pt idx="25">5.6925702095031738</cx:pt>
          <cx:pt idx="26">7.1265799999237061</cx:pt>
          <cx:pt idx="27">5.6156399250030518</cx:pt>
          <cx:pt idx="28">5.9374399185180664</cx:pt>
          <cx:pt idx="29">4.7358801364898682</cx:pt>
          <cx:pt idx="30">6.3507897853851318</cx:pt>
          <cx:pt idx="31">5.7260000705718994</cx:pt>
          <cx:pt idx="32">10.613110065460205</cx:pt>
          <cx:pt idx="33">6.7447099685668945</cx:pt>
          <cx:pt idx="34">6.1274001598358154</cx:pt>
          <cx:pt idx="35">5.2990801334381104</cx:pt>
          <cx:pt idx="36">8.1124498844146729</cx:pt>
          <cx:pt idx="37">7.0483798980712891</cx:pt>
          <cx:pt idx="38">6.9133598804473877</cx:pt>
          <cx:pt idx="39">5.1281800270080566</cx:pt>
          <cx:pt idx="40">6.1476199626922607</cx:pt>
          <cx:pt idx="41">5.3716399669647217</cx:pt>
          <cx:pt idx="42">6.8367099761962891</cx:pt>
          <cx:pt idx="43">5.9190199375152588</cx:pt>
          <cx:pt idx="44">9.4467899799346924</cx:pt>
          <cx:pt idx="45">5.6125099658966064</cx:pt>
        </cx:lvl>
      </cx:numDim>
    </cx:data>
    <cx:data id="2">
      <cx:numDim type="val">
        <cx:f>'1min_afternoon'!$K$1:$K$49</cx:f>
        <cx:lvl ptCount="49" formatCode="General">
          <cx:pt idx="0">5.6308901309967041</cx:pt>
          <cx:pt idx="1">6.5682899951934814</cx:pt>
          <cx:pt idx="2">6.480640172958374</cx:pt>
          <cx:pt idx="3">5.6336300373077393</cx:pt>
          <cx:pt idx="4">7.1609299182891846</cx:pt>
          <cx:pt idx="5">6.5139899253845215</cx:pt>
          <cx:pt idx="6">6.1414999961853027</cx:pt>
          <cx:pt idx="7">5.3382501602172852</cx:pt>
          <cx:pt idx="8">6.6258399486541748</cx:pt>
          <cx:pt idx="9">5.2362899780273438</cx:pt>
          <cx:pt idx="10">6.0700199604034424</cx:pt>
          <cx:pt idx="11">5.128000020980835</cx:pt>
          <cx:pt idx="12">5.3606898784637451</cx:pt>
          <cx:pt idx="13">5.4142899513244629</cx:pt>
          <cx:pt idx="14">7.6841700077056885</cx:pt>
          <cx:pt idx="15">5.3835000991821289</cx:pt>
          <cx:pt idx="16">5.8970901966094971</cx:pt>
          <cx:pt idx="17">8.1578600406646729</cx:pt>
          <cx:pt idx="18">6.3317198753356934</cx:pt>
          <cx:pt idx="19">5.2359001636505127</cx:pt>
          <cx:pt idx="20">7.022050142288208</cx:pt>
          <cx:pt idx="21">5.4716999530792236</cx:pt>
          <cx:pt idx="22">5.8548099994659424</cx:pt>
          <cx:pt idx="23">6.5130400657653809</cx:pt>
          <cx:pt idx="24">5.9943501949310303</cx:pt>
          <cx:pt idx="25">6.3549699783325195</cx:pt>
          <cx:pt idx="26">9.2404201030731201</cx:pt>
          <cx:pt idx="27">6.2567398548126221</cx:pt>
          <cx:pt idx="28">5.834820032119751</cx:pt>
          <cx:pt idx="29">5.2436099052429199</cx:pt>
          <cx:pt idx="30">6.0175800323486328</cx:pt>
          <cx:pt idx="31">6.1787300109863281</cx:pt>
          <cx:pt idx="32">6.4945099353790283</cx:pt>
          <cx:pt idx="33">5.940619945526123</cx:pt>
          <cx:pt idx="34">6.1514699459075928</cx:pt>
          <cx:pt idx="35">7.1912100315093994</cx:pt>
          <cx:pt idx="36">6.0309901237487793</cx:pt>
          <cx:pt idx="37">6.7721900939941406</cx:pt>
          <cx:pt idx="38">6.9251999855041504</cx:pt>
          <cx:pt idx="39">5.2508699893951416</cx:pt>
          <cx:pt idx="40">6.773169994354248</cx:pt>
          <cx:pt idx="41">5.9861800670623779</cx:pt>
          <cx:pt idx="42">6.6564798355102539</cx:pt>
          <cx:pt idx="43">7.0653598308563232</cx:pt>
          <cx:pt idx="44">6.2969799041748047</cx:pt>
          <cx:pt idx="45">4.8863201141357422</cx:pt>
          <cx:pt idx="46">4.682610034942627</cx:pt>
          <cx:pt idx="47">6.6858699321746826</cx:pt>
          <cx:pt idx="48">6.7509300708770752</cx:pt>
        </cx:lvl>
      </cx:numDim>
    </cx:data>
  </cx:chartData>
  <cx:chart>
    <cx:title pos="t" align="ctr" overlay="0">
      <cx:tx>
        <cx:txData>
          <cx:v>Afternoon - Latency 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Afternoon - Latency </a:t>
          </a:r>
        </a:p>
      </cx:txPr>
    </cx:title>
    <cx:plotArea>
      <cx:plotAreaRegion>
        <cx:series layoutId="boxWhisker" uniqueId="{00000001-790F-D540-8DB6-3A0F5145A0E8}" formatIdx="1">
          <cx:tx>
            <cx:txData>
              <cx:f>total!$C$16</cx:f>
              <cx:v>20sec</cx:v>
            </cx:txData>
          </cx:tx>
          <cx:dataId val="0"/>
          <cx:layoutPr>
            <cx:visibility nonoutliers="0"/>
            <cx:statistics quartileMethod="exclusive"/>
          </cx:layoutPr>
        </cx:series>
        <cx:series layoutId="boxWhisker" uniqueId="{00000000-EC98-A549-A06B-B2C1D324A61C}">
          <cx:tx>
            <cx:txData>
              <cx:f>total!$D$16</cx:f>
              <cx:v>40sec</cx:v>
            </cx:txData>
          </cx:tx>
          <cx:dataId val="1"/>
          <cx:layoutPr>
            <cx:visibility nonoutliers="0"/>
            <cx:statistics quartileMethod="exclusive"/>
          </cx:layoutPr>
        </cx:series>
        <cx:series layoutId="boxWhisker" uniqueId="{00000001-EC98-A549-A06B-B2C1D324A61C}">
          <cx:tx>
            <cx:txData>
              <cx:f>total!$E$16</cx:f>
              <cx:v>1min</cx:v>
            </cx:txData>
          </cx:tx>
          <cx:dataId val="2"/>
          <cx:layoutPr>
            <cx:visibility nonoutliers="0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in="4"/>
        <cx:majorGridlines/>
        <cx:tickLabels/>
      </cx:axis>
    </cx:plotArea>
    <cx:legend pos="r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A2CB7-8A5A-2846-99EF-D80DE97E3796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314-7800-D64B-AF3A-C4F8EC6E3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8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25314-7800-D64B-AF3A-C4F8EC6E30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81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25314-7800-D64B-AF3A-C4F8EC6E30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7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1AA6-045C-D72B-730B-A28C13C12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1422E-9D21-1854-3BA1-C8BCE3490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D9965-5854-D83F-7078-4B666854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80E5-33FC-EC98-7380-8C897EAC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4575E-5378-F0EC-0769-AA9711C7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5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E48D-6938-1F0C-70CC-EB882065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6A671-BA23-858E-8785-303E28D26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EECA6-6171-6DB7-9D68-8F8F0575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1F3FB-292F-23AD-74A5-8B300B0A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D719-4E58-15E4-1116-A60FF392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6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003B-59C6-1F6A-874D-DCD296AE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91DB9-9281-B0EE-92DD-0CB837CE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12D2D-3824-717B-2907-6722222A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E4F9F-941F-8A6F-74FE-D37FF035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4611F-4EF3-3D15-758F-42C0990D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3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AB54-162E-C99E-C17D-0C667089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D4ABF-94B9-9192-166B-3AFE3DCA9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6F82A-35CB-CBE6-1D3F-78E0D9539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E7141-AC5B-9451-832E-F9419AA1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5534A-BBD0-FC05-4823-E039135A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54CBA-B85D-4CD7-1014-E86032F3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2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735D-A74D-1334-E1C1-03670F802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9A17-57D9-0C7A-0B90-412A417C9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F9777-4324-CA3A-FC4A-D39534DAE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BE820-64D0-9B72-AAF3-E049E187F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90787-40FD-31A3-E015-7699AD1B7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2238D-20AA-3E3F-66CD-296D2B81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9D898-720E-78BE-7949-8D36C84F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412BE-768F-F656-9312-A9A6AE15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F1B5-91D6-C3D1-E483-0663FD60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7D419-F4B7-A34E-BFC3-AC8DBE56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7537A-5D6D-492E-F55D-CCB53E28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BB62B-92D4-6988-CD04-A9BA68D2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0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9C3AA-864E-EAC7-87DF-78F06B14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11AD6-362F-7DF4-E843-2634B8A9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F35BF-4607-1233-CCC7-D9813D7A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8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5F08-5F09-0E23-83F4-DF08F387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1733-CFFE-E87E-5D55-D9DB67EAF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C8CE0-C193-D679-D385-E29D5A93C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63465-FCAF-ED29-3E8E-8A38B46D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49FE1-DD33-FC04-FD33-7FE4BD70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340D6-C4D5-FD74-76C6-9776167E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9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E0DC-7F2E-2382-EABF-EF4CD6F8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40561-AD56-F57A-45AD-B92C0D1CD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4F8E-0B55-34B1-7019-E6C9FA296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9CC74-9C3F-CB38-26B7-F0744D96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AF83B-A4BB-7B1C-5FA1-1D1BA5CC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38996-C92F-72D3-7238-F60DF41D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3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5966-6AAE-0833-1A7D-E104580A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50386-9294-A844-8208-87256075A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EBB4-1623-86EB-B8AD-BB82C4FD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00AE-4A4D-534F-0933-277BB56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31CD4-46F0-004D-E104-E19CF0CF3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1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E7F78-906B-5130-9ABC-71760CD65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94DBA-6684-21D5-3BAA-F279B34CD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1695F-213B-7813-CB13-8E1A08CE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4BE1-1D1D-B858-12D3-329D900C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DA3DA-ACA7-DBF6-3919-C28EF44A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45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22CAE-94BD-00BC-B35E-6154D804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98DDC-BF98-CC6B-EB2A-9055AA81C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571B-512A-82AC-A332-32BE34AB6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FF342-929E-1D49-A394-DB31AC563883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9033B-D37C-BCFB-ABE6-B1B3C7EDC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FB4CC-43FE-4244-3E42-95B588B78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9C2F8-BF51-2048-8EC2-71112188A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9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522E-97A7-9F63-B967-A47FB2A06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– July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87677-FDDF-563E-DEA2-F88C38D0D5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7425-79AC-A693-74BC-BA075C06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7B8E-8008-5FA4-6D06-74F084A47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Quality Analysis</a:t>
            </a:r>
          </a:p>
          <a:p>
            <a:endParaRPr lang="en-US" dirty="0"/>
          </a:p>
          <a:p>
            <a:r>
              <a:rPr lang="en-US" dirty="0"/>
              <a:t>Leveraging MeshMonitor to observe mesh behavior in real-time</a:t>
            </a:r>
          </a:p>
          <a:p>
            <a:endParaRPr lang="en-US" dirty="0"/>
          </a:p>
          <a:p>
            <a:r>
              <a:rPr lang="en-US" dirty="0"/>
              <a:t>Dynamic node testing</a:t>
            </a:r>
          </a:p>
        </p:txBody>
      </p:sp>
    </p:spTree>
    <p:extLst>
      <p:ext uri="{BB962C8B-B14F-4D97-AF65-F5344CB8AC3E}">
        <p14:creationId xmlns:p14="http://schemas.microsoft.com/office/powerpoint/2010/main" val="178134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C120-A8D3-79A7-66E9-472A20CC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Quality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6AB7A-370F-74A0-30DD-00E6E8236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Earlier this week, I continued the link quality analysis, running the same tests as before except at a different time of day.</a:t>
            </a:r>
          </a:p>
          <a:p>
            <a:r>
              <a:rPr lang="en-US" dirty="0"/>
              <a:t>Additionally, I made sure to include both sender and receiver timestamps to calculate end-to end latency.</a:t>
            </a:r>
          </a:p>
          <a:p>
            <a:r>
              <a:rPr lang="en-US" dirty="0"/>
              <a:t>The results for the afternoon tests were, for the most part, similar to those from the morning. </a:t>
            </a:r>
          </a:p>
          <a:p>
            <a:r>
              <a:rPr lang="en-US" dirty="0"/>
              <a:t>Some notable observations include:</a:t>
            </a:r>
          </a:p>
          <a:p>
            <a:pPr lvl="1"/>
            <a:r>
              <a:rPr lang="en-US" dirty="0"/>
              <a:t>The delivery rate 20 and 40 second intervals was lower on the afternoon test, but maintained the same increasing trend</a:t>
            </a:r>
          </a:p>
          <a:p>
            <a:pPr lvl="1"/>
            <a:r>
              <a:rPr lang="en-US" dirty="0"/>
              <a:t>The 5 second interval had high latency, with packets being received in a different order than they were sent and a large variance in latency values.</a:t>
            </a:r>
          </a:p>
        </p:txBody>
      </p:sp>
    </p:spTree>
    <p:extLst>
      <p:ext uri="{BB962C8B-B14F-4D97-AF65-F5344CB8AC3E}">
        <p14:creationId xmlns:p14="http://schemas.microsoft.com/office/powerpoint/2010/main" val="427281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A79251-7EBF-D1F7-6E4B-E0EF2F1CD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728198"/>
              </p:ext>
            </p:extLst>
          </p:nvPr>
        </p:nvGraphicFramePr>
        <p:xfrm>
          <a:off x="0" y="2"/>
          <a:ext cx="12192000" cy="63897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1540">
                  <a:extLst>
                    <a:ext uri="{9D8B030D-6E8A-4147-A177-3AD203B41FA5}">
                      <a16:colId xmlns:a16="http://schemas.microsoft.com/office/drawing/2014/main" val="997543498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1844599192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2121453480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57755109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823123812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1296035251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3899769448"/>
                    </a:ext>
                  </a:extLst>
                </a:gridCol>
              </a:tblGrid>
              <a:tr h="5908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AFTERNOON</a:t>
                      </a:r>
                      <a:endParaRPr lang="en-CA" sz="12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5sec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20sec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40sec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1min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total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2737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DR (%)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88.5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089633"/>
                  </a:ext>
                </a:extLst>
              </a:tr>
              <a:tr h="4381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latency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65.9918098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6.23665905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6.61673935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6.21463817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6.35601219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21.2649616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342250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latency SD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44.0988802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0.81603368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1.75006418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0.84907817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1.22359576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32.1789572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84959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hops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1.8974359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1.97674419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1.95652174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1.95767546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0605706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RSSI (dBm, 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-138.17949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-138.60465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-138.8913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-137.4898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-138.29131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5828606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RSSI SD (outgoing)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1.76026007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1.77468354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2.19320426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1.20972533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1.83004444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9500745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SNR (dB, 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-14.121795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-13.976744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-14.440217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-12.877551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-13.854077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7078964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SNR SD (outgoing)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1.70223517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1.67688589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2.05763131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1.16046243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1.76647379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9249631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ACKs received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155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4198065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ACKs received (%)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77.5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5889292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RSSI (dBm, 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-118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-121.37209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-118.77778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-120.7551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-120.1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8584274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RSSI SD (ACK)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7.85281266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10.9870557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10.3218411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11.7287585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10.7838744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2159147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SNR (dB, 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2.96153846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0.98837209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2.77777778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1.10714286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1.735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1768185"/>
                  </a:ext>
                </a:extLst>
              </a:tr>
              <a:tr h="4123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SNR SD (ACK)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6.73597784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9.50907359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8.93381953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10.2525403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9.34473212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01498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D66EDE-6700-540F-2C87-289647031FCE}"/>
              </a:ext>
            </a:extLst>
          </p:cNvPr>
          <p:cNvSpPr txBox="1"/>
          <p:nvPr/>
        </p:nvSpPr>
        <p:spPr>
          <a:xfrm>
            <a:off x="451692" y="645561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Cells highlighted in orange have extreme, unusual values. The average for these do not take these into account, unless also highlighted in orange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34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9B6E6A3-3C42-D35D-CF50-83CCA3D6B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1016745"/>
              </p:ext>
            </p:extLst>
          </p:nvPr>
        </p:nvGraphicFramePr>
        <p:xfrm>
          <a:off x="0" y="0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4AC4C8D-66DB-E6A9-1539-1D13640120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923888"/>
              </p:ext>
            </p:extLst>
          </p:nvPr>
        </p:nvGraphicFramePr>
        <p:xfrm>
          <a:off x="6096000" y="-1"/>
          <a:ext cx="6096000" cy="3428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3042DAA-B8B0-D471-B02B-E514E8E0D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2564394"/>
              </p:ext>
            </p:extLst>
          </p:nvPr>
        </p:nvGraphicFramePr>
        <p:xfrm>
          <a:off x="0" y="3428998"/>
          <a:ext cx="6096000" cy="3429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A407843F-5D85-F5E6-22BB-9B4D49EBF6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17124756"/>
                  </p:ext>
                </p:extLst>
              </p:nvPr>
            </p:nvGraphicFramePr>
            <p:xfrm>
              <a:off x="6096000" y="3428998"/>
              <a:ext cx="6096000" cy="342899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A407843F-5D85-F5E6-22BB-9B4D49EBF6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0" y="3428998"/>
                <a:ext cx="6096000" cy="34289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076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564E98A-B865-4817-1DCE-672F5DEF81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0299097"/>
              </p:ext>
            </p:extLst>
          </p:nvPr>
        </p:nvGraphicFramePr>
        <p:xfrm>
          <a:off x="0" y="0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56CECB1-8421-6841-88F1-F69054179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8326270"/>
              </p:ext>
            </p:extLst>
          </p:nvPr>
        </p:nvGraphicFramePr>
        <p:xfrm>
          <a:off x="6096000" y="0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96C68A7-0E67-814C-A10B-906A2894B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331957"/>
              </p:ext>
            </p:extLst>
          </p:nvPr>
        </p:nvGraphicFramePr>
        <p:xfrm>
          <a:off x="0" y="3429000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2092672-7739-8240-9525-B004FEE3E4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6526141"/>
              </p:ext>
            </p:extLst>
          </p:nvPr>
        </p:nvGraphicFramePr>
        <p:xfrm>
          <a:off x="6096000" y="3429000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9755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C6B4-949C-48D9-BFF9-E01CAFAE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MeshMonitor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DE23-1586-E7ED-80EE-5801B49C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3735"/>
          </a:xfrm>
        </p:spPr>
        <p:txBody>
          <a:bodyPr>
            <a:normAutofit fontScale="92500"/>
          </a:bodyPr>
          <a:lstStyle/>
          <a:p>
            <a:r>
              <a:rPr lang="en-US" dirty="0"/>
              <a:t>While MeshMonitor is a fantastic tool for remotely monitoring, tweaking and updating LoRa mesh nodes, it lacked one function I was looking for: to observe how often </a:t>
            </a:r>
            <a:r>
              <a:rPr lang="en-US" b="1" dirty="0"/>
              <a:t>all</a:t>
            </a:r>
            <a:r>
              <a:rPr lang="en-US" dirty="0"/>
              <a:t> nodes were transmitting and receiving packets.</a:t>
            </a:r>
          </a:p>
          <a:p>
            <a:r>
              <a:rPr lang="en-US" dirty="0"/>
              <a:t>MeshMonitor by default exposes this data for the local node, but not for other remote nodes. </a:t>
            </a:r>
          </a:p>
          <a:p>
            <a:r>
              <a:rPr lang="en-US" dirty="0"/>
              <a:t>However, MeshMonitor does have a tool which automates local_stats telemetry request from certain nodes at a given interval.</a:t>
            </a:r>
          </a:p>
          <a:p>
            <a:r>
              <a:rPr lang="en-US" dirty="0"/>
              <a:t>Using this tool, I was able to create a live Grafana dashboard to monitor in real-time which nodes are transmitting the most, relaying and receiving the most packets</a:t>
            </a:r>
          </a:p>
        </p:txBody>
      </p:sp>
    </p:spTree>
    <p:extLst>
      <p:ext uri="{BB962C8B-B14F-4D97-AF65-F5344CB8AC3E}">
        <p14:creationId xmlns:p14="http://schemas.microsoft.com/office/powerpoint/2010/main" val="215006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FC15-8365-4E8D-2652-98E3EFFF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F108-DAF2-96AD-C40A-B106422E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Link:</a:t>
            </a:r>
          </a:p>
        </p:txBody>
      </p:sp>
    </p:spTree>
    <p:extLst>
      <p:ext uri="{BB962C8B-B14F-4D97-AF65-F5344CB8AC3E}">
        <p14:creationId xmlns:p14="http://schemas.microsoft.com/office/powerpoint/2010/main" val="362740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3B94-5904-C37F-F097-FC17E809E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Meshtastic Dashboard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09F39-2080-5E26-5E22-1813840A65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the dashboard metrics are measured as a rate of: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𝑃𝑎𝑐𝑘𝑒𝑡𝑠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𝑠𝑖𝑛𝑐𝑒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𝑙𝑎𝑠𝑡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𝑡𝑟𝑎𝑛𝑠𝑚𝑖𝑠𝑠𝑡𝑖𝑜𝑛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𝑀𝑖𝑛𝑢𝑡𝑒𝑠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𝑠𝑖𝑛𝑐𝑒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𝑙𝑎𝑠𝑡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𝑡𝑟𝑎𝑛𝑠𝑚𝑖𝑠𝑠𝑖𝑜𝑛</m:t>
                        </m:r>
                      </m:den>
                    </m:f>
                  </m:oMath>
                </a14:m>
                <a:r>
                  <a:rPr lang="en-US" dirty="0"/>
                  <a:t> i.e., Packets per Minute</a:t>
                </a:r>
              </a:p>
              <a:p>
                <a:r>
                  <a:rPr lang="en-US" dirty="0"/>
                  <a:t>While the dashboard is live, the link sent is only a snapshot of the live feed. If the time permits, it would be a good idea to host the dashboard publicly, allowing for the remote monitoring of the mesh from any device.</a:t>
                </a:r>
              </a:p>
              <a:p>
                <a:r>
                  <a:rPr lang="en-US" dirty="0"/>
                  <a:t>All the collected local_stats telemetry data used for the dashboard is stored locally in a SQLite database. </a:t>
                </a:r>
              </a:p>
              <a:p>
                <a:pPr lvl="1"/>
                <a:r>
                  <a:rPr lang="en-US" dirty="0"/>
                  <a:t>In fact, all data collected by MeshMonitor is stored in this database.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09F39-2080-5E26-5E22-1813840A6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10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583</Words>
  <Application>Microsoft Macintosh PowerPoint</Application>
  <PresentationFormat>Widescreen</PresentationFormat>
  <Paragraphs>130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Cambria Math</vt:lpstr>
      <vt:lpstr>Office Theme</vt:lpstr>
      <vt:lpstr>Meeting – July 9</vt:lpstr>
      <vt:lpstr>Overview</vt:lpstr>
      <vt:lpstr>Link Quality Analysis</vt:lpstr>
      <vt:lpstr>PowerPoint Presentation</vt:lpstr>
      <vt:lpstr>PowerPoint Presentation</vt:lpstr>
      <vt:lpstr>PowerPoint Presentation</vt:lpstr>
      <vt:lpstr>Leveraging MeshMonitor</vt:lpstr>
      <vt:lpstr>Dashboard Snapshot</vt:lpstr>
      <vt:lpstr>Meshtastic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Earle</dc:creator>
  <cp:lastModifiedBy>Jonathan Earle</cp:lastModifiedBy>
  <cp:revision>10</cp:revision>
  <dcterms:created xsi:type="dcterms:W3CDTF">2026-07-09T13:10:36Z</dcterms:created>
  <dcterms:modified xsi:type="dcterms:W3CDTF">2026-07-09T13:56:11Z</dcterms:modified>
</cp:coreProperties>
</file>