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458"/>
    <p:restoredTop sz="94681"/>
  </p:normalViewPr>
  <p:slideViewPr>
    <p:cSldViewPr snapToGrid="0">
      <p:cViewPr>
        <p:scale>
          <a:sx n="49" d="100"/>
          <a:sy n="49" d="100"/>
        </p:scale>
        <p:origin x="400" y="16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E4047-12F8-4948-3862-9BFBDB9CB8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B0CBA98-E9E3-35F4-3A1D-F90EBD0793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2A861C8-7B9D-A549-F46F-0886F073CC9B}"/>
              </a:ext>
            </a:extLst>
          </p:cNvPr>
          <p:cNvSpPr>
            <a:spLocks noGrp="1"/>
          </p:cNvSpPr>
          <p:nvPr>
            <p:ph type="dt" sz="half" idx="10"/>
          </p:nvPr>
        </p:nvSpPr>
        <p:spPr/>
        <p:txBody>
          <a:bodyPr/>
          <a:lstStyle/>
          <a:p>
            <a:fld id="{57D2F500-107A-E94C-AF3F-85A1BA8854A0}" type="datetimeFigureOut">
              <a:rPr lang="en-US" smtClean="0"/>
              <a:t>6/5/26</a:t>
            </a:fld>
            <a:endParaRPr lang="en-US"/>
          </a:p>
        </p:txBody>
      </p:sp>
      <p:sp>
        <p:nvSpPr>
          <p:cNvPr id="5" name="Footer Placeholder 4">
            <a:extLst>
              <a:ext uri="{FF2B5EF4-FFF2-40B4-BE49-F238E27FC236}">
                <a16:creationId xmlns:a16="http://schemas.microsoft.com/office/drawing/2014/main" id="{138E518C-582F-7617-EAB4-36E731209B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829A41-55FC-9396-FC24-0394E7560048}"/>
              </a:ext>
            </a:extLst>
          </p:cNvPr>
          <p:cNvSpPr>
            <a:spLocks noGrp="1"/>
          </p:cNvSpPr>
          <p:nvPr>
            <p:ph type="sldNum" sz="quarter" idx="12"/>
          </p:nvPr>
        </p:nvSpPr>
        <p:spPr/>
        <p:txBody>
          <a:bodyPr/>
          <a:lstStyle/>
          <a:p>
            <a:fld id="{AF0BFA4C-F0F6-7C46-A9C2-E442D6395CB9}" type="slidenum">
              <a:rPr lang="en-US" smtClean="0"/>
              <a:t>‹#›</a:t>
            </a:fld>
            <a:endParaRPr lang="en-US"/>
          </a:p>
        </p:txBody>
      </p:sp>
    </p:spTree>
    <p:extLst>
      <p:ext uri="{BB962C8B-B14F-4D97-AF65-F5344CB8AC3E}">
        <p14:creationId xmlns:p14="http://schemas.microsoft.com/office/powerpoint/2010/main" val="37290401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1F1A0-D378-33EE-9A2F-E7AA63C1A22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1E14282-144E-D75C-09E0-1C4B2C9F0F7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28484D-DBDA-5C5F-3A5E-D34B21759170}"/>
              </a:ext>
            </a:extLst>
          </p:cNvPr>
          <p:cNvSpPr>
            <a:spLocks noGrp="1"/>
          </p:cNvSpPr>
          <p:nvPr>
            <p:ph type="dt" sz="half" idx="10"/>
          </p:nvPr>
        </p:nvSpPr>
        <p:spPr/>
        <p:txBody>
          <a:bodyPr/>
          <a:lstStyle/>
          <a:p>
            <a:fld id="{57D2F500-107A-E94C-AF3F-85A1BA8854A0}" type="datetimeFigureOut">
              <a:rPr lang="en-US" smtClean="0"/>
              <a:t>6/5/26</a:t>
            </a:fld>
            <a:endParaRPr lang="en-US"/>
          </a:p>
        </p:txBody>
      </p:sp>
      <p:sp>
        <p:nvSpPr>
          <p:cNvPr id="5" name="Footer Placeholder 4">
            <a:extLst>
              <a:ext uri="{FF2B5EF4-FFF2-40B4-BE49-F238E27FC236}">
                <a16:creationId xmlns:a16="http://schemas.microsoft.com/office/drawing/2014/main" id="{102DDFF7-6A00-1BAD-DC76-5685655851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2362C2-5E8E-6BD4-6CF1-B701473055FB}"/>
              </a:ext>
            </a:extLst>
          </p:cNvPr>
          <p:cNvSpPr>
            <a:spLocks noGrp="1"/>
          </p:cNvSpPr>
          <p:nvPr>
            <p:ph type="sldNum" sz="quarter" idx="12"/>
          </p:nvPr>
        </p:nvSpPr>
        <p:spPr/>
        <p:txBody>
          <a:bodyPr/>
          <a:lstStyle/>
          <a:p>
            <a:fld id="{AF0BFA4C-F0F6-7C46-A9C2-E442D6395CB9}" type="slidenum">
              <a:rPr lang="en-US" smtClean="0"/>
              <a:t>‹#›</a:t>
            </a:fld>
            <a:endParaRPr lang="en-US"/>
          </a:p>
        </p:txBody>
      </p:sp>
    </p:spTree>
    <p:extLst>
      <p:ext uri="{BB962C8B-B14F-4D97-AF65-F5344CB8AC3E}">
        <p14:creationId xmlns:p14="http://schemas.microsoft.com/office/powerpoint/2010/main" val="1303821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EB3D7-DB9F-A469-E659-63E46B0B47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A90C967-2304-63B7-D9EB-CB7F39D7605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2070A0-E193-E31C-55EC-EDE6F78C56C2}"/>
              </a:ext>
            </a:extLst>
          </p:cNvPr>
          <p:cNvSpPr>
            <a:spLocks noGrp="1"/>
          </p:cNvSpPr>
          <p:nvPr>
            <p:ph type="dt" sz="half" idx="10"/>
          </p:nvPr>
        </p:nvSpPr>
        <p:spPr/>
        <p:txBody>
          <a:bodyPr/>
          <a:lstStyle/>
          <a:p>
            <a:fld id="{57D2F500-107A-E94C-AF3F-85A1BA8854A0}" type="datetimeFigureOut">
              <a:rPr lang="en-US" smtClean="0"/>
              <a:t>6/5/26</a:t>
            </a:fld>
            <a:endParaRPr lang="en-US"/>
          </a:p>
        </p:txBody>
      </p:sp>
      <p:sp>
        <p:nvSpPr>
          <p:cNvPr id="5" name="Footer Placeholder 4">
            <a:extLst>
              <a:ext uri="{FF2B5EF4-FFF2-40B4-BE49-F238E27FC236}">
                <a16:creationId xmlns:a16="http://schemas.microsoft.com/office/drawing/2014/main" id="{3D05B21F-DCFA-D6D7-3AE5-3DB524B5CC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657ABF-935B-8680-3F4C-8CC46BAA99E8}"/>
              </a:ext>
            </a:extLst>
          </p:cNvPr>
          <p:cNvSpPr>
            <a:spLocks noGrp="1"/>
          </p:cNvSpPr>
          <p:nvPr>
            <p:ph type="sldNum" sz="quarter" idx="12"/>
          </p:nvPr>
        </p:nvSpPr>
        <p:spPr/>
        <p:txBody>
          <a:bodyPr/>
          <a:lstStyle/>
          <a:p>
            <a:fld id="{AF0BFA4C-F0F6-7C46-A9C2-E442D6395CB9}" type="slidenum">
              <a:rPr lang="en-US" smtClean="0"/>
              <a:t>‹#›</a:t>
            </a:fld>
            <a:endParaRPr lang="en-US"/>
          </a:p>
        </p:txBody>
      </p:sp>
    </p:spTree>
    <p:extLst>
      <p:ext uri="{BB962C8B-B14F-4D97-AF65-F5344CB8AC3E}">
        <p14:creationId xmlns:p14="http://schemas.microsoft.com/office/powerpoint/2010/main" val="19632575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CAD22-098F-DB50-54FB-D09C227493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EE77AC8-FA8C-00B8-15C3-52586364C94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4126750-B6F3-9131-C687-FE4536E1658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A8949CC-FB08-6F9E-27F6-B416312FD6E3}"/>
              </a:ext>
            </a:extLst>
          </p:cNvPr>
          <p:cNvSpPr>
            <a:spLocks noGrp="1"/>
          </p:cNvSpPr>
          <p:nvPr>
            <p:ph type="dt" sz="half" idx="10"/>
          </p:nvPr>
        </p:nvSpPr>
        <p:spPr/>
        <p:txBody>
          <a:bodyPr/>
          <a:lstStyle/>
          <a:p>
            <a:fld id="{57D2F500-107A-E94C-AF3F-85A1BA8854A0}" type="datetimeFigureOut">
              <a:rPr lang="en-US" smtClean="0"/>
              <a:t>6/5/26</a:t>
            </a:fld>
            <a:endParaRPr lang="en-US"/>
          </a:p>
        </p:txBody>
      </p:sp>
      <p:sp>
        <p:nvSpPr>
          <p:cNvPr id="6" name="Footer Placeholder 5">
            <a:extLst>
              <a:ext uri="{FF2B5EF4-FFF2-40B4-BE49-F238E27FC236}">
                <a16:creationId xmlns:a16="http://schemas.microsoft.com/office/drawing/2014/main" id="{9FAB5E53-AA5F-38C9-B698-2A9EFBC230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F97CB3-41B7-C29D-0D8C-921BDDD3848A}"/>
              </a:ext>
            </a:extLst>
          </p:cNvPr>
          <p:cNvSpPr>
            <a:spLocks noGrp="1"/>
          </p:cNvSpPr>
          <p:nvPr>
            <p:ph type="sldNum" sz="quarter" idx="12"/>
          </p:nvPr>
        </p:nvSpPr>
        <p:spPr/>
        <p:txBody>
          <a:bodyPr/>
          <a:lstStyle/>
          <a:p>
            <a:fld id="{AF0BFA4C-F0F6-7C46-A9C2-E442D6395CB9}" type="slidenum">
              <a:rPr lang="en-US" smtClean="0"/>
              <a:t>‹#›</a:t>
            </a:fld>
            <a:endParaRPr lang="en-US"/>
          </a:p>
        </p:txBody>
      </p:sp>
    </p:spTree>
    <p:extLst>
      <p:ext uri="{BB962C8B-B14F-4D97-AF65-F5344CB8AC3E}">
        <p14:creationId xmlns:p14="http://schemas.microsoft.com/office/powerpoint/2010/main" val="3610394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63921-40C3-C3C2-AFC7-B2A0B9FA1E9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94B3B4B-1732-5F56-95BE-CEF4DEBFF0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E24453-4FAA-43EB-E247-EDE2510A2E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7934B67-1CDD-E2AE-6844-45F108CE2B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D16EE4-0E17-82B3-36EB-9823C82DB2A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299A218-1A71-2602-3A1C-4D58FE3F12F2}"/>
              </a:ext>
            </a:extLst>
          </p:cNvPr>
          <p:cNvSpPr>
            <a:spLocks noGrp="1"/>
          </p:cNvSpPr>
          <p:nvPr>
            <p:ph type="dt" sz="half" idx="10"/>
          </p:nvPr>
        </p:nvSpPr>
        <p:spPr/>
        <p:txBody>
          <a:bodyPr/>
          <a:lstStyle/>
          <a:p>
            <a:fld id="{57D2F500-107A-E94C-AF3F-85A1BA8854A0}" type="datetimeFigureOut">
              <a:rPr lang="en-US" smtClean="0"/>
              <a:t>6/5/26</a:t>
            </a:fld>
            <a:endParaRPr lang="en-US"/>
          </a:p>
        </p:txBody>
      </p:sp>
      <p:sp>
        <p:nvSpPr>
          <p:cNvPr id="8" name="Footer Placeholder 7">
            <a:extLst>
              <a:ext uri="{FF2B5EF4-FFF2-40B4-BE49-F238E27FC236}">
                <a16:creationId xmlns:a16="http://schemas.microsoft.com/office/drawing/2014/main" id="{983F0301-4230-0B78-F22F-7D8FAAA2FB4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CC6F172-702B-1DDD-31FB-6A51225FEB44}"/>
              </a:ext>
            </a:extLst>
          </p:cNvPr>
          <p:cNvSpPr>
            <a:spLocks noGrp="1"/>
          </p:cNvSpPr>
          <p:nvPr>
            <p:ph type="sldNum" sz="quarter" idx="12"/>
          </p:nvPr>
        </p:nvSpPr>
        <p:spPr/>
        <p:txBody>
          <a:bodyPr/>
          <a:lstStyle/>
          <a:p>
            <a:fld id="{AF0BFA4C-F0F6-7C46-A9C2-E442D6395CB9}" type="slidenum">
              <a:rPr lang="en-US" smtClean="0"/>
              <a:t>‹#›</a:t>
            </a:fld>
            <a:endParaRPr lang="en-US"/>
          </a:p>
        </p:txBody>
      </p:sp>
    </p:spTree>
    <p:extLst>
      <p:ext uri="{BB962C8B-B14F-4D97-AF65-F5344CB8AC3E}">
        <p14:creationId xmlns:p14="http://schemas.microsoft.com/office/powerpoint/2010/main" val="8246643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73170-1FC6-7E24-EE76-34484B31AAE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EA46142-D89E-856E-BD4B-AF90A8EAED75}"/>
              </a:ext>
            </a:extLst>
          </p:cNvPr>
          <p:cNvSpPr>
            <a:spLocks noGrp="1"/>
          </p:cNvSpPr>
          <p:nvPr>
            <p:ph type="dt" sz="half" idx="10"/>
          </p:nvPr>
        </p:nvSpPr>
        <p:spPr/>
        <p:txBody>
          <a:bodyPr/>
          <a:lstStyle/>
          <a:p>
            <a:fld id="{57D2F500-107A-E94C-AF3F-85A1BA8854A0}" type="datetimeFigureOut">
              <a:rPr lang="en-US" smtClean="0"/>
              <a:t>6/5/26</a:t>
            </a:fld>
            <a:endParaRPr lang="en-US"/>
          </a:p>
        </p:txBody>
      </p:sp>
      <p:sp>
        <p:nvSpPr>
          <p:cNvPr id="4" name="Footer Placeholder 3">
            <a:extLst>
              <a:ext uri="{FF2B5EF4-FFF2-40B4-BE49-F238E27FC236}">
                <a16:creationId xmlns:a16="http://schemas.microsoft.com/office/drawing/2014/main" id="{05995995-265E-CF22-69E6-B3E0E4ACBED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CA8D8CF-D123-D156-1664-83A65114FF86}"/>
              </a:ext>
            </a:extLst>
          </p:cNvPr>
          <p:cNvSpPr>
            <a:spLocks noGrp="1"/>
          </p:cNvSpPr>
          <p:nvPr>
            <p:ph type="sldNum" sz="quarter" idx="12"/>
          </p:nvPr>
        </p:nvSpPr>
        <p:spPr/>
        <p:txBody>
          <a:bodyPr/>
          <a:lstStyle/>
          <a:p>
            <a:fld id="{AF0BFA4C-F0F6-7C46-A9C2-E442D6395CB9}" type="slidenum">
              <a:rPr lang="en-US" smtClean="0"/>
              <a:t>‹#›</a:t>
            </a:fld>
            <a:endParaRPr lang="en-US"/>
          </a:p>
        </p:txBody>
      </p:sp>
    </p:spTree>
    <p:extLst>
      <p:ext uri="{BB962C8B-B14F-4D97-AF65-F5344CB8AC3E}">
        <p14:creationId xmlns:p14="http://schemas.microsoft.com/office/powerpoint/2010/main" val="305161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14A7538-90BC-EFF7-91CC-0920BED6A24F}"/>
              </a:ext>
            </a:extLst>
          </p:cNvPr>
          <p:cNvSpPr>
            <a:spLocks noGrp="1"/>
          </p:cNvSpPr>
          <p:nvPr>
            <p:ph type="dt" sz="half" idx="10"/>
          </p:nvPr>
        </p:nvSpPr>
        <p:spPr/>
        <p:txBody>
          <a:bodyPr/>
          <a:lstStyle/>
          <a:p>
            <a:fld id="{57D2F500-107A-E94C-AF3F-85A1BA8854A0}" type="datetimeFigureOut">
              <a:rPr lang="en-US" smtClean="0"/>
              <a:t>6/5/26</a:t>
            </a:fld>
            <a:endParaRPr lang="en-US"/>
          </a:p>
        </p:txBody>
      </p:sp>
      <p:sp>
        <p:nvSpPr>
          <p:cNvPr id="3" name="Footer Placeholder 2">
            <a:extLst>
              <a:ext uri="{FF2B5EF4-FFF2-40B4-BE49-F238E27FC236}">
                <a16:creationId xmlns:a16="http://schemas.microsoft.com/office/drawing/2014/main" id="{433E1BB9-91DA-1E72-B51B-75DE1016036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4DC0A6E-EF8A-18FF-7BF5-AC9D8D61E0EB}"/>
              </a:ext>
            </a:extLst>
          </p:cNvPr>
          <p:cNvSpPr>
            <a:spLocks noGrp="1"/>
          </p:cNvSpPr>
          <p:nvPr>
            <p:ph type="sldNum" sz="quarter" idx="12"/>
          </p:nvPr>
        </p:nvSpPr>
        <p:spPr/>
        <p:txBody>
          <a:bodyPr/>
          <a:lstStyle/>
          <a:p>
            <a:fld id="{AF0BFA4C-F0F6-7C46-A9C2-E442D6395CB9}" type="slidenum">
              <a:rPr lang="en-US" smtClean="0"/>
              <a:t>‹#›</a:t>
            </a:fld>
            <a:endParaRPr lang="en-US"/>
          </a:p>
        </p:txBody>
      </p:sp>
    </p:spTree>
    <p:extLst>
      <p:ext uri="{BB962C8B-B14F-4D97-AF65-F5344CB8AC3E}">
        <p14:creationId xmlns:p14="http://schemas.microsoft.com/office/powerpoint/2010/main" val="14803928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F2761-28B6-AEB1-DD23-9C5A4D8526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925DA4D-AC05-BC94-4CB9-E19E3EFCEC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0F65EF8-4131-DDC5-C919-25CA622E50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0F29AD-3C81-6B23-3963-25FFA04FE5D8}"/>
              </a:ext>
            </a:extLst>
          </p:cNvPr>
          <p:cNvSpPr>
            <a:spLocks noGrp="1"/>
          </p:cNvSpPr>
          <p:nvPr>
            <p:ph type="dt" sz="half" idx="10"/>
          </p:nvPr>
        </p:nvSpPr>
        <p:spPr/>
        <p:txBody>
          <a:bodyPr/>
          <a:lstStyle/>
          <a:p>
            <a:fld id="{57D2F500-107A-E94C-AF3F-85A1BA8854A0}" type="datetimeFigureOut">
              <a:rPr lang="en-US" smtClean="0"/>
              <a:t>6/5/26</a:t>
            </a:fld>
            <a:endParaRPr lang="en-US"/>
          </a:p>
        </p:txBody>
      </p:sp>
      <p:sp>
        <p:nvSpPr>
          <p:cNvPr id="6" name="Footer Placeholder 5">
            <a:extLst>
              <a:ext uri="{FF2B5EF4-FFF2-40B4-BE49-F238E27FC236}">
                <a16:creationId xmlns:a16="http://schemas.microsoft.com/office/drawing/2014/main" id="{C194C9C5-3045-4C1E-9449-0956C5EBB6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2588A3-A4B1-6FC5-02FA-5D0A7B3DA43A}"/>
              </a:ext>
            </a:extLst>
          </p:cNvPr>
          <p:cNvSpPr>
            <a:spLocks noGrp="1"/>
          </p:cNvSpPr>
          <p:nvPr>
            <p:ph type="sldNum" sz="quarter" idx="12"/>
          </p:nvPr>
        </p:nvSpPr>
        <p:spPr/>
        <p:txBody>
          <a:bodyPr/>
          <a:lstStyle/>
          <a:p>
            <a:fld id="{AF0BFA4C-F0F6-7C46-A9C2-E442D6395CB9}" type="slidenum">
              <a:rPr lang="en-US" smtClean="0"/>
              <a:t>‹#›</a:t>
            </a:fld>
            <a:endParaRPr lang="en-US"/>
          </a:p>
        </p:txBody>
      </p:sp>
    </p:spTree>
    <p:extLst>
      <p:ext uri="{BB962C8B-B14F-4D97-AF65-F5344CB8AC3E}">
        <p14:creationId xmlns:p14="http://schemas.microsoft.com/office/powerpoint/2010/main" val="633798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70043-BFE1-2122-9EA8-53DF0C0F31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8BCB419-2C9E-B852-E07F-229B054F69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BAF985E-9EB4-5E18-A9F4-6E8BFFA650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E6C9F0-231C-03A0-7AD3-B894E691073A}"/>
              </a:ext>
            </a:extLst>
          </p:cNvPr>
          <p:cNvSpPr>
            <a:spLocks noGrp="1"/>
          </p:cNvSpPr>
          <p:nvPr>
            <p:ph type="dt" sz="half" idx="10"/>
          </p:nvPr>
        </p:nvSpPr>
        <p:spPr/>
        <p:txBody>
          <a:bodyPr/>
          <a:lstStyle/>
          <a:p>
            <a:fld id="{57D2F500-107A-E94C-AF3F-85A1BA8854A0}" type="datetimeFigureOut">
              <a:rPr lang="en-US" smtClean="0"/>
              <a:t>6/5/26</a:t>
            </a:fld>
            <a:endParaRPr lang="en-US"/>
          </a:p>
        </p:txBody>
      </p:sp>
      <p:sp>
        <p:nvSpPr>
          <p:cNvPr id="6" name="Footer Placeholder 5">
            <a:extLst>
              <a:ext uri="{FF2B5EF4-FFF2-40B4-BE49-F238E27FC236}">
                <a16:creationId xmlns:a16="http://schemas.microsoft.com/office/drawing/2014/main" id="{8CBC7604-143F-E018-3EE7-498C287293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470F7D-74C1-DA7B-7E92-67BA725DADD2}"/>
              </a:ext>
            </a:extLst>
          </p:cNvPr>
          <p:cNvSpPr>
            <a:spLocks noGrp="1"/>
          </p:cNvSpPr>
          <p:nvPr>
            <p:ph type="sldNum" sz="quarter" idx="12"/>
          </p:nvPr>
        </p:nvSpPr>
        <p:spPr/>
        <p:txBody>
          <a:bodyPr/>
          <a:lstStyle/>
          <a:p>
            <a:fld id="{AF0BFA4C-F0F6-7C46-A9C2-E442D6395CB9}" type="slidenum">
              <a:rPr lang="en-US" smtClean="0"/>
              <a:t>‹#›</a:t>
            </a:fld>
            <a:endParaRPr lang="en-US"/>
          </a:p>
        </p:txBody>
      </p:sp>
    </p:spTree>
    <p:extLst>
      <p:ext uri="{BB962C8B-B14F-4D97-AF65-F5344CB8AC3E}">
        <p14:creationId xmlns:p14="http://schemas.microsoft.com/office/powerpoint/2010/main" val="24660972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01AEB-A53B-51AD-0BE8-E96B66DCC9E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106154C-CFD7-5599-5BAA-3BF0763025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A16384-6547-1FAE-D82E-E0852AB61EF9}"/>
              </a:ext>
            </a:extLst>
          </p:cNvPr>
          <p:cNvSpPr>
            <a:spLocks noGrp="1"/>
          </p:cNvSpPr>
          <p:nvPr>
            <p:ph type="dt" sz="half" idx="10"/>
          </p:nvPr>
        </p:nvSpPr>
        <p:spPr/>
        <p:txBody>
          <a:bodyPr/>
          <a:lstStyle/>
          <a:p>
            <a:fld id="{57D2F500-107A-E94C-AF3F-85A1BA8854A0}" type="datetimeFigureOut">
              <a:rPr lang="en-US" smtClean="0"/>
              <a:t>6/5/26</a:t>
            </a:fld>
            <a:endParaRPr lang="en-US"/>
          </a:p>
        </p:txBody>
      </p:sp>
      <p:sp>
        <p:nvSpPr>
          <p:cNvPr id="5" name="Footer Placeholder 4">
            <a:extLst>
              <a:ext uri="{FF2B5EF4-FFF2-40B4-BE49-F238E27FC236}">
                <a16:creationId xmlns:a16="http://schemas.microsoft.com/office/drawing/2014/main" id="{60CB80D8-6605-681B-4B3F-4365BEC1DF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4A7CF3-9751-8CA3-F3EA-511E505723D6}"/>
              </a:ext>
            </a:extLst>
          </p:cNvPr>
          <p:cNvSpPr>
            <a:spLocks noGrp="1"/>
          </p:cNvSpPr>
          <p:nvPr>
            <p:ph type="sldNum" sz="quarter" idx="12"/>
          </p:nvPr>
        </p:nvSpPr>
        <p:spPr/>
        <p:txBody>
          <a:bodyPr/>
          <a:lstStyle/>
          <a:p>
            <a:fld id="{AF0BFA4C-F0F6-7C46-A9C2-E442D6395CB9}" type="slidenum">
              <a:rPr lang="en-US" smtClean="0"/>
              <a:t>‹#›</a:t>
            </a:fld>
            <a:endParaRPr lang="en-US"/>
          </a:p>
        </p:txBody>
      </p:sp>
    </p:spTree>
    <p:extLst>
      <p:ext uri="{BB962C8B-B14F-4D97-AF65-F5344CB8AC3E}">
        <p14:creationId xmlns:p14="http://schemas.microsoft.com/office/powerpoint/2010/main" val="41617872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669480-3C7F-D2C0-C356-17EBB31E059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F46064E-3F04-173E-8BCB-DD9364225DD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8226D9-59AA-C7DB-A3F1-5A29A314F48C}"/>
              </a:ext>
            </a:extLst>
          </p:cNvPr>
          <p:cNvSpPr>
            <a:spLocks noGrp="1"/>
          </p:cNvSpPr>
          <p:nvPr>
            <p:ph type="dt" sz="half" idx="10"/>
          </p:nvPr>
        </p:nvSpPr>
        <p:spPr/>
        <p:txBody>
          <a:bodyPr/>
          <a:lstStyle/>
          <a:p>
            <a:fld id="{57D2F500-107A-E94C-AF3F-85A1BA8854A0}" type="datetimeFigureOut">
              <a:rPr lang="en-US" smtClean="0"/>
              <a:t>6/5/26</a:t>
            </a:fld>
            <a:endParaRPr lang="en-US"/>
          </a:p>
        </p:txBody>
      </p:sp>
      <p:sp>
        <p:nvSpPr>
          <p:cNvPr id="5" name="Footer Placeholder 4">
            <a:extLst>
              <a:ext uri="{FF2B5EF4-FFF2-40B4-BE49-F238E27FC236}">
                <a16:creationId xmlns:a16="http://schemas.microsoft.com/office/drawing/2014/main" id="{41DAD7B6-B397-B8C5-BEB8-B9217A1B85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3094D8-1205-8A38-093F-38BB9726350B}"/>
              </a:ext>
            </a:extLst>
          </p:cNvPr>
          <p:cNvSpPr>
            <a:spLocks noGrp="1"/>
          </p:cNvSpPr>
          <p:nvPr>
            <p:ph type="sldNum" sz="quarter" idx="12"/>
          </p:nvPr>
        </p:nvSpPr>
        <p:spPr/>
        <p:txBody>
          <a:bodyPr/>
          <a:lstStyle/>
          <a:p>
            <a:fld id="{AF0BFA4C-F0F6-7C46-A9C2-E442D6395CB9}" type="slidenum">
              <a:rPr lang="en-US" smtClean="0"/>
              <a:t>‹#›</a:t>
            </a:fld>
            <a:endParaRPr lang="en-US"/>
          </a:p>
        </p:txBody>
      </p:sp>
    </p:spTree>
    <p:extLst>
      <p:ext uri="{BB962C8B-B14F-4D97-AF65-F5344CB8AC3E}">
        <p14:creationId xmlns:p14="http://schemas.microsoft.com/office/powerpoint/2010/main" val="448233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E959B5-3D7D-B43C-C5C6-715F79AFA2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158EF04-BB56-CABF-FFD7-02C0A866CE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054CCF-ADED-C544-E355-2090499A96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7D2F500-107A-E94C-AF3F-85A1BA8854A0}" type="datetimeFigureOut">
              <a:rPr lang="en-US" smtClean="0"/>
              <a:t>6/5/26</a:t>
            </a:fld>
            <a:endParaRPr lang="en-US"/>
          </a:p>
        </p:txBody>
      </p:sp>
      <p:sp>
        <p:nvSpPr>
          <p:cNvPr id="5" name="Footer Placeholder 4">
            <a:extLst>
              <a:ext uri="{FF2B5EF4-FFF2-40B4-BE49-F238E27FC236}">
                <a16:creationId xmlns:a16="http://schemas.microsoft.com/office/drawing/2014/main" id="{052FCC23-5195-11AF-4B31-E5A929C7B7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CA79775-4E29-6EB1-241E-00B783F1D9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F0BFA4C-F0F6-7C46-A9C2-E442D6395CB9}" type="slidenum">
              <a:rPr lang="en-US" smtClean="0"/>
              <a:t>‹#›</a:t>
            </a:fld>
            <a:endParaRPr lang="en-US"/>
          </a:p>
        </p:txBody>
      </p:sp>
    </p:spTree>
    <p:extLst>
      <p:ext uri="{BB962C8B-B14F-4D97-AF65-F5344CB8AC3E}">
        <p14:creationId xmlns:p14="http://schemas.microsoft.com/office/powerpoint/2010/main" val="29822756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964C3-261F-A832-101A-37E4B4F0346C}"/>
              </a:ext>
            </a:extLst>
          </p:cNvPr>
          <p:cNvSpPr>
            <a:spLocks noGrp="1"/>
          </p:cNvSpPr>
          <p:nvPr>
            <p:ph type="ctrTitle"/>
          </p:nvPr>
        </p:nvSpPr>
        <p:spPr/>
        <p:txBody>
          <a:bodyPr/>
          <a:lstStyle/>
          <a:p>
            <a:r>
              <a:rPr lang="en-US" dirty="0"/>
              <a:t>Meeting – June 10</a:t>
            </a:r>
          </a:p>
        </p:txBody>
      </p:sp>
      <p:sp>
        <p:nvSpPr>
          <p:cNvPr id="3" name="Subtitle 2">
            <a:extLst>
              <a:ext uri="{FF2B5EF4-FFF2-40B4-BE49-F238E27FC236}">
                <a16:creationId xmlns:a16="http://schemas.microsoft.com/office/drawing/2014/main" id="{3381EAB7-F1B0-1113-DFAA-6E0ABDC88F5C}"/>
              </a:ext>
            </a:extLst>
          </p:cNvPr>
          <p:cNvSpPr>
            <a:spLocks noGrp="1"/>
          </p:cNvSpPr>
          <p:nvPr>
            <p:ph type="subTitle" idx="1"/>
          </p:nvPr>
        </p:nvSpPr>
        <p:spPr/>
        <p:txBody>
          <a:bodyPr/>
          <a:lstStyle/>
          <a:p>
            <a:r>
              <a:rPr lang="en-US" dirty="0"/>
              <a:t>Jon Earle</a:t>
            </a:r>
          </a:p>
        </p:txBody>
      </p:sp>
    </p:spTree>
    <p:extLst>
      <p:ext uri="{BB962C8B-B14F-4D97-AF65-F5344CB8AC3E}">
        <p14:creationId xmlns:p14="http://schemas.microsoft.com/office/powerpoint/2010/main" val="2432860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D45B0-6E3A-FB06-38B9-E572676C02C6}"/>
              </a:ext>
            </a:extLst>
          </p:cNvPr>
          <p:cNvSpPr>
            <a:spLocks noGrp="1"/>
          </p:cNvSpPr>
          <p:nvPr>
            <p:ph type="title"/>
          </p:nvPr>
        </p:nvSpPr>
        <p:spPr/>
        <p:txBody>
          <a:bodyPr/>
          <a:lstStyle/>
          <a:p>
            <a:r>
              <a:rPr lang="en-US" dirty="0"/>
              <a:t>Start of the Week</a:t>
            </a:r>
          </a:p>
        </p:txBody>
      </p:sp>
      <p:sp>
        <p:nvSpPr>
          <p:cNvPr id="3" name="Content Placeholder 2">
            <a:extLst>
              <a:ext uri="{FF2B5EF4-FFF2-40B4-BE49-F238E27FC236}">
                <a16:creationId xmlns:a16="http://schemas.microsoft.com/office/drawing/2014/main" id="{279999F6-07B3-0B93-8352-1B3EA8B144A3}"/>
              </a:ext>
            </a:extLst>
          </p:cNvPr>
          <p:cNvSpPr>
            <a:spLocks noGrp="1"/>
          </p:cNvSpPr>
          <p:nvPr>
            <p:ph idx="1"/>
          </p:nvPr>
        </p:nvSpPr>
        <p:spPr/>
        <p:txBody>
          <a:bodyPr/>
          <a:lstStyle/>
          <a:p>
            <a:r>
              <a:rPr lang="en-US" dirty="0"/>
              <a:t>Last week, I stated the plan was to deploy a small mesh around campus and run tests on them, analyzing signal strength, quality and comparing efficiency between </a:t>
            </a:r>
            <a:r>
              <a:rPr lang="en-US" dirty="0" err="1"/>
              <a:t>firmwares</a:t>
            </a:r>
            <a:r>
              <a:rPr lang="en-US" dirty="0"/>
              <a:t>.</a:t>
            </a:r>
          </a:p>
          <a:p>
            <a:r>
              <a:rPr lang="en-US" dirty="0"/>
              <a:t>I was going to jump in and assume that under the the same settings, zero-hop communication with Meshtastic and MeshCore are essentially equal. However, I wanted some evidence to back this claim and decided run a simple test for my hypothesis.</a:t>
            </a:r>
          </a:p>
          <a:p>
            <a:r>
              <a:rPr lang="en-US" dirty="0"/>
              <a:t>The test consisted of biking down University Ave (to Sexton and back), comparing range, RSSI and SNR between the two firmware. </a:t>
            </a:r>
          </a:p>
        </p:txBody>
      </p:sp>
    </p:spTree>
    <p:extLst>
      <p:ext uri="{BB962C8B-B14F-4D97-AF65-F5344CB8AC3E}">
        <p14:creationId xmlns:p14="http://schemas.microsoft.com/office/powerpoint/2010/main" val="2875899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0AF08-C2C8-A550-BF00-AB6CFE10FAD9}"/>
              </a:ext>
            </a:extLst>
          </p:cNvPr>
          <p:cNvSpPr>
            <a:spLocks noGrp="1"/>
          </p:cNvSpPr>
          <p:nvPr>
            <p:ph type="title"/>
          </p:nvPr>
        </p:nvSpPr>
        <p:spPr/>
        <p:txBody>
          <a:bodyPr/>
          <a:lstStyle/>
          <a:p>
            <a:r>
              <a:rPr lang="en-US" dirty="0"/>
              <a:t>LoRa Settings</a:t>
            </a:r>
          </a:p>
        </p:txBody>
      </p:sp>
      <p:sp>
        <p:nvSpPr>
          <p:cNvPr id="3" name="Content Placeholder 2">
            <a:extLst>
              <a:ext uri="{FF2B5EF4-FFF2-40B4-BE49-F238E27FC236}">
                <a16:creationId xmlns:a16="http://schemas.microsoft.com/office/drawing/2014/main" id="{60401BAC-E605-332F-EDA3-10FBBE7BF2F9}"/>
              </a:ext>
            </a:extLst>
          </p:cNvPr>
          <p:cNvSpPr>
            <a:spLocks noGrp="1"/>
          </p:cNvSpPr>
          <p:nvPr>
            <p:ph idx="1"/>
          </p:nvPr>
        </p:nvSpPr>
        <p:spPr/>
        <p:txBody>
          <a:bodyPr/>
          <a:lstStyle/>
          <a:p>
            <a:r>
              <a:rPr lang="en-US" i="1" dirty="0"/>
              <a:t>All the settings below were applied on both firmware.</a:t>
            </a:r>
          </a:p>
          <a:p>
            <a:r>
              <a:rPr lang="en-US" dirty="0"/>
              <a:t>Frequency: 906.875 MHz</a:t>
            </a:r>
          </a:p>
          <a:p>
            <a:r>
              <a:rPr lang="en-US" dirty="0"/>
              <a:t>Bandwidth: 250 kHz</a:t>
            </a:r>
          </a:p>
          <a:p>
            <a:r>
              <a:rPr lang="en-US" dirty="0"/>
              <a:t>Spreading Factor: 11</a:t>
            </a:r>
          </a:p>
          <a:p>
            <a:r>
              <a:rPr lang="en-US" dirty="0"/>
              <a:t>Coding Rate: 5 (or 4/5)</a:t>
            </a:r>
          </a:p>
          <a:p>
            <a:r>
              <a:rPr lang="en-US" dirty="0"/>
              <a:t>Transmit Power: 20 dBm</a:t>
            </a:r>
          </a:p>
          <a:p>
            <a:endParaRPr lang="en-US" dirty="0"/>
          </a:p>
        </p:txBody>
      </p:sp>
    </p:spTree>
    <p:extLst>
      <p:ext uri="{BB962C8B-B14F-4D97-AF65-F5344CB8AC3E}">
        <p14:creationId xmlns:p14="http://schemas.microsoft.com/office/powerpoint/2010/main" val="9428923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44213-9805-4C65-9F04-1641014AAE6A}"/>
              </a:ext>
            </a:extLst>
          </p:cNvPr>
          <p:cNvSpPr>
            <a:spLocks noGrp="1"/>
          </p:cNvSpPr>
          <p:nvPr>
            <p:ph type="title"/>
          </p:nvPr>
        </p:nvSpPr>
        <p:spPr>
          <a:xfrm>
            <a:off x="1201284" y="443428"/>
            <a:ext cx="10515600" cy="1325563"/>
          </a:xfrm>
        </p:spPr>
        <p:txBody>
          <a:bodyPr/>
          <a:lstStyle/>
          <a:p>
            <a:r>
              <a:rPr lang="en-US" dirty="0"/>
              <a:t>Basic Firmware Comparison Test Results</a:t>
            </a:r>
          </a:p>
        </p:txBody>
      </p:sp>
      <p:pic>
        <p:nvPicPr>
          <p:cNvPr id="5" name="Picture 4">
            <a:extLst>
              <a:ext uri="{FF2B5EF4-FFF2-40B4-BE49-F238E27FC236}">
                <a16:creationId xmlns:a16="http://schemas.microsoft.com/office/drawing/2014/main" id="{C022B174-DB5F-1AF6-FCDA-EFFF8D555F86}"/>
              </a:ext>
            </a:extLst>
          </p:cNvPr>
          <p:cNvPicPr>
            <a:picLocks noChangeAspect="1"/>
          </p:cNvPicPr>
          <p:nvPr/>
        </p:nvPicPr>
        <p:blipFill>
          <a:blip r:embed="rId2"/>
          <a:stretch>
            <a:fillRect/>
          </a:stretch>
        </p:blipFill>
        <p:spPr>
          <a:xfrm>
            <a:off x="150521" y="2770625"/>
            <a:ext cx="5835752" cy="3355418"/>
          </a:xfrm>
          <a:prstGeom prst="rect">
            <a:avLst/>
          </a:prstGeom>
        </p:spPr>
      </p:pic>
      <p:pic>
        <p:nvPicPr>
          <p:cNvPr id="9" name="Picture 8">
            <a:extLst>
              <a:ext uri="{FF2B5EF4-FFF2-40B4-BE49-F238E27FC236}">
                <a16:creationId xmlns:a16="http://schemas.microsoft.com/office/drawing/2014/main" id="{3AEE4137-A786-E9B6-ACCB-4D2362AB35EB}"/>
              </a:ext>
            </a:extLst>
          </p:cNvPr>
          <p:cNvPicPr>
            <a:picLocks noChangeAspect="1"/>
          </p:cNvPicPr>
          <p:nvPr/>
        </p:nvPicPr>
        <p:blipFill>
          <a:blip r:embed="rId3"/>
          <a:stretch>
            <a:fillRect/>
          </a:stretch>
        </p:blipFill>
        <p:spPr>
          <a:xfrm>
            <a:off x="6205728" y="2770625"/>
            <a:ext cx="5835752" cy="3356679"/>
          </a:xfrm>
          <a:prstGeom prst="rect">
            <a:avLst/>
          </a:prstGeom>
        </p:spPr>
      </p:pic>
      <p:sp>
        <p:nvSpPr>
          <p:cNvPr id="11" name="TextBox 10">
            <a:extLst>
              <a:ext uri="{FF2B5EF4-FFF2-40B4-BE49-F238E27FC236}">
                <a16:creationId xmlns:a16="http://schemas.microsoft.com/office/drawing/2014/main" id="{1C8A1375-6B3D-946D-90DA-F45BF2ABF9BB}"/>
              </a:ext>
            </a:extLst>
          </p:cNvPr>
          <p:cNvSpPr txBox="1"/>
          <p:nvPr/>
        </p:nvSpPr>
        <p:spPr>
          <a:xfrm>
            <a:off x="5675280" y="1711718"/>
            <a:ext cx="1060895" cy="461665"/>
          </a:xfrm>
          <a:prstGeom prst="rect">
            <a:avLst/>
          </a:prstGeom>
          <a:noFill/>
        </p:spPr>
        <p:txBody>
          <a:bodyPr wrap="square" rtlCol="0">
            <a:spAutoFit/>
          </a:bodyPr>
          <a:lstStyle/>
          <a:p>
            <a:r>
              <a:rPr lang="en-US" sz="2400" b="1" dirty="0"/>
              <a:t>RSSI</a:t>
            </a:r>
          </a:p>
        </p:txBody>
      </p:sp>
      <p:sp>
        <p:nvSpPr>
          <p:cNvPr id="12" name="TextBox 11">
            <a:extLst>
              <a:ext uri="{FF2B5EF4-FFF2-40B4-BE49-F238E27FC236}">
                <a16:creationId xmlns:a16="http://schemas.microsoft.com/office/drawing/2014/main" id="{8C4F28CB-9DF5-4CC2-EF7A-08CFAC1F5064}"/>
              </a:ext>
            </a:extLst>
          </p:cNvPr>
          <p:cNvSpPr txBox="1"/>
          <p:nvPr/>
        </p:nvSpPr>
        <p:spPr>
          <a:xfrm>
            <a:off x="2344497" y="2173384"/>
            <a:ext cx="1447800" cy="366409"/>
          </a:xfrm>
          <a:prstGeom prst="rect">
            <a:avLst/>
          </a:prstGeom>
          <a:noFill/>
        </p:spPr>
        <p:txBody>
          <a:bodyPr wrap="square" rtlCol="0">
            <a:spAutoFit/>
          </a:bodyPr>
          <a:lstStyle/>
          <a:p>
            <a:r>
              <a:rPr lang="en-US" b="1" dirty="0"/>
              <a:t>Meshtastic</a:t>
            </a:r>
          </a:p>
        </p:txBody>
      </p:sp>
      <p:sp>
        <p:nvSpPr>
          <p:cNvPr id="13" name="TextBox 12">
            <a:extLst>
              <a:ext uri="{FF2B5EF4-FFF2-40B4-BE49-F238E27FC236}">
                <a16:creationId xmlns:a16="http://schemas.microsoft.com/office/drawing/2014/main" id="{8F782AC8-C34D-5F9B-FB7B-CCD4A8607909}"/>
              </a:ext>
            </a:extLst>
          </p:cNvPr>
          <p:cNvSpPr txBox="1"/>
          <p:nvPr/>
        </p:nvSpPr>
        <p:spPr>
          <a:xfrm>
            <a:off x="8399705" y="2173383"/>
            <a:ext cx="1447800" cy="366409"/>
          </a:xfrm>
          <a:prstGeom prst="rect">
            <a:avLst/>
          </a:prstGeom>
          <a:noFill/>
        </p:spPr>
        <p:txBody>
          <a:bodyPr wrap="square" rtlCol="0">
            <a:spAutoFit/>
          </a:bodyPr>
          <a:lstStyle/>
          <a:p>
            <a:r>
              <a:rPr lang="en-US" b="1" dirty="0"/>
              <a:t>MeshCore</a:t>
            </a:r>
          </a:p>
        </p:txBody>
      </p:sp>
    </p:spTree>
    <p:extLst>
      <p:ext uri="{BB962C8B-B14F-4D97-AF65-F5344CB8AC3E}">
        <p14:creationId xmlns:p14="http://schemas.microsoft.com/office/powerpoint/2010/main" val="32324661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A044D-1038-AFAB-D5C8-43B4BE6D02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B1E5E1-13B2-7585-7F10-C0199BD1CDA2}"/>
              </a:ext>
            </a:extLst>
          </p:cNvPr>
          <p:cNvSpPr>
            <a:spLocks noGrp="1"/>
          </p:cNvSpPr>
          <p:nvPr>
            <p:ph type="title"/>
          </p:nvPr>
        </p:nvSpPr>
        <p:spPr>
          <a:xfrm>
            <a:off x="1295576" y="532856"/>
            <a:ext cx="10515600" cy="1325563"/>
          </a:xfrm>
        </p:spPr>
        <p:txBody>
          <a:bodyPr/>
          <a:lstStyle/>
          <a:p>
            <a:r>
              <a:rPr lang="en-US" dirty="0"/>
              <a:t>Basic Firmware Comparison Test Results</a:t>
            </a:r>
          </a:p>
        </p:txBody>
      </p:sp>
      <p:sp>
        <p:nvSpPr>
          <p:cNvPr id="11" name="TextBox 10">
            <a:extLst>
              <a:ext uri="{FF2B5EF4-FFF2-40B4-BE49-F238E27FC236}">
                <a16:creationId xmlns:a16="http://schemas.microsoft.com/office/drawing/2014/main" id="{49CCAD8A-1220-ED58-5A85-F9AF4CC148DF}"/>
              </a:ext>
            </a:extLst>
          </p:cNvPr>
          <p:cNvSpPr txBox="1"/>
          <p:nvPr/>
        </p:nvSpPr>
        <p:spPr>
          <a:xfrm>
            <a:off x="5928636" y="1711718"/>
            <a:ext cx="1060895" cy="461665"/>
          </a:xfrm>
          <a:prstGeom prst="rect">
            <a:avLst/>
          </a:prstGeom>
          <a:noFill/>
        </p:spPr>
        <p:txBody>
          <a:bodyPr wrap="square" rtlCol="0">
            <a:spAutoFit/>
          </a:bodyPr>
          <a:lstStyle/>
          <a:p>
            <a:r>
              <a:rPr lang="en-US" sz="2400" b="1" dirty="0"/>
              <a:t>SNR</a:t>
            </a:r>
          </a:p>
        </p:txBody>
      </p:sp>
      <p:sp>
        <p:nvSpPr>
          <p:cNvPr id="12" name="TextBox 11">
            <a:extLst>
              <a:ext uri="{FF2B5EF4-FFF2-40B4-BE49-F238E27FC236}">
                <a16:creationId xmlns:a16="http://schemas.microsoft.com/office/drawing/2014/main" id="{040D90E2-B2C6-042A-431B-7DCB24033A35}"/>
              </a:ext>
            </a:extLst>
          </p:cNvPr>
          <p:cNvSpPr txBox="1"/>
          <p:nvPr/>
        </p:nvSpPr>
        <p:spPr>
          <a:xfrm>
            <a:off x="2544142" y="2211584"/>
            <a:ext cx="1447800" cy="366409"/>
          </a:xfrm>
          <a:prstGeom prst="rect">
            <a:avLst/>
          </a:prstGeom>
          <a:noFill/>
        </p:spPr>
        <p:txBody>
          <a:bodyPr wrap="square" rtlCol="0">
            <a:spAutoFit/>
          </a:bodyPr>
          <a:lstStyle/>
          <a:p>
            <a:r>
              <a:rPr lang="en-US" b="1" dirty="0"/>
              <a:t>Meshtastic</a:t>
            </a:r>
          </a:p>
        </p:txBody>
      </p:sp>
      <p:sp>
        <p:nvSpPr>
          <p:cNvPr id="13" name="TextBox 12">
            <a:extLst>
              <a:ext uri="{FF2B5EF4-FFF2-40B4-BE49-F238E27FC236}">
                <a16:creationId xmlns:a16="http://schemas.microsoft.com/office/drawing/2014/main" id="{68EC9623-79A8-914C-D28B-4161CCB21E68}"/>
              </a:ext>
            </a:extLst>
          </p:cNvPr>
          <p:cNvSpPr txBox="1"/>
          <p:nvPr/>
        </p:nvSpPr>
        <p:spPr>
          <a:xfrm>
            <a:off x="8625002" y="2173383"/>
            <a:ext cx="1447800" cy="366409"/>
          </a:xfrm>
          <a:prstGeom prst="rect">
            <a:avLst/>
          </a:prstGeom>
          <a:noFill/>
        </p:spPr>
        <p:txBody>
          <a:bodyPr wrap="square" rtlCol="0">
            <a:spAutoFit/>
          </a:bodyPr>
          <a:lstStyle/>
          <a:p>
            <a:r>
              <a:rPr lang="en-US" b="1" dirty="0"/>
              <a:t>MeshCore</a:t>
            </a:r>
          </a:p>
        </p:txBody>
      </p:sp>
      <p:pic>
        <p:nvPicPr>
          <p:cNvPr id="4" name="Picture 3">
            <a:extLst>
              <a:ext uri="{FF2B5EF4-FFF2-40B4-BE49-F238E27FC236}">
                <a16:creationId xmlns:a16="http://schemas.microsoft.com/office/drawing/2014/main" id="{50A25941-B6C4-3BDF-DE46-1C43696D0F73}"/>
              </a:ext>
            </a:extLst>
          </p:cNvPr>
          <p:cNvPicPr>
            <a:picLocks noChangeAspect="1"/>
          </p:cNvPicPr>
          <p:nvPr/>
        </p:nvPicPr>
        <p:blipFill>
          <a:blip r:embed="rId2"/>
          <a:stretch>
            <a:fillRect/>
          </a:stretch>
        </p:blipFill>
        <p:spPr>
          <a:xfrm>
            <a:off x="467802" y="2653379"/>
            <a:ext cx="5600480" cy="3531034"/>
          </a:xfrm>
          <a:prstGeom prst="rect">
            <a:avLst/>
          </a:prstGeom>
        </p:spPr>
      </p:pic>
      <p:pic>
        <p:nvPicPr>
          <p:cNvPr id="10" name="Picture 9">
            <a:extLst>
              <a:ext uri="{FF2B5EF4-FFF2-40B4-BE49-F238E27FC236}">
                <a16:creationId xmlns:a16="http://schemas.microsoft.com/office/drawing/2014/main" id="{61A46323-9F79-BD31-F31A-4089F32C7289}"/>
              </a:ext>
            </a:extLst>
          </p:cNvPr>
          <p:cNvPicPr>
            <a:picLocks noChangeAspect="1"/>
          </p:cNvPicPr>
          <p:nvPr/>
        </p:nvPicPr>
        <p:blipFill>
          <a:blip r:embed="rId3"/>
          <a:stretch>
            <a:fillRect/>
          </a:stretch>
        </p:blipFill>
        <p:spPr>
          <a:xfrm>
            <a:off x="6494107" y="2577993"/>
            <a:ext cx="5230091" cy="3606420"/>
          </a:xfrm>
          <a:prstGeom prst="rect">
            <a:avLst/>
          </a:prstGeom>
        </p:spPr>
      </p:pic>
    </p:spTree>
    <p:extLst>
      <p:ext uri="{BB962C8B-B14F-4D97-AF65-F5344CB8AC3E}">
        <p14:creationId xmlns:p14="http://schemas.microsoft.com/office/powerpoint/2010/main" val="24951609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4BF3B-F7C8-EDC3-737F-8196193C80FD}"/>
              </a:ext>
            </a:extLst>
          </p:cNvPr>
          <p:cNvSpPr>
            <a:spLocks noGrp="1"/>
          </p:cNvSpPr>
          <p:nvPr>
            <p:ph type="title"/>
          </p:nvPr>
        </p:nvSpPr>
        <p:spPr/>
        <p:txBody>
          <a:bodyPr/>
          <a:lstStyle/>
          <a:p>
            <a:r>
              <a:rPr lang="en-US" dirty="0"/>
              <a:t>Results</a:t>
            </a:r>
          </a:p>
        </p:txBody>
      </p:sp>
      <p:sp>
        <p:nvSpPr>
          <p:cNvPr id="3" name="Content Placeholder 2">
            <a:extLst>
              <a:ext uri="{FF2B5EF4-FFF2-40B4-BE49-F238E27FC236}">
                <a16:creationId xmlns:a16="http://schemas.microsoft.com/office/drawing/2014/main" id="{5987D275-2440-BDD3-CC79-4D0214DB4502}"/>
              </a:ext>
            </a:extLst>
          </p:cNvPr>
          <p:cNvSpPr>
            <a:spLocks noGrp="1"/>
          </p:cNvSpPr>
          <p:nvPr>
            <p:ph idx="1"/>
          </p:nvPr>
        </p:nvSpPr>
        <p:spPr>
          <a:xfrm>
            <a:off x="838200" y="1690688"/>
            <a:ext cx="10515600" cy="5032375"/>
          </a:xfrm>
        </p:spPr>
        <p:txBody>
          <a:bodyPr>
            <a:normAutofit/>
          </a:bodyPr>
          <a:lstStyle/>
          <a:p>
            <a:r>
              <a:rPr lang="en-US" dirty="0"/>
              <a:t>Comparing the two firmware, there seems to be very little difference in all metrics, including range, RSSI and SNR.</a:t>
            </a:r>
          </a:p>
          <a:p>
            <a:r>
              <a:rPr lang="en-US" dirty="0"/>
              <a:t>I believe the tests show prove enough to say that the two firmware perform similarly enough that further tests can be done under the assumption that they are equal under the same LoRa settings.</a:t>
            </a:r>
          </a:p>
          <a:p>
            <a:r>
              <a:rPr lang="en-US" dirty="0"/>
              <a:t>The bigger takeaway, however, the range of this test compared to the previous bike tests. In these tests, I switched the sender node to the </a:t>
            </a:r>
            <a:r>
              <a:rPr lang="en-CA" dirty="0"/>
              <a:t>T3 LoRa32 V1.6.1, which has a much smaller default antenna. </a:t>
            </a:r>
          </a:p>
          <a:p>
            <a:pPr lvl="1"/>
            <a:r>
              <a:rPr lang="en-CA" dirty="0"/>
              <a:t>I believe that this significant decrease in sensitivity can be attributed to the change in antenna.</a:t>
            </a:r>
          </a:p>
        </p:txBody>
      </p:sp>
    </p:spTree>
    <p:extLst>
      <p:ext uri="{BB962C8B-B14F-4D97-AF65-F5344CB8AC3E}">
        <p14:creationId xmlns:p14="http://schemas.microsoft.com/office/powerpoint/2010/main" val="21732227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A2735-BAA4-91B1-CEF6-78391823DDCC}"/>
              </a:ext>
            </a:extLst>
          </p:cNvPr>
          <p:cNvSpPr>
            <a:spLocks noGrp="1"/>
          </p:cNvSpPr>
          <p:nvPr>
            <p:ph type="title"/>
          </p:nvPr>
        </p:nvSpPr>
        <p:spPr>
          <a:xfrm>
            <a:off x="3747654" y="500062"/>
            <a:ext cx="4696691" cy="1325563"/>
          </a:xfrm>
        </p:spPr>
        <p:txBody>
          <a:bodyPr/>
          <a:lstStyle/>
          <a:p>
            <a:r>
              <a:rPr lang="en-US" dirty="0"/>
              <a:t>Range Comparison</a:t>
            </a:r>
          </a:p>
        </p:txBody>
      </p:sp>
      <p:pic>
        <p:nvPicPr>
          <p:cNvPr id="11" name="Picture 10">
            <a:extLst>
              <a:ext uri="{FF2B5EF4-FFF2-40B4-BE49-F238E27FC236}">
                <a16:creationId xmlns:a16="http://schemas.microsoft.com/office/drawing/2014/main" id="{CC668392-07A5-408B-58CD-D110AA2D7BDC}"/>
              </a:ext>
            </a:extLst>
          </p:cNvPr>
          <p:cNvPicPr>
            <a:picLocks noChangeAspect="1"/>
          </p:cNvPicPr>
          <p:nvPr/>
        </p:nvPicPr>
        <p:blipFill>
          <a:blip r:embed="rId2"/>
          <a:stretch>
            <a:fillRect/>
          </a:stretch>
        </p:blipFill>
        <p:spPr>
          <a:xfrm>
            <a:off x="476294" y="2191472"/>
            <a:ext cx="5380579" cy="4166466"/>
          </a:xfrm>
          <a:prstGeom prst="rect">
            <a:avLst/>
          </a:prstGeom>
        </p:spPr>
      </p:pic>
      <p:pic>
        <p:nvPicPr>
          <p:cNvPr id="13" name="Picture 12">
            <a:extLst>
              <a:ext uri="{FF2B5EF4-FFF2-40B4-BE49-F238E27FC236}">
                <a16:creationId xmlns:a16="http://schemas.microsoft.com/office/drawing/2014/main" id="{5561433F-9E21-BEAD-868E-262D28C94EEE}"/>
              </a:ext>
            </a:extLst>
          </p:cNvPr>
          <p:cNvPicPr>
            <a:picLocks noChangeAspect="1"/>
          </p:cNvPicPr>
          <p:nvPr/>
        </p:nvPicPr>
        <p:blipFill>
          <a:blip r:embed="rId3"/>
          <a:stretch>
            <a:fillRect/>
          </a:stretch>
        </p:blipFill>
        <p:spPr>
          <a:xfrm>
            <a:off x="6335127" y="2101635"/>
            <a:ext cx="5380579" cy="4273982"/>
          </a:xfrm>
          <a:prstGeom prst="rect">
            <a:avLst/>
          </a:prstGeom>
        </p:spPr>
      </p:pic>
      <p:sp>
        <p:nvSpPr>
          <p:cNvPr id="14" name="TextBox 13">
            <a:extLst>
              <a:ext uri="{FF2B5EF4-FFF2-40B4-BE49-F238E27FC236}">
                <a16:creationId xmlns:a16="http://schemas.microsoft.com/office/drawing/2014/main" id="{A271C6CD-CEE3-D8F5-0F2D-09C61E585E1F}"/>
              </a:ext>
            </a:extLst>
          </p:cNvPr>
          <p:cNvSpPr txBox="1"/>
          <p:nvPr/>
        </p:nvSpPr>
        <p:spPr>
          <a:xfrm>
            <a:off x="1322674" y="1778469"/>
            <a:ext cx="3687818" cy="646331"/>
          </a:xfrm>
          <a:prstGeom prst="rect">
            <a:avLst/>
          </a:prstGeom>
          <a:noFill/>
        </p:spPr>
        <p:txBody>
          <a:bodyPr wrap="square" rtlCol="0">
            <a:spAutoFit/>
          </a:bodyPr>
          <a:lstStyle/>
          <a:p>
            <a:r>
              <a:rPr lang="en-US" b="1" dirty="0"/>
              <a:t>Small Antenna - </a:t>
            </a:r>
            <a:r>
              <a:rPr lang="en-CA" b="1" dirty="0"/>
              <a:t>T3 LoRa32 V1.6.1</a:t>
            </a:r>
          </a:p>
          <a:p>
            <a:endParaRPr lang="en-US" b="1" dirty="0"/>
          </a:p>
        </p:txBody>
      </p:sp>
      <p:sp>
        <p:nvSpPr>
          <p:cNvPr id="15" name="TextBox 14">
            <a:extLst>
              <a:ext uri="{FF2B5EF4-FFF2-40B4-BE49-F238E27FC236}">
                <a16:creationId xmlns:a16="http://schemas.microsoft.com/office/drawing/2014/main" id="{BB32E32D-7858-FE5A-975C-F0A69575F960}"/>
              </a:ext>
            </a:extLst>
          </p:cNvPr>
          <p:cNvSpPr txBox="1"/>
          <p:nvPr/>
        </p:nvSpPr>
        <p:spPr>
          <a:xfrm>
            <a:off x="7435472" y="1732302"/>
            <a:ext cx="3257892" cy="369332"/>
          </a:xfrm>
          <a:prstGeom prst="rect">
            <a:avLst/>
          </a:prstGeom>
          <a:noFill/>
        </p:spPr>
        <p:txBody>
          <a:bodyPr wrap="square" rtlCol="0">
            <a:spAutoFit/>
          </a:bodyPr>
          <a:lstStyle/>
          <a:p>
            <a:r>
              <a:rPr lang="en-US" b="1" dirty="0"/>
              <a:t>Large Antenna - T-Beam V1.1</a:t>
            </a:r>
          </a:p>
        </p:txBody>
      </p:sp>
    </p:spTree>
    <p:extLst>
      <p:ext uri="{BB962C8B-B14F-4D97-AF65-F5344CB8AC3E}">
        <p14:creationId xmlns:p14="http://schemas.microsoft.com/office/powerpoint/2010/main" val="22732453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68</TotalTime>
  <Words>295</Words>
  <Application>Microsoft Macintosh PowerPoint</Application>
  <PresentationFormat>Widescreen</PresentationFormat>
  <Paragraphs>29</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Meeting – June 10</vt:lpstr>
      <vt:lpstr>Start of the Week</vt:lpstr>
      <vt:lpstr>LoRa Settings</vt:lpstr>
      <vt:lpstr>Basic Firmware Comparison Test Results</vt:lpstr>
      <vt:lpstr>Basic Firmware Comparison Test Results</vt:lpstr>
      <vt:lpstr>Results</vt:lpstr>
      <vt:lpstr>Range Comparison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Jonathan Earle</dc:creator>
  <cp:lastModifiedBy>Jonathan Earle</cp:lastModifiedBy>
  <cp:revision>12</cp:revision>
  <dcterms:created xsi:type="dcterms:W3CDTF">2026-06-05T16:01:48Z</dcterms:created>
  <dcterms:modified xsi:type="dcterms:W3CDTF">2026-06-05T17:10:18Z</dcterms:modified>
</cp:coreProperties>
</file>