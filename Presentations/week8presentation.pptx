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9" r:id="rId6"/>
    <p:sldId id="270" r:id="rId7"/>
    <p:sldId id="271" r:id="rId8"/>
    <p:sldId id="259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FBB049-10A1-0643-BA2B-23E9C2F74224}" v="14" dt="2026-07-02T16:54:13.790"/>
    <p1510:client id="{CC0111A4-FA40-D92C-FD01-742F0EBA5EB0}" v="1109" dt="2026-07-02T15:00:04.8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226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1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Jon\usra2026\data\PlexToGB\morning_5sec_to_1mi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Jon\usra2026\data\PlexToGB\morning_5sec_to_1mi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total!$A$2</c:f>
              <c:strCache>
                <c:ptCount val="1"/>
                <c:pt idx="0">
                  <c:v>DR (%)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25400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total!$B$1:$E$1</c:f>
              <c:strCache>
                <c:ptCount val="4"/>
                <c:pt idx="0">
                  <c:v>5sec</c:v>
                </c:pt>
                <c:pt idx="1">
                  <c:v>20sec</c:v>
                </c:pt>
                <c:pt idx="2">
                  <c:v>40sec</c:v>
                </c:pt>
                <c:pt idx="3">
                  <c:v>1min</c:v>
                </c:pt>
              </c:strCache>
            </c:strRef>
          </c:cat>
          <c:val>
            <c:numRef>
              <c:f>total!$B$2:$E$2</c:f>
              <c:numCache>
                <c:formatCode>General</c:formatCode>
                <c:ptCount val="4"/>
                <c:pt idx="0">
                  <c:v>74</c:v>
                </c:pt>
                <c:pt idx="1">
                  <c:v>98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73F-8C47-8AA7-7EA64FAE0C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94438288"/>
        <c:axId val="1080008896"/>
      </c:lineChart>
      <c:catAx>
        <c:axId val="594438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0008896"/>
        <c:crosses val="autoZero"/>
        <c:auto val="1"/>
        <c:lblAlgn val="ctr"/>
        <c:lblOffset val="100"/>
        <c:noMultiLvlLbl val="0"/>
      </c:catAx>
      <c:valAx>
        <c:axId val="1080008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4438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total!$A$10</c:f>
              <c:strCache>
                <c:ptCount val="1"/>
                <c:pt idx="0">
                  <c:v>ACKs received (%)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25400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total!$B$1:$E$1</c:f>
              <c:strCache>
                <c:ptCount val="4"/>
                <c:pt idx="0">
                  <c:v>5sec</c:v>
                </c:pt>
                <c:pt idx="1">
                  <c:v>20sec</c:v>
                </c:pt>
                <c:pt idx="2">
                  <c:v>40sec</c:v>
                </c:pt>
                <c:pt idx="3">
                  <c:v>1min</c:v>
                </c:pt>
              </c:strCache>
            </c:strRef>
          </c:cat>
          <c:val>
            <c:numRef>
              <c:f>total!$B$10:$E$10</c:f>
              <c:numCache>
                <c:formatCode>General</c:formatCode>
                <c:ptCount val="4"/>
                <c:pt idx="0">
                  <c:v>26</c:v>
                </c:pt>
                <c:pt idx="1">
                  <c:v>98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85D-8A45-A35D-5DAED4602D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27278240"/>
        <c:axId val="1349804160"/>
      </c:lineChart>
      <c:catAx>
        <c:axId val="20272782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9804160"/>
        <c:crosses val="autoZero"/>
        <c:auto val="1"/>
        <c:lblAlgn val="ctr"/>
        <c:lblOffset val="100"/>
        <c:noMultiLvlLbl val="0"/>
      </c:catAx>
      <c:valAx>
        <c:axId val="1349804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72782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Meeting – July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Jon Earle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6E531-D32C-3EEC-EF89-2A33D4C6A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This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3F7AA-9191-C5CB-397E-716AA813D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Link Quality Analysis</a:t>
            </a:r>
          </a:p>
          <a:p>
            <a:endParaRPr lang="en-US" dirty="0"/>
          </a:p>
          <a:p>
            <a:r>
              <a:rPr lang="en-US" dirty="0"/>
              <a:t>MeshMonitor</a:t>
            </a:r>
          </a:p>
        </p:txBody>
      </p:sp>
    </p:spTree>
    <p:extLst>
      <p:ext uri="{BB962C8B-B14F-4D97-AF65-F5344CB8AC3E}">
        <p14:creationId xmlns:p14="http://schemas.microsoft.com/office/powerpoint/2010/main" val="580079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DF448-BA51-E9E4-ABC3-F0DC3ECBA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Link Quality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1DC48-C946-8423-DD08-02C3F8E85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This week, I continued my link quality analysis testing, gathering more data on how the link quality decreases as packets are sent at a higher interval. </a:t>
            </a:r>
          </a:p>
          <a:p>
            <a:r>
              <a:rPr lang="en-US" dirty="0"/>
              <a:t>For each interval, 50 packets are sent between the Dalplex and the Goldberg. The intervals at which I am sending packets are: 5 seconds, 20 seconds, 40 seconds, 1 minute and 5 minutes.</a:t>
            </a:r>
          </a:p>
          <a:p>
            <a:r>
              <a:rPr lang="en-US" dirty="0"/>
              <a:t>A test for each interval is run at three times of day: morning, afternoon and night. </a:t>
            </a:r>
          </a:p>
          <a:p>
            <a:r>
              <a:rPr lang="en-US" dirty="0"/>
              <a:t>Although most of the tests are complete, not all tests for every time of day are complete yet. Because I had some initial issues with my scripts, the tests are taking longer than anticipated to complete.</a:t>
            </a:r>
          </a:p>
        </p:txBody>
      </p:sp>
    </p:spTree>
    <p:extLst>
      <p:ext uri="{BB962C8B-B14F-4D97-AF65-F5344CB8AC3E}">
        <p14:creationId xmlns:p14="http://schemas.microsoft.com/office/powerpoint/2010/main" val="828170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A0895-3C7E-C4BA-C335-43430541C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Data Collected This Morning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B8B9BDA-69B2-58D8-268F-7DC42CB2CE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3354579"/>
              </p:ext>
            </p:extLst>
          </p:nvPr>
        </p:nvGraphicFramePr>
        <p:xfrm>
          <a:off x="838200" y="1514899"/>
          <a:ext cx="10515600" cy="480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33430">
                  <a:extLst>
                    <a:ext uri="{9D8B030D-6E8A-4147-A177-3AD203B41FA5}">
                      <a16:colId xmlns:a16="http://schemas.microsoft.com/office/drawing/2014/main" val="643740393"/>
                    </a:ext>
                  </a:extLst>
                </a:gridCol>
                <a:gridCol w="1576434">
                  <a:extLst>
                    <a:ext uri="{9D8B030D-6E8A-4147-A177-3AD203B41FA5}">
                      <a16:colId xmlns:a16="http://schemas.microsoft.com/office/drawing/2014/main" val="2208527110"/>
                    </a:ext>
                  </a:extLst>
                </a:gridCol>
                <a:gridCol w="1576434">
                  <a:extLst>
                    <a:ext uri="{9D8B030D-6E8A-4147-A177-3AD203B41FA5}">
                      <a16:colId xmlns:a16="http://schemas.microsoft.com/office/drawing/2014/main" val="2531868468"/>
                    </a:ext>
                  </a:extLst>
                </a:gridCol>
                <a:gridCol w="1576434">
                  <a:extLst>
                    <a:ext uri="{9D8B030D-6E8A-4147-A177-3AD203B41FA5}">
                      <a16:colId xmlns:a16="http://schemas.microsoft.com/office/drawing/2014/main" val="2610639890"/>
                    </a:ext>
                  </a:extLst>
                </a:gridCol>
                <a:gridCol w="1576434">
                  <a:extLst>
                    <a:ext uri="{9D8B030D-6E8A-4147-A177-3AD203B41FA5}">
                      <a16:colId xmlns:a16="http://schemas.microsoft.com/office/drawing/2014/main" val="2274547952"/>
                    </a:ext>
                  </a:extLst>
                </a:gridCol>
                <a:gridCol w="1576434">
                  <a:extLst>
                    <a:ext uri="{9D8B030D-6E8A-4147-A177-3AD203B41FA5}">
                      <a16:colId xmlns:a16="http://schemas.microsoft.com/office/drawing/2014/main" val="581676066"/>
                    </a:ext>
                  </a:extLst>
                </a:gridCol>
              </a:tblGrid>
              <a:tr h="3431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METRIC/INTERVAL - Morning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5sec</a:t>
                      </a:r>
                      <a:endParaRPr lang="en-CA" sz="12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20sec</a:t>
                      </a:r>
                      <a:endParaRPr lang="en-CA" sz="12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40sec</a:t>
                      </a:r>
                      <a:endParaRPr lang="en-CA" sz="12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1min</a:t>
                      </a:r>
                      <a:endParaRPr lang="en-CA" sz="12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Average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335849"/>
                  </a:ext>
                </a:extLst>
              </a:tr>
              <a:tr h="3431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 dirty="0">
                          <a:effectLst/>
                        </a:rPr>
                        <a:t>DR (%)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74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98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100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100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N/A 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51655446"/>
                  </a:ext>
                </a:extLst>
              </a:tr>
              <a:tr h="3431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 dirty="0">
                          <a:effectLst/>
                        </a:rPr>
                        <a:t>latency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N/A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N/A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N/A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N/A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N/A 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14082645"/>
                  </a:ext>
                </a:extLst>
              </a:tr>
              <a:tr h="3431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 dirty="0">
                          <a:effectLst/>
                        </a:rPr>
                        <a:t>avg hops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1.97297297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1.95918367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2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1.96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1.97303916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66021729"/>
                  </a:ext>
                </a:extLst>
              </a:tr>
              <a:tr h="3431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 dirty="0">
                          <a:effectLst/>
                        </a:rPr>
                        <a:t>avg RSSI (outgoing)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-137.64865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-138.77551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-138.84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-139.12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-138.59604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70767562"/>
                  </a:ext>
                </a:extLst>
              </a:tr>
              <a:tr h="3431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 dirty="0">
                          <a:effectLst/>
                        </a:rPr>
                        <a:t>RSSI SD (outgoing)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1.90345032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1.77089086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1.3606721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5.50191061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2.63423097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53055594"/>
                  </a:ext>
                </a:extLst>
              </a:tr>
              <a:tr h="3431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 dirty="0">
                          <a:effectLst/>
                        </a:rPr>
                        <a:t>avg SNR (outgoing)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-12.797297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-13.897959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-14.09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-14.57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-13.838814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6681982"/>
                  </a:ext>
                </a:extLst>
              </a:tr>
              <a:tr h="3431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>
                          <a:effectLst/>
                        </a:rPr>
                        <a:t>SNR SD (outgoing)</a:t>
                      </a:r>
                      <a:endParaRPr lang="en-CA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1.74487129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1.51804971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1.10744236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3.74371582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2.02851979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4503140"/>
                  </a:ext>
                </a:extLst>
              </a:tr>
              <a:tr h="3431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 dirty="0">
                          <a:effectLst/>
                        </a:rPr>
                        <a:t>ACKs received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13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49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50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50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 N/A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67340586"/>
                  </a:ext>
                </a:extLst>
              </a:tr>
              <a:tr h="3431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 dirty="0">
                          <a:effectLst/>
                        </a:rPr>
                        <a:t>ACKs received (%)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26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98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100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100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 N/A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97159039"/>
                  </a:ext>
                </a:extLst>
              </a:tr>
              <a:tr h="3431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 dirty="0">
                          <a:effectLst/>
                        </a:rPr>
                        <a:t>avg RSSI (ACK)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-119.3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-121.35294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-124.62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-122.52083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-121.94844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72863984"/>
                  </a:ext>
                </a:extLst>
              </a:tr>
              <a:tr h="3431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 dirty="0">
                          <a:effectLst/>
                        </a:rPr>
                        <a:t>RSSI SD (ACK)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13.0558629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11.1728663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14.5151434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15.1825622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13.4816087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60930910"/>
                  </a:ext>
                </a:extLst>
              </a:tr>
              <a:tr h="3431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 dirty="0">
                          <a:effectLst/>
                        </a:rPr>
                        <a:t>avg SNR (ACK)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1.675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0.44607843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-2.45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-1.1197917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-0.3621783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15255637"/>
                  </a:ext>
                </a:extLst>
              </a:tr>
              <a:tr h="3431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b="1" u="none" strike="noStrike" dirty="0">
                          <a:effectLst/>
                        </a:rPr>
                        <a:t>SNR SD (ACK)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9.05691878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9.98890806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12.9188006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12.50319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11.1169543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68300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787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D6AA149-CD98-D9B3-1C6C-C32E679992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0294764"/>
              </p:ext>
            </p:extLst>
          </p:nvPr>
        </p:nvGraphicFramePr>
        <p:xfrm>
          <a:off x="643467" y="643466"/>
          <a:ext cx="10905066" cy="5571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12655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EF46E60-9674-9B4C-86D2-5A3F043CA8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8911084"/>
              </p:ext>
            </p:extLst>
          </p:nvPr>
        </p:nvGraphicFramePr>
        <p:xfrm>
          <a:off x="643467" y="643466"/>
          <a:ext cx="10905066" cy="5571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00875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B6D90-7379-BA36-E541-3BDB3016F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Morning Data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B502A-AAE4-3EF4-52F3-7680610F4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last week’s testing:</a:t>
            </a:r>
          </a:p>
          <a:p>
            <a:pPr lvl="1"/>
            <a:r>
              <a:rPr lang="en-US" dirty="0"/>
              <a:t>Delivery rate for both the 5 second and 1-minute intervals are up 48% from last week</a:t>
            </a:r>
          </a:p>
          <a:p>
            <a:pPr lvl="1"/>
            <a:r>
              <a:rPr lang="en-US" dirty="0"/>
              <a:t>ACKs received for the 5 second interval are identical to last week but are up 9% for the 1-minute interval.</a:t>
            </a:r>
          </a:p>
          <a:p>
            <a:pPr lvl="1"/>
            <a:r>
              <a:rPr lang="en-US" dirty="0"/>
              <a:t>The delivery rate for the receiver node at the Dalplex has increased drastically, while the number of ACKs being received by the sender node in the Goldberg is relatively similar.</a:t>
            </a:r>
          </a:p>
          <a:p>
            <a:pPr lvl="2"/>
            <a:r>
              <a:rPr lang="en-US" dirty="0"/>
              <a:t>What would cause this? Potentially a previous issue with the script now solved?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389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04995-6A41-316C-E7B7-0A682B11A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MeshMonitor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361D0-C924-45D4-2CC6-68581F5BF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running the link quality tests, I focused my attention on other items, most notably, I focused my attention on implementing a community tool called MeshMonitor into the campus mesh.</a:t>
            </a:r>
          </a:p>
          <a:p>
            <a:r>
              <a:rPr lang="en-US" dirty="0"/>
              <a:t>MeshMonitor is a web app used for the remote monitoring and administration of various kinds of LoRa mesh technology, including both Meshtastic and MeshCore.</a:t>
            </a:r>
          </a:p>
          <a:p>
            <a:r>
              <a:rPr lang="en-US" dirty="0"/>
              <a:t>Currently, I have MeshMonitor working on my lab desktop, attached to a smaller LILYGO LoRa32 device, which has access to the mesh through the T-Beam set up in Goldberg Room 211.</a:t>
            </a:r>
          </a:p>
        </p:txBody>
      </p:sp>
    </p:spTree>
    <p:extLst>
      <p:ext uri="{BB962C8B-B14F-4D97-AF65-F5344CB8AC3E}">
        <p14:creationId xmlns:p14="http://schemas.microsoft.com/office/powerpoint/2010/main" val="3922687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7F83A-556B-45F5-58EA-5F6E8166A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MeshMonitor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A6DA-BE16-C1FB-708B-6794F4E3D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/>
              <a:t>MeshMonitor is a fantastic, highly useful tool, with a variety of features that significantly improve quality of life.</a:t>
            </a:r>
          </a:p>
          <a:p>
            <a:r>
              <a:rPr lang="en-US" dirty="0"/>
              <a:t>MeshMonitor has a dashboard that visualizes absolutely every metric provided through local telemetry. This includes: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Packets TX/RX/TX relayed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Nodes by hardware model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Radio statistics (% of good, bad, duplicate packets)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Voltage + Battery Life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i="1" dirty="0"/>
              <a:t>And more!</a:t>
            </a:r>
          </a:p>
          <a:p>
            <a:r>
              <a:rPr lang="en-US" dirty="0"/>
              <a:t>There is also a dedicated telemetry dashboard which shows: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Node Status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Hop and distance distribution/heatmap across all nodes in the DB, color coded by SNR</a:t>
            </a:r>
          </a:p>
          <a:p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03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05F74-63FB-93E7-C932-E19A2B57C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MeshMonitor</a:t>
            </a:r>
            <a:r>
              <a:rPr lang="en-US"/>
              <a:t>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B7359-78A5-DAE8-6FE2-5584998C7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err="1"/>
              <a:t>MeshMonitor</a:t>
            </a:r>
            <a:r>
              <a:rPr lang="en-US"/>
              <a:t> has a dedicated page for administrative commands, allowing the user to remotely change the settings of any device they have access to without using the terminal.</a:t>
            </a:r>
          </a:p>
          <a:p>
            <a:r>
              <a:rPr lang="en-US"/>
              <a:t>Additionally, </a:t>
            </a:r>
            <a:r>
              <a:rPr lang="en-US" err="1"/>
              <a:t>MeshMonitor</a:t>
            </a:r>
            <a:r>
              <a:rPr lang="en-US"/>
              <a:t> has a security page, where </a:t>
            </a:r>
            <a:r>
              <a:rPr lang="en-US" err="1"/>
              <a:t>MeshMonitor</a:t>
            </a:r>
            <a:r>
              <a:rPr lang="en-US"/>
              <a:t> will scan the node DB for known low-entropy or duplicate keys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The issues causing low-entropy and duplicate keys have been patched.</a:t>
            </a:r>
          </a:p>
          <a:p>
            <a:r>
              <a:rPr lang="en-US" err="1"/>
              <a:t>MeshMonitor</a:t>
            </a:r>
            <a:r>
              <a:rPr lang="en-US"/>
              <a:t> supports automation tasks including: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Auto Welcome, Traceroute, </a:t>
            </a:r>
            <a:r>
              <a:rPr lang="en-US" b="1"/>
              <a:t>send </a:t>
            </a:r>
            <a:r>
              <a:rPr lang="en-US" b="1" err="1"/>
              <a:t>LocalStats</a:t>
            </a:r>
            <a:endParaRPr lang="en-US" b="1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Remote admin scanner</a:t>
            </a:r>
          </a:p>
          <a:p>
            <a:r>
              <a:rPr lang="en-US" err="1"/>
              <a:t>MeshMonitor</a:t>
            </a:r>
            <a:r>
              <a:rPr lang="en-US"/>
              <a:t> stores all packet/node data locally in a SQLite DB.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2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map of a city&#10;&#10;AI-generated content may be incorrect.">
            <a:extLst>
              <a:ext uri="{FF2B5EF4-FFF2-40B4-BE49-F238E27FC236}">
                <a16:creationId xmlns:a16="http://schemas.microsoft.com/office/drawing/2014/main" id="{1F7765E2-7535-6D93-45A9-922E991564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7538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783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5F15E2-F62B-709A-5E04-5C97604002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7538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221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527A5B9-7D10-9AEC-3C31-1A1DE6E95D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538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859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D7EC94-2ADE-AFB9-FDBB-8C7090767D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734" r="380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600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ECBA5-AFCF-D66D-FDF8-FBCAA70E6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90BBC96-1B26-64FD-DF70-B5BE18F799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508000" y="3125"/>
            <a:ext cx="13208000" cy="685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63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2F230-7791-9B78-35C7-C8EE2D351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99743D-4AAC-7D4E-AAEA-1E0B54B40C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522513" y="3126"/>
            <a:ext cx="13229770" cy="68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464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333</TotalTime>
  <Words>696</Words>
  <Application>Microsoft Macintosh PowerPoint</Application>
  <PresentationFormat>Widescreen</PresentationFormat>
  <Paragraphs>128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Aptos Narrow</vt:lpstr>
      <vt:lpstr>Arial</vt:lpstr>
      <vt:lpstr>Courier New</vt:lpstr>
      <vt:lpstr>office theme</vt:lpstr>
      <vt:lpstr>Meeting – July 2</vt:lpstr>
      <vt:lpstr>This Week</vt:lpstr>
      <vt:lpstr>Link Quality Analysis</vt:lpstr>
      <vt:lpstr>From Data Collected This Morning</vt:lpstr>
      <vt:lpstr>PowerPoint Presentation</vt:lpstr>
      <vt:lpstr>PowerPoint Presentation</vt:lpstr>
      <vt:lpstr>Morning Data cont.</vt:lpstr>
      <vt:lpstr>MeshMonitor</vt:lpstr>
      <vt:lpstr>MeshMonitor cont.</vt:lpstr>
      <vt:lpstr>MeshMonitor cont.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Jonathan Earle</cp:lastModifiedBy>
  <cp:revision>23</cp:revision>
  <dcterms:created xsi:type="dcterms:W3CDTF">2026-06-30T14:20:13Z</dcterms:created>
  <dcterms:modified xsi:type="dcterms:W3CDTF">2026-08-04T15:07:31Z</dcterms:modified>
</cp:coreProperties>
</file>