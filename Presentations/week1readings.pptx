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0" r:id="rId1"/>
  </p:sldMasterIdLst>
  <p:notesMasterIdLst>
    <p:notesMasterId r:id="rId27"/>
  </p:notesMasterIdLst>
  <p:sldIdLst>
    <p:sldId id="256" r:id="rId2"/>
    <p:sldId id="264" r:id="rId3"/>
    <p:sldId id="257" r:id="rId4"/>
    <p:sldId id="276" r:id="rId5"/>
    <p:sldId id="275" r:id="rId6"/>
    <p:sldId id="261" r:id="rId7"/>
    <p:sldId id="262" r:id="rId8"/>
    <p:sldId id="258" r:id="rId9"/>
    <p:sldId id="259" r:id="rId10"/>
    <p:sldId id="260" r:id="rId11"/>
    <p:sldId id="271" r:id="rId12"/>
    <p:sldId id="272" r:id="rId13"/>
    <p:sldId id="274" r:id="rId14"/>
    <p:sldId id="273" r:id="rId15"/>
    <p:sldId id="277" r:id="rId16"/>
    <p:sldId id="278" r:id="rId17"/>
    <p:sldId id="279" r:id="rId18"/>
    <p:sldId id="263" r:id="rId19"/>
    <p:sldId id="265" r:id="rId20"/>
    <p:sldId id="270" r:id="rId21"/>
    <p:sldId id="266" r:id="rId22"/>
    <p:sldId id="267" r:id="rId23"/>
    <p:sldId id="268" r:id="rId24"/>
    <p:sldId id="269" r:id="rId25"/>
    <p:sldId id="280"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078"/>
    <p:restoredTop sz="71275"/>
  </p:normalViewPr>
  <p:slideViewPr>
    <p:cSldViewPr snapToGrid="0">
      <p:cViewPr>
        <p:scale>
          <a:sx n="44" d="100"/>
          <a:sy n="44" d="100"/>
        </p:scale>
        <p:origin x="3296" y="10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9BB860-5E90-4B47-A2BB-8BEB361F9A4E}" type="datetimeFigureOut">
              <a:rPr lang="en-US" smtClean="0"/>
              <a:t>5/19/26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753925-02D2-5745-BCE6-069A285A2A4E}" type="slidenum">
              <a:rPr lang="en-US" smtClean="0"/>
              <a:t>‹#›</a:t>
            </a:fld>
            <a:endParaRPr lang="en-US"/>
          </a:p>
        </p:txBody>
      </p:sp>
    </p:spTree>
    <p:extLst>
      <p:ext uri="{BB962C8B-B14F-4D97-AF65-F5344CB8AC3E}">
        <p14:creationId xmlns:p14="http://schemas.microsoft.com/office/powerpoint/2010/main" val="22796211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A mesh network is effectively a decentralized network where nodes connect to as many other nodes as possible to efficiently send data</a:t>
            </a:r>
          </a:p>
          <a:p>
            <a:pPr marL="171450" indent="-171450">
              <a:buFontTx/>
              <a:buChar char="-"/>
            </a:pPr>
            <a:r>
              <a:rPr lang="en-US" dirty="0"/>
              <a:t>LoRa is a wireless radio technology which is designed for long range communication and low power consumption</a:t>
            </a:r>
          </a:p>
          <a:p>
            <a:pPr marL="628650" lvl="1" indent="-171450">
              <a:buFontTx/>
              <a:buChar char="-"/>
            </a:pPr>
            <a:r>
              <a:rPr lang="en-US" dirty="0"/>
              <a:t>It is for this reason that LoRa is good for IoT devices</a:t>
            </a:r>
          </a:p>
        </p:txBody>
      </p:sp>
      <p:sp>
        <p:nvSpPr>
          <p:cNvPr id="4" name="Slide Number Placeholder 3"/>
          <p:cNvSpPr>
            <a:spLocks noGrp="1"/>
          </p:cNvSpPr>
          <p:nvPr>
            <p:ph type="sldNum" sz="quarter" idx="5"/>
          </p:nvPr>
        </p:nvSpPr>
        <p:spPr/>
        <p:txBody>
          <a:bodyPr/>
          <a:lstStyle/>
          <a:p>
            <a:fld id="{96753925-02D2-5745-BCE6-069A285A2A4E}" type="slidenum">
              <a:rPr lang="en-US" smtClean="0"/>
              <a:t>3</a:t>
            </a:fld>
            <a:endParaRPr lang="en-US"/>
          </a:p>
        </p:txBody>
      </p:sp>
    </p:spTree>
    <p:extLst>
      <p:ext uri="{BB962C8B-B14F-4D97-AF65-F5344CB8AC3E}">
        <p14:creationId xmlns:p14="http://schemas.microsoft.com/office/powerpoint/2010/main" val="6483808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Programs like Meshtastic and </a:t>
            </a:r>
            <a:r>
              <a:rPr lang="en-US" dirty="0" err="1"/>
              <a:t>meshcore</a:t>
            </a:r>
            <a:r>
              <a:rPr lang="en-US" dirty="0"/>
              <a:t> use LoRa to create a mesh network. This established long range communication between devices without the use of </a:t>
            </a:r>
            <a:r>
              <a:rPr lang="en-US" dirty="0" err="1"/>
              <a:t>WiFi</a:t>
            </a:r>
            <a:r>
              <a:rPr lang="en-US" dirty="0"/>
              <a:t> or Cellular data</a:t>
            </a:r>
          </a:p>
          <a:p>
            <a:pPr marL="171450" indent="-171450">
              <a:buFontTx/>
              <a:buChar char="-"/>
            </a:pPr>
            <a:r>
              <a:rPr lang="en-US" dirty="0"/>
              <a:t>Hobbyists love LoRa mesh technology because it does not require any certification</a:t>
            </a:r>
          </a:p>
          <a:p>
            <a:pPr marL="171450" indent="-171450">
              <a:buFontTx/>
              <a:buChar char="-"/>
            </a:pPr>
            <a:r>
              <a:rPr lang="en-US" dirty="0"/>
              <a:t>One of the most appealing use cases for LoRa meshes is a failsafe for </a:t>
            </a:r>
            <a:r>
              <a:rPr lang="en-US" dirty="0" err="1"/>
              <a:t>WiFi</a:t>
            </a:r>
            <a:r>
              <a:rPr lang="en-US" dirty="0"/>
              <a:t> and cellular in the case of an emergency, </a:t>
            </a:r>
            <a:r>
              <a:rPr lang="en-US" dirty="0" err="1"/>
              <a:t>likfe</a:t>
            </a:r>
            <a:r>
              <a:rPr lang="en-US" dirty="0"/>
              <a:t> natural disaster</a:t>
            </a:r>
          </a:p>
          <a:p>
            <a:pPr marL="171450" indent="-171450">
              <a:buFontTx/>
              <a:buChar char="-"/>
            </a:pPr>
            <a:r>
              <a:rPr lang="en-US" dirty="0"/>
              <a:t>It is also good for communication with others while ’off-grid’</a:t>
            </a:r>
          </a:p>
        </p:txBody>
      </p:sp>
      <p:sp>
        <p:nvSpPr>
          <p:cNvPr id="4" name="Slide Number Placeholder 3"/>
          <p:cNvSpPr>
            <a:spLocks noGrp="1"/>
          </p:cNvSpPr>
          <p:nvPr>
            <p:ph type="sldNum" sz="quarter" idx="5"/>
          </p:nvPr>
        </p:nvSpPr>
        <p:spPr/>
        <p:txBody>
          <a:bodyPr/>
          <a:lstStyle/>
          <a:p>
            <a:fld id="{96753925-02D2-5745-BCE6-069A285A2A4E}" type="slidenum">
              <a:rPr lang="en-US" smtClean="0"/>
              <a:t>6</a:t>
            </a:fld>
            <a:endParaRPr lang="en-US"/>
          </a:p>
        </p:txBody>
      </p:sp>
    </p:spTree>
    <p:extLst>
      <p:ext uri="{BB962C8B-B14F-4D97-AF65-F5344CB8AC3E}">
        <p14:creationId xmlns:p14="http://schemas.microsoft.com/office/powerpoint/2010/main" val="9994090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The two main LoRa mesh ecosystems are Meshtastic and MeshCore</a:t>
            </a:r>
          </a:p>
          <a:p>
            <a:pPr marL="171450" indent="-171450">
              <a:buFontTx/>
              <a:buChar char="-"/>
            </a:pPr>
            <a:r>
              <a:rPr lang="en-US" dirty="0"/>
              <a:t>The two ecosystems do effectively the same thing, but they differ in architecture</a:t>
            </a:r>
          </a:p>
          <a:p>
            <a:pPr marL="171450" indent="-171450">
              <a:buFontTx/>
              <a:buChar char="-"/>
            </a:pPr>
            <a:r>
              <a:rPr lang="en-US" dirty="0"/>
              <a:t>Meshtastic uses a flood routing system to communicate, while MeshCore uses a more robust role-based multi-hop routing design. I will explain these more later</a:t>
            </a:r>
          </a:p>
          <a:p>
            <a:pPr marL="171450" indent="-171450">
              <a:buFontTx/>
              <a:buChar char="-"/>
            </a:pPr>
            <a:r>
              <a:rPr lang="en-US" dirty="0"/>
              <a:t>Each has its advantages depending on the use case</a:t>
            </a:r>
          </a:p>
        </p:txBody>
      </p:sp>
      <p:sp>
        <p:nvSpPr>
          <p:cNvPr id="4" name="Slide Number Placeholder 3"/>
          <p:cNvSpPr>
            <a:spLocks noGrp="1"/>
          </p:cNvSpPr>
          <p:nvPr>
            <p:ph type="sldNum" sz="quarter" idx="5"/>
          </p:nvPr>
        </p:nvSpPr>
        <p:spPr/>
        <p:txBody>
          <a:bodyPr/>
          <a:lstStyle/>
          <a:p>
            <a:fld id="{96753925-02D2-5745-BCE6-069A285A2A4E}" type="slidenum">
              <a:rPr lang="en-US" smtClean="0"/>
              <a:t>7</a:t>
            </a:fld>
            <a:endParaRPr lang="en-US"/>
          </a:p>
        </p:txBody>
      </p:sp>
    </p:spTree>
    <p:extLst>
      <p:ext uri="{BB962C8B-B14F-4D97-AF65-F5344CB8AC3E}">
        <p14:creationId xmlns:p14="http://schemas.microsoft.com/office/powerpoint/2010/main" val="34671630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Everything here we went over</a:t>
            </a:r>
          </a:p>
          <a:p>
            <a:r>
              <a:rPr lang="en-US" dirty="0"/>
              <a:t>- Because Meshtastic is older, it generally has a larger community and thus more support for different devices</a:t>
            </a:r>
          </a:p>
        </p:txBody>
      </p:sp>
      <p:sp>
        <p:nvSpPr>
          <p:cNvPr id="4" name="Slide Number Placeholder 3"/>
          <p:cNvSpPr>
            <a:spLocks noGrp="1"/>
          </p:cNvSpPr>
          <p:nvPr>
            <p:ph type="sldNum" sz="quarter" idx="5"/>
          </p:nvPr>
        </p:nvSpPr>
        <p:spPr/>
        <p:txBody>
          <a:bodyPr/>
          <a:lstStyle/>
          <a:p>
            <a:fld id="{96753925-02D2-5745-BCE6-069A285A2A4E}" type="slidenum">
              <a:rPr lang="en-US" smtClean="0"/>
              <a:t>8</a:t>
            </a:fld>
            <a:endParaRPr lang="en-US"/>
          </a:p>
        </p:txBody>
      </p:sp>
    </p:spTree>
    <p:extLst>
      <p:ext uri="{BB962C8B-B14F-4D97-AF65-F5344CB8AC3E}">
        <p14:creationId xmlns:p14="http://schemas.microsoft.com/office/powerpoint/2010/main" val="26152788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Again, Meshtastic uses ‘managed flooding’</a:t>
            </a:r>
          </a:p>
          <a:p>
            <a:pPr marL="171450" indent="-171450">
              <a:buFontTx/>
              <a:buChar char="-"/>
            </a:pPr>
            <a:r>
              <a:rPr lang="en-US" dirty="0"/>
              <a:t>Managed flooding is a routing method where if a node hears a packet, it will automatically rebroadcast it either until:</a:t>
            </a:r>
          </a:p>
          <a:p>
            <a:pPr marL="628650" lvl="1" indent="-171450">
              <a:buFontTx/>
              <a:buChar char="-"/>
            </a:pPr>
            <a:r>
              <a:rPr lang="en-US" dirty="0"/>
              <a:t>The max hop count has been reached</a:t>
            </a:r>
          </a:p>
          <a:p>
            <a:pPr marL="628650" lvl="1" indent="-171450">
              <a:buFontTx/>
              <a:buChar char="-"/>
            </a:pPr>
            <a:r>
              <a:rPr lang="en-US" dirty="0"/>
              <a:t>The node has already been seen by the packet</a:t>
            </a:r>
          </a:p>
          <a:p>
            <a:pPr marL="171450" lvl="0" indent="-171450">
              <a:buFontTx/>
              <a:buChar char="-"/>
            </a:pPr>
            <a:r>
              <a:rPr lang="en-US" dirty="0"/>
              <a:t>With flooding, every node is both a sender and receiver. Every node is (in Meshtastic, almost) equal</a:t>
            </a:r>
          </a:p>
          <a:p>
            <a:pPr marL="171450" lvl="0" indent="-171450">
              <a:buFontTx/>
              <a:buChar char="-"/>
            </a:pPr>
            <a:r>
              <a:rPr lang="en-US" dirty="0"/>
              <a:t>It is also important note that Meshtastic prioritizes nodes that are further away </a:t>
            </a:r>
            <a:r>
              <a:rPr lang="en-US" dirty="0" err="1"/>
              <a:t>bu</a:t>
            </a:r>
            <a:r>
              <a:rPr lang="en-US" dirty="0"/>
              <a:t> making nodes with lower signal-to-noise ratio rebroadcast first to extend range.</a:t>
            </a:r>
          </a:p>
        </p:txBody>
      </p:sp>
      <p:sp>
        <p:nvSpPr>
          <p:cNvPr id="4" name="Slide Number Placeholder 3"/>
          <p:cNvSpPr>
            <a:spLocks noGrp="1"/>
          </p:cNvSpPr>
          <p:nvPr>
            <p:ph type="sldNum" sz="quarter" idx="5"/>
          </p:nvPr>
        </p:nvSpPr>
        <p:spPr/>
        <p:txBody>
          <a:bodyPr/>
          <a:lstStyle/>
          <a:p>
            <a:fld id="{96753925-02D2-5745-BCE6-069A285A2A4E}" type="slidenum">
              <a:rPr lang="en-US" smtClean="0"/>
              <a:t>9</a:t>
            </a:fld>
            <a:endParaRPr lang="en-US"/>
          </a:p>
        </p:txBody>
      </p:sp>
    </p:spTree>
    <p:extLst>
      <p:ext uri="{BB962C8B-B14F-4D97-AF65-F5344CB8AC3E}">
        <p14:creationId xmlns:p14="http://schemas.microsoft.com/office/powerpoint/2010/main" val="33239886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171450" indent="-171450">
              <a:buFontTx/>
              <a:buChar char="-"/>
            </a:pPr>
            <a:r>
              <a:rPr lang="en-US" dirty="0"/>
              <a:t>The only exception to managed flooding with Meshtastic is with direct messaging.</a:t>
            </a:r>
          </a:p>
          <a:p>
            <a:pPr marL="171450" indent="-171450">
              <a:buFontTx/>
              <a:buChar char="-"/>
            </a:pPr>
            <a:r>
              <a:rPr lang="en-US" dirty="0"/>
              <a:t>With DMs, the first message will flood. The receiving node will respond with an </a:t>
            </a:r>
            <a:r>
              <a:rPr lang="en-US" dirty="0" err="1"/>
              <a:t>ACKnowledgement</a:t>
            </a:r>
            <a:r>
              <a:rPr lang="en-US" dirty="0"/>
              <a:t> message, which includes logs showing which nodes relayed the packet. The device will now save the path, marking these nodes as next-hop and removing the need for more flooding.</a:t>
            </a:r>
          </a:p>
        </p:txBody>
      </p:sp>
      <p:sp>
        <p:nvSpPr>
          <p:cNvPr id="4" name="Slide Number Placeholder 3"/>
          <p:cNvSpPr>
            <a:spLocks noGrp="1"/>
          </p:cNvSpPr>
          <p:nvPr>
            <p:ph type="sldNum" sz="quarter" idx="5"/>
          </p:nvPr>
        </p:nvSpPr>
        <p:spPr/>
        <p:txBody>
          <a:bodyPr/>
          <a:lstStyle/>
          <a:p>
            <a:fld id="{96753925-02D2-5745-BCE6-069A285A2A4E}" type="slidenum">
              <a:rPr lang="en-US" smtClean="0"/>
              <a:t>10</a:t>
            </a:fld>
            <a:endParaRPr lang="en-US"/>
          </a:p>
        </p:txBody>
      </p:sp>
    </p:spTree>
    <p:extLst>
      <p:ext uri="{BB962C8B-B14F-4D97-AF65-F5344CB8AC3E}">
        <p14:creationId xmlns:p14="http://schemas.microsoft.com/office/powerpoint/2010/main" val="7024001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Meshtastic provides plenty of LoRa configuration settings to fine tune performance</a:t>
            </a:r>
          </a:p>
          <a:p>
            <a:pPr marL="171450" indent="-171450">
              <a:buFontTx/>
              <a:buChar char="-"/>
            </a:pPr>
            <a:r>
              <a:rPr lang="en-US" dirty="0"/>
              <a:t>It is important to make sure that the region and modem presets between nodes are the same or else communication will not work</a:t>
            </a:r>
          </a:p>
        </p:txBody>
      </p:sp>
      <p:sp>
        <p:nvSpPr>
          <p:cNvPr id="4" name="Slide Number Placeholder 3"/>
          <p:cNvSpPr>
            <a:spLocks noGrp="1"/>
          </p:cNvSpPr>
          <p:nvPr>
            <p:ph type="sldNum" sz="quarter" idx="5"/>
          </p:nvPr>
        </p:nvSpPr>
        <p:spPr/>
        <p:txBody>
          <a:bodyPr/>
          <a:lstStyle/>
          <a:p>
            <a:fld id="{96753925-02D2-5745-BCE6-069A285A2A4E}" type="slidenum">
              <a:rPr lang="en-US" smtClean="0"/>
              <a:t>11</a:t>
            </a:fld>
            <a:endParaRPr lang="en-US"/>
          </a:p>
        </p:txBody>
      </p:sp>
    </p:spTree>
    <p:extLst>
      <p:ext uri="{BB962C8B-B14F-4D97-AF65-F5344CB8AC3E}">
        <p14:creationId xmlns:p14="http://schemas.microsoft.com/office/powerpoint/2010/main" val="30472187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Like I said before, MeshCore is just like Meshtastic in its function, but differs in architecture</a:t>
            </a:r>
          </a:p>
          <a:p>
            <a:pPr marL="171450" indent="-171450">
              <a:buFontTx/>
              <a:buChar char="-"/>
            </a:pPr>
            <a:r>
              <a:rPr lang="en-US" dirty="0"/>
              <a:t>Very similarly to Meshtastic, it uses next-hop routing (like Meshtastic DMs) for direct messages and flood routing for group and public messages</a:t>
            </a:r>
          </a:p>
          <a:p>
            <a:pPr marL="171450" indent="-171450">
              <a:buFontTx/>
              <a:buChar char="-"/>
            </a:pPr>
            <a:r>
              <a:rPr lang="en-US" dirty="0"/>
              <a:t>The main difference is in the roles. With Meshtastic, EVERY node will rebroadcast messages across the mesh. With MeshCore, not every node will rebroadcast – only repeater nodes will rebroadcast.</a:t>
            </a:r>
          </a:p>
          <a:p>
            <a:pPr marL="171450" indent="-171450">
              <a:buFontTx/>
              <a:buChar char="-"/>
            </a:pPr>
            <a:r>
              <a:rPr lang="en-US" dirty="0"/>
              <a:t>This prevents wasted airtime and communication, but makes MeshCore more reliant on infrastructure</a:t>
            </a:r>
          </a:p>
          <a:p>
            <a:pPr marL="171450" indent="-171450">
              <a:buFontTx/>
              <a:buChar char="-"/>
            </a:pPr>
            <a:endParaRPr lang="en-US" dirty="0"/>
          </a:p>
          <a:p>
            <a:pPr marL="171450" indent="-171450">
              <a:buFontTx/>
              <a:buChar char="-"/>
            </a:pPr>
            <a:endParaRPr lang="en-US" dirty="0"/>
          </a:p>
        </p:txBody>
      </p:sp>
      <p:sp>
        <p:nvSpPr>
          <p:cNvPr id="4" name="Slide Number Placeholder 3"/>
          <p:cNvSpPr>
            <a:spLocks noGrp="1"/>
          </p:cNvSpPr>
          <p:nvPr>
            <p:ph type="sldNum" sz="quarter" idx="5"/>
          </p:nvPr>
        </p:nvSpPr>
        <p:spPr/>
        <p:txBody>
          <a:bodyPr/>
          <a:lstStyle/>
          <a:p>
            <a:fld id="{96753925-02D2-5745-BCE6-069A285A2A4E}" type="slidenum">
              <a:rPr lang="en-US" smtClean="0"/>
              <a:t>12</a:t>
            </a:fld>
            <a:endParaRPr lang="en-US"/>
          </a:p>
        </p:txBody>
      </p:sp>
    </p:spTree>
    <p:extLst>
      <p:ext uri="{BB962C8B-B14F-4D97-AF65-F5344CB8AC3E}">
        <p14:creationId xmlns:p14="http://schemas.microsoft.com/office/powerpoint/2010/main" val="8016101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As stated previously, MeshCore requires each device to have a role, those being companions, repeaters and room server</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Companion devices connect to your phone and are used to send and receive messages. Repeater devices’ main purpose is to rebroadcast packets.</a:t>
            </a:r>
          </a:p>
          <a:p>
            <a:pPr marL="171450" indent="-171450">
              <a:buFontTx/>
              <a:buChar char="-"/>
            </a:pPr>
            <a:r>
              <a:rPr lang="en-US" dirty="0"/>
              <a:t>One downside to next-hop routing and path learning is that is a repeater is moved, the route will break and will have to be relearned. This makes Meshtastic better for communication between people constantly moving around off the grid.</a:t>
            </a:r>
          </a:p>
        </p:txBody>
      </p:sp>
      <p:sp>
        <p:nvSpPr>
          <p:cNvPr id="4" name="Slide Number Placeholder 3"/>
          <p:cNvSpPr>
            <a:spLocks noGrp="1"/>
          </p:cNvSpPr>
          <p:nvPr>
            <p:ph type="sldNum" sz="quarter" idx="5"/>
          </p:nvPr>
        </p:nvSpPr>
        <p:spPr/>
        <p:txBody>
          <a:bodyPr/>
          <a:lstStyle/>
          <a:p>
            <a:fld id="{96753925-02D2-5745-BCE6-069A285A2A4E}" type="slidenum">
              <a:rPr lang="en-US" smtClean="0"/>
              <a:t>13</a:t>
            </a:fld>
            <a:endParaRPr lang="en-US"/>
          </a:p>
        </p:txBody>
      </p:sp>
    </p:spTree>
    <p:extLst>
      <p:ext uri="{BB962C8B-B14F-4D97-AF65-F5344CB8AC3E}">
        <p14:creationId xmlns:p14="http://schemas.microsoft.com/office/powerpoint/2010/main" val="12592067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As hop count increases, managed flooding becomes highly airtime intensive. More nodes rebroadcasting results in more redundant transmissions</a:t>
            </a:r>
          </a:p>
          <a:p>
            <a:pPr marL="171450" indent="-171450">
              <a:buFontTx/>
              <a:buChar char="-"/>
            </a:pPr>
            <a:r>
              <a:rPr lang="en-US" dirty="0"/>
              <a:t>Thus, Meshtastic has its max hops set to 7 while MeshCore is at 64. This allows for longer potential routed</a:t>
            </a:r>
          </a:p>
          <a:p>
            <a:pPr marL="171450" indent="-171450">
              <a:buFontTx/>
              <a:buChar char="-"/>
            </a:pPr>
            <a:r>
              <a:rPr lang="en-US" dirty="0"/>
              <a:t>As stated previously, Meshtastic nodes can move around and performance stay the same. MeshCore cannot do this, as moving repeaters will break routes</a:t>
            </a:r>
          </a:p>
          <a:p>
            <a:pPr marL="171450" indent="-171450">
              <a:buFontTx/>
              <a:buChar char="-"/>
            </a:pPr>
            <a:r>
              <a:rPr lang="en-US" dirty="0"/>
              <a:t>Additionally, Meshtastic has more supported hardware, docs and telemetry</a:t>
            </a:r>
          </a:p>
          <a:p>
            <a:pPr marL="171450" indent="-171450">
              <a:buFontTx/>
              <a:buChar char="-"/>
            </a:pPr>
            <a:r>
              <a:rPr lang="en-US" dirty="0"/>
              <a:t>Meshtastic is simple, versatile and best for mobile, group, off-grid communication. MeshCore is best for stationary meshes focused on optimizing performance</a:t>
            </a:r>
          </a:p>
        </p:txBody>
      </p:sp>
      <p:sp>
        <p:nvSpPr>
          <p:cNvPr id="4" name="Slide Number Placeholder 3"/>
          <p:cNvSpPr>
            <a:spLocks noGrp="1"/>
          </p:cNvSpPr>
          <p:nvPr>
            <p:ph type="sldNum" sz="quarter" idx="5"/>
          </p:nvPr>
        </p:nvSpPr>
        <p:spPr/>
        <p:txBody>
          <a:bodyPr/>
          <a:lstStyle/>
          <a:p>
            <a:fld id="{96753925-02D2-5745-BCE6-069A285A2A4E}" type="slidenum">
              <a:rPr lang="en-US" smtClean="0"/>
              <a:t>14</a:t>
            </a:fld>
            <a:endParaRPr lang="en-US"/>
          </a:p>
        </p:txBody>
      </p:sp>
    </p:spTree>
    <p:extLst>
      <p:ext uri="{BB962C8B-B14F-4D97-AF65-F5344CB8AC3E}">
        <p14:creationId xmlns:p14="http://schemas.microsoft.com/office/powerpoint/2010/main" val="5647000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Meshtastic and MeshCore encryption is very similar.</a:t>
            </a:r>
          </a:p>
          <a:p>
            <a:pPr marL="171450" indent="-171450">
              <a:buFontTx/>
              <a:buChar char="-"/>
            </a:pPr>
            <a:r>
              <a:rPr lang="en-US" dirty="0"/>
              <a:t>The main difference between the two is that Meshtastic uses AES-256 (CTR) while MeshCore uses AES-128. Regardless, both are still very secure</a:t>
            </a:r>
          </a:p>
          <a:p>
            <a:pPr marL="171450" indent="-171450">
              <a:buFontTx/>
              <a:buChar char="-"/>
            </a:pPr>
            <a:r>
              <a:rPr lang="en-US" dirty="0"/>
              <a:t>In both systems, channels are securing using a pre-shared key, meaning every node in the channel (including intermediate nodes) have access to the channel key.</a:t>
            </a:r>
          </a:p>
          <a:p>
            <a:pPr marL="628650" lvl="1" indent="-171450">
              <a:buFontTx/>
              <a:buChar char="-"/>
            </a:pPr>
            <a:r>
              <a:rPr lang="en-US" dirty="0"/>
              <a:t>Thus, it is a bad idea to share private data in channels while leaving receiver or intermediate nodes unattended</a:t>
            </a:r>
          </a:p>
          <a:p>
            <a:pPr marL="171450" lvl="0" indent="-171450">
              <a:buFontTx/>
              <a:buChar char="-"/>
            </a:pPr>
            <a:r>
              <a:rPr lang="en-US" dirty="0"/>
              <a:t>Also in both systems, DMs are encrypted using Public Key Cryptography. Only senders and receivers have private keys, blocking intermediate nodes from access</a:t>
            </a:r>
          </a:p>
        </p:txBody>
      </p:sp>
      <p:sp>
        <p:nvSpPr>
          <p:cNvPr id="4" name="Slide Number Placeholder 3"/>
          <p:cNvSpPr>
            <a:spLocks noGrp="1"/>
          </p:cNvSpPr>
          <p:nvPr>
            <p:ph type="sldNum" sz="quarter" idx="5"/>
          </p:nvPr>
        </p:nvSpPr>
        <p:spPr/>
        <p:txBody>
          <a:bodyPr/>
          <a:lstStyle/>
          <a:p>
            <a:fld id="{96753925-02D2-5745-BCE6-069A285A2A4E}" type="slidenum">
              <a:rPr lang="en-US" smtClean="0"/>
              <a:t>16</a:t>
            </a:fld>
            <a:endParaRPr lang="en-US"/>
          </a:p>
        </p:txBody>
      </p:sp>
    </p:spTree>
    <p:extLst>
      <p:ext uri="{BB962C8B-B14F-4D97-AF65-F5344CB8AC3E}">
        <p14:creationId xmlns:p14="http://schemas.microsoft.com/office/powerpoint/2010/main" val="9752790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Meshtastic site and docs are by far the best Meshtastic resource for anything Meshtastic. This is more or less the only Meshtastic site I frequently refer to</a:t>
            </a:r>
          </a:p>
        </p:txBody>
      </p:sp>
      <p:sp>
        <p:nvSpPr>
          <p:cNvPr id="4" name="Slide Number Placeholder 3"/>
          <p:cNvSpPr>
            <a:spLocks noGrp="1"/>
          </p:cNvSpPr>
          <p:nvPr>
            <p:ph type="sldNum" sz="quarter" idx="5"/>
          </p:nvPr>
        </p:nvSpPr>
        <p:spPr/>
        <p:txBody>
          <a:bodyPr/>
          <a:lstStyle/>
          <a:p>
            <a:fld id="{96753925-02D2-5745-BCE6-069A285A2A4E}" type="slidenum">
              <a:rPr lang="en-US" smtClean="0"/>
              <a:t>19</a:t>
            </a:fld>
            <a:endParaRPr lang="en-US"/>
          </a:p>
        </p:txBody>
      </p:sp>
    </p:spTree>
    <p:extLst>
      <p:ext uri="{BB962C8B-B14F-4D97-AF65-F5344CB8AC3E}">
        <p14:creationId xmlns:p14="http://schemas.microsoft.com/office/powerpoint/2010/main" val="35452238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MeshCore site is good but the docs are not as in depth</a:t>
            </a:r>
          </a:p>
          <a:p>
            <a:r>
              <a:rPr lang="en-US" dirty="0"/>
              <a:t>There really isn’t documentation but they have a giant FAQ page covering many </a:t>
            </a:r>
            <a:r>
              <a:rPr lang="en-US" dirty="0" err="1"/>
              <a:t>importqnt</a:t>
            </a:r>
            <a:r>
              <a:rPr lang="en-US" dirty="0"/>
              <a:t> details.</a:t>
            </a:r>
          </a:p>
          <a:p>
            <a:r>
              <a:rPr lang="en-US" dirty="0"/>
              <a:t>I find I have to use 3</a:t>
            </a:r>
            <a:r>
              <a:rPr lang="en-US" baseline="30000" dirty="0"/>
              <a:t>rd</a:t>
            </a:r>
            <a:r>
              <a:rPr lang="en-US" dirty="0"/>
              <a:t> party sources more often with MeshCore. This one is by … my </a:t>
            </a:r>
            <a:r>
              <a:rPr lang="en-US" dirty="0" err="1"/>
              <a:t>favousite</a:t>
            </a:r>
            <a:endParaRPr lang="en-US" dirty="0"/>
          </a:p>
        </p:txBody>
      </p:sp>
      <p:sp>
        <p:nvSpPr>
          <p:cNvPr id="4" name="Slide Number Placeholder 3"/>
          <p:cNvSpPr>
            <a:spLocks noGrp="1"/>
          </p:cNvSpPr>
          <p:nvPr>
            <p:ph type="sldNum" sz="quarter" idx="5"/>
          </p:nvPr>
        </p:nvSpPr>
        <p:spPr/>
        <p:txBody>
          <a:bodyPr/>
          <a:lstStyle/>
          <a:p>
            <a:fld id="{96753925-02D2-5745-BCE6-069A285A2A4E}" type="slidenum">
              <a:rPr lang="en-US" smtClean="0"/>
              <a:t>20</a:t>
            </a:fld>
            <a:endParaRPr lang="en-US"/>
          </a:p>
        </p:txBody>
      </p:sp>
    </p:spTree>
    <p:extLst>
      <p:ext uri="{BB962C8B-B14F-4D97-AF65-F5344CB8AC3E}">
        <p14:creationId xmlns:p14="http://schemas.microsoft.com/office/powerpoint/2010/main" val="4710492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web flasher is very self explanatory – it makes flashing firmware onto devices very simple. Both websites are east to use and give instructions with how to flash</a:t>
            </a:r>
          </a:p>
        </p:txBody>
      </p:sp>
      <p:sp>
        <p:nvSpPr>
          <p:cNvPr id="4" name="Slide Number Placeholder 3"/>
          <p:cNvSpPr>
            <a:spLocks noGrp="1"/>
          </p:cNvSpPr>
          <p:nvPr>
            <p:ph type="sldNum" sz="quarter" idx="5"/>
          </p:nvPr>
        </p:nvSpPr>
        <p:spPr/>
        <p:txBody>
          <a:bodyPr/>
          <a:lstStyle/>
          <a:p>
            <a:fld id="{96753925-02D2-5745-BCE6-069A285A2A4E}" type="slidenum">
              <a:rPr lang="en-US" smtClean="0"/>
              <a:t>21</a:t>
            </a:fld>
            <a:endParaRPr lang="en-US"/>
          </a:p>
        </p:txBody>
      </p:sp>
    </p:spTree>
    <p:extLst>
      <p:ext uri="{BB962C8B-B14F-4D97-AF65-F5344CB8AC3E}">
        <p14:creationId xmlns:p14="http://schemas.microsoft.com/office/powerpoint/2010/main" val="36646462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GitHub is also worth noting – very important for questions regarding specific implementation and  development</a:t>
            </a:r>
          </a:p>
        </p:txBody>
      </p:sp>
      <p:sp>
        <p:nvSpPr>
          <p:cNvPr id="4" name="Slide Number Placeholder 3"/>
          <p:cNvSpPr>
            <a:spLocks noGrp="1"/>
          </p:cNvSpPr>
          <p:nvPr>
            <p:ph type="sldNum" sz="quarter" idx="5"/>
          </p:nvPr>
        </p:nvSpPr>
        <p:spPr/>
        <p:txBody>
          <a:bodyPr/>
          <a:lstStyle/>
          <a:p>
            <a:fld id="{96753925-02D2-5745-BCE6-069A285A2A4E}" type="slidenum">
              <a:rPr lang="en-US" smtClean="0"/>
              <a:t>22</a:t>
            </a:fld>
            <a:endParaRPr lang="en-US"/>
          </a:p>
        </p:txBody>
      </p:sp>
    </p:spTree>
    <p:extLst>
      <p:ext uri="{BB962C8B-B14F-4D97-AF65-F5344CB8AC3E}">
        <p14:creationId xmlns:p14="http://schemas.microsoft.com/office/powerpoint/2010/main" val="3972364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These first two articles were my </a:t>
            </a:r>
            <a:r>
              <a:rPr lang="en-US" dirty="0" err="1"/>
              <a:t>favourite</a:t>
            </a:r>
            <a:r>
              <a:rPr lang="en-US" dirty="0"/>
              <a:t> Meshtastic how-</a:t>
            </a:r>
            <a:r>
              <a:rPr lang="en-US" dirty="0" err="1"/>
              <a:t>tos</a:t>
            </a:r>
            <a:r>
              <a:rPr lang="en-US" dirty="0"/>
              <a:t>, specifically the dev.to one. They keep things very simple</a:t>
            </a:r>
          </a:p>
          <a:p>
            <a:pPr marL="171450" indent="-171450">
              <a:buFontTx/>
              <a:buChar char="-"/>
            </a:pPr>
            <a:r>
              <a:rPr lang="en-US" dirty="0"/>
              <a:t>The Kindlymorrow what is MeshCore article was super helpful –they explain clearly the architectural differences between Meshtastic and MeshCore and when to use each</a:t>
            </a:r>
          </a:p>
        </p:txBody>
      </p:sp>
      <p:sp>
        <p:nvSpPr>
          <p:cNvPr id="4" name="Slide Number Placeholder 3"/>
          <p:cNvSpPr>
            <a:spLocks noGrp="1"/>
          </p:cNvSpPr>
          <p:nvPr>
            <p:ph type="sldNum" sz="quarter" idx="5"/>
          </p:nvPr>
        </p:nvSpPr>
        <p:spPr/>
        <p:txBody>
          <a:bodyPr/>
          <a:lstStyle/>
          <a:p>
            <a:fld id="{96753925-02D2-5745-BCE6-069A285A2A4E}" type="slidenum">
              <a:rPr lang="en-US" smtClean="0"/>
              <a:t>23</a:t>
            </a:fld>
            <a:endParaRPr lang="en-US"/>
          </a:p>
        </p:txBody>
      </p:sp>
    </p:spTree>
    <p:extLst>
      <p:ext uri="{BB962C8B-B14F-4D97-AF65-F5344CB8AC3E}">
        <p14:creationId xmlns:p14="http://schemas.microsoft.com/office/powerpoint/2010/main" val="20678992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These videos are good for helping people flash firmware for the first time.</a:t>
            </a:r>
          </a:p>
          <a:p>
            <a:pPr marL="171450" indent="-171450">
              <a:buFontTx/>
              <a:buChar char="-"/>
            </a:pPr>
            <a:r>
              <a:rPr lang="en-US" dirty="0"/>
              <a:t>The Meshtastic and LoRa are dangerous video was a great watch. It begun explaining meshes and LoRa at a high level, slowly diving into Meshtastic specifics like how Meshtastic takes advantage of MQTT servers and integrating sensors into the mesh.</a:t>
            </a:r>
          </a:p>
          <a:p>
            <a:endParaRPr lang="en-US" dirty="0"/>
          </a:p>
        </p:txBody>
      </p:sp>
      <p:sp>
        <p:nvSpPr>
          <p:cNvPr id="4" name="Slide Number Placeholder 3"/>
          <p:cNvSpPr>
            <a:spLocks noGrp="1"/>
          </p:cNvSpPr>
          <p:nvPr>
            <p:ph type="sldNum" sz="quarter" idx="5"/>
          </p:nvPr>
        </p:nvSpPr>
        <p:spPr/>
        <p:txBody>
          <a:bodyPr/>
          <a:lstStyle/>
          <a:p>
            <a:fld id="{96753925-02D2-5745-BCE6-069A285A2A4E}" type="slidenum">
              <a:rPr lang="en-US" smtClean="0"/>
              <a:t>24</a:t>
            </a:fld>
            <a:endParaRPr lang="en-US"/>
          </a:p>
        </p:txBody>
      </p:sp>
    </p:spTree>
    <p:extLst>
      <p:ext uri="{BB962C8B-B14F-4D97-AF65-F5344CB8AC3E}">
        <p14:creationId xmlns:p14="http://schemas.microsoft.com/office/powerpoint/2010/main" val="42072485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10D621-EBB1-F47F-F2C3-EB77BABB703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9227AD8-A4B0-8154-2493-608B69508F4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E65A53B-64B5-8274-B54B-92F4043B5230}"/>
              </a:ext>
            </a:extLst>
          </p:cNvPr>
          <p:cNvSpPr>
            <a:spLocks noGrp="1"/>
          </p:cNvSpPr>
          <p:nvPr>
            <p:ph type="dt" sz="half" idx="10"/>
          </p:nvPr>
        </p:nvSpPr>
        <p:spPr/>
        <p:txBody>
          <a:bodyPr/>
          <a:lstStyle/>
          <a:p>
            <a:fld id="{0120D111-4C6C-6B47-B020-D2213ABB74B9}" type="datetimeFigureOut">
              <a:rPr lang="en-US" smtClean="0"/>
              <a:t>5/19/26</a:t>
            </a:fld>
            <a:endParaRPr lang="en-US"/>
          </a:p>
        </p:txBody>
      </p:sp>
      <p:sp>
        <p:nvSpPr>
          <p:cNvPr id="5" name="Footer Placeholder 4">
            <a:extLst>
              <a:ext uri="{FF2B5EF4-FFF2-40B4-BE49-F238E27FC236}">
                <a16:creationId xmlns:a16="http://schemas.microsoft.com/office/drawing/2014/main" id="{7F6E952B-310A-EC18-E80C-DF698E4CEF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4BEE89-90D0-B353-0831-39E73BB24BC5}"/>
              </a:ext>
            </a:extLst>
          </p:cNvPr>
          <p:cNvSpPr>
            <a:spLocks noGrp="1"/>
          </p:cNvSpPr>
          <p:nvPr>
            <p:ph type="sldNum" sz="quarter" idx="12"/>
          </p:nvPr>
        </p:nvSpPr>
        <p:spPr/>
        <p:txBody>
          <a:bodyPr/>
          <a:lstStyle/>
          <a:p>
            <a:fld id="{A5F3E29C-7DC8-DD40-A9AF-1B9F74E180A3}" type="slidenum">
              <a:rPr lang="en-US" smtClean="0"/>
              <a:t>‹#›</a:t>
            </a:fld>
            <a:endParaRPr lang="en-US"/>
          </a:p>
        </p:txBody>
      </p:sp>
    </p:spTree>
    <p:extLst>
      <p:ext uri="{BB962C8B-B14F-4D97-AF65-F5344CB8AC3E}">
        <p14:creationId xmlns:p14="http://schemas.microsoft.com/office/powerpoint/2010/main" val="41513288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1331B2-391D-CAA1-5DFE-83FDE8E212A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928998B-0E22-9AB0-54D6-2C3F624FED9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93D49A-C41A-8AE8-D5BB-ADB83A2C40D1}"/>
              </a:ext>
            </a:extLst>
          </p:cNvPr>
          <p:cNvSpPr>
            <a:spLocks noGrp="1"/>
          </p:cNvSpPr>
          <p:nvPr>
            <p:ph type="dt" sz="half" idx="10"/>
          </p:nvPr>
        </p:nvSpPr>
        <p:spPr/>
        <p:txBody>
          <a:bodyPr/>
          <a:lstStyle/>
          <a:p>
            <a:fld id="{0120D111-4C6C-6B47-B020-D2213ABB74B9}" type="datetimeFigureOut">
              <a:rPr lang="en-US" smtClean="0"/>
              <a:t>5/19/26</a:t>
            </a:fld>
            <a:endParaRPr lang="en-US"/>
          </a:p>
        </p:txBody>
      </p:sp>
      <p:sp>
        <p:nvSpPr>
          <p:cNvPr id="5" name="Footer Placeholder 4">
            <a:extLst>
              <a:ext uri="{FF2B5EF4-FFF2-40B4-BE49-F238E27FC236}">
                <a16:creationId xmlns:a16="http://schemas.microsoft.com/office/drawing/2014/main" id="{C6D35C95-D061-4D61-1F35-DC5662E3562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CBACAB7-9294-9D73-B56A-DC0E9075F164}"/>
              </a:ext>
            </a:extLst>
          </p:cNvPr>
          <p:cNvSpPr>
            <a:spLocks noGrp="1"/>
          </p:cNvSpPr>
          <p:nvPr>
            <p:ph type="sldNum" sz="quarter" idx="12"/>
          </p:nvPr>
        </p:nvSpPr>
        <p:spPr/>
        <p:txBody>
          <a:bodyPr/>
          <a:lstStyle/>
          <a:p>
            <a:fld id="{A5F3E29C-7DC8-DD40-A9AF-1B9F74E180A3}" type="slidenum">
              <a:rPr lang="en-US" smtClean="0"/>
              <a:t>‹#›</a:t>
            </a:fld>
            <a:endParaRPr lang="en-US"/>
          </a:p>
        </p:txBody>
      </p:sp>
    </p:spTree>
    <p:extLst>
      <p:ext uri="{BB962C8B-B14F-4D97-AF65-F5344CB8AC3E}">
        <p14:creationId xmlns:p14="http://schemas.microsoft.com/office/powerpoint/2010/main" val="14672385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FBF1C-1FE8-4769-47EB-5B620401EE8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07A0D2A-8607-5BB7-4106-928C578C835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272ED7E-2F8A-42D0-7A0A-CCD1DD2ACBB1}"/>
              </a:ext>
            </a:extLst>
          </p:cNvPr>
          <p:cNvSpPr>
            <a:spLocks noGrp="1"/>
          </p:cNvSpPr>
          <p:nvPr>
            <p:ph type="dt" sz="half" idx="10"/>
          </p:nvPr>
        </p:nvSpPr>
        <p:spPr/>
        <p:txBody>
          <a:bodyPr/>
          <a:lstStyle/>
          <a:p>
            <a:fld id="{0120D111-4C6C-6B47-B020-D2213ABB74B9}" type="datetimeFigureOut">
              <a:rPr lang="en-US" smtClean="0"/>
              <a:t>5/19/26</a:t>
            </a:fld>
            <a:endParaRPr lang="en-US"/>
          </a:p>
        </p:txBody>
      </p:sp>
      <p:sp>
        <p:nvSpPr>
          <p:cNvPr id="5" name="Footer Placeholder 4">
            <a:extLst>
              <a:ext uri="{FF2B5EF4-FFF2-40B4-BE49-F238E27FC236}">
                <a16:creationId xmlns:a16="http://schemas.microsoft.com/office/drawing/2014/main" id="{60F03D90-E6F7-4AC2-402F-6158C5A55BA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2CA19B6-FF33-2D62-AEA6-E2EC64ED130B}"/>
              </a:ext>
            </a:extLst>
          </p:cNvPr>
          <p:cNvSpPr>
            <a:spLocks noGrp="1"/>
          </p:cNvSpPr>
          <p:nvPr>
            <p:ph type="sldNum" sz="quarter" idx="12"/>
          </p:nvPr>
        </p:nvSpPr>
        <p:spPr/>
        <p:txBody>
          <a:bodyPr/>
          <a:lstStyle/>
          <a:p>
            <a:fld id="{A5F3E29C-7DC8-DD40-A9AF-1B9F74E180A3}" type="slidenum">
              <a:rPr lang="en-US" smtClean="0"/>
              <a:t>‹#›</a:t>
            </a:fld>
            <a:endParaRPr lang="en-US"/>
          </a:p>
        </p:txBody>
      </p:sp>
    </p:spTree>
    <p:extLst>
      <p:ext uri="{BB962C8B-B14F-4D97-AF65-F5344CB8AC3E}">
        <p14:creationId xmlns:p14="http://schemas.microsoft.com/office/powerpoint/2010/main" val="4309239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15521-ACBF-E3E0-498C-0F0E2985D3A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9DCE8BF-7184-85A7-4CC5-0173DF7E5CB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E7A3FC2-20BD-D21C-6F86-1D54A7C61A3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73B22F3-1EFC-4B90-DD75-4C13D6E251EF}"/>
              </a:ext>
            </a:extLst>
          </p:cNvPr>
          <p:cNvSpPr>
            <a:spLocks noGrp="1"/>
          </p:cNvSpPr>
          <p:nvPr>
            <p:ph type="dt" sz="half" idx="10"/>
          </p:nvPr>
        </p:nvSpPr>
        <p:spPr/>
        <p:txBody>
          <a:bodyPr/>
          <a:lstStyle/>
          <a:p>
            <a:fld id="{0120D111-4C6C-6B47-B020-D2213ABB74B9}" type="datetimeFigureOut">
              <a:rPr lang="en-US" smtClean="0"/>
              <a:t>5/19/26</a:t>
            </a:fld>
            <a:endParaRPr lang="en-US"/>
          </a:p>
        </p:txBody>
      </p:sp>
      <p:sp>
        <p:nvSpPr>
          <p:cNvPr id="6" name="Footer Placeholder 5">
            <a:extLst>
              <a:ext uri="{FF2B5EF4-FFF2-40B4-BE49-F238E27FC236}">
                <a16:creationId xmlns:a16="http://schemas.microsoft.com/office/drawing/2014/main" id="{CEEFB3CB-CF8A-1FA3-4E98-0F0D5246000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40C1AD2-A4FC-D00C-56B7-4EF25FC8BEDF}"/>
              </a:ext>
            </a:extLst>
          </p:cNvPr>
          <p:cNvSpPr>
            <a:spLocks noGrp="1"/>
          </p:cNvSpPr>
          <p:nvPr>
            <p:ph type="sldNum" sz="quarter" idx="12"/>
          </p:nvPr>
        </p:nvSpPr>
        <p:spPr/>
        <p:txBody>
          <a:bodyPr/>
          <a:lstStyle/>
          <a:p>
            <a:fld id="{A5F3E29C-7DC8-DD40-A9AF-1B9F74E180A3}" type="slidenum">
              <a:rPr lang="en-US" smtClean="0"/>
              <a:t>‹#›</a:t>
            </a:fld>
            <a:endParaRPr lang="en-US"/>
          </a:p>
        </p:txBody>
      </p:sp>
    </p:spTree>
    <p:extLst>
      <p:ext uri="{BB962C8B-B14F-4D97-AF65-F5344CB8AC3E}">
        <p14:creationId xmlns:p14="http://schemas.microsoft.com/office/powerpoint/2010/main" val="18980008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4AA69-7624-C2EA-85A3-E3610CEE90E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DB5D580-7B37-F717-C01A-7848795BF59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2F9BB0A-6341-E619-5D15-CA08E114C79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91937B5-5DA6-187D-752C-71F75918690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51CC1B1-4357-E879-99BF-5F01CB99D3F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76BC1E2-1497-9707-6A85-B393E5BDB07A}"/>
              </a:ext>
            </a:extLst>
          </p:cNvPr>
          <p:cNvSpPr>
            <a:spLocks noGrp="1"/>
          </p:cNvSpPr>
          <p:nvPr>
            <p:ph type="dt" sz="half" idx="10"/>
          </p:nvPr>
        </p:nvSpPr>
        <p:spPr/>
        <p:txBody>
          <a:bodyPr/>
          <a:lstStyle/>
          <a:p>
            <a:fld id="{0120D111-4C6C-6B47-B020-D2213ABB74B9}" type="datetimeFigureOut">
              <a:rPr lang="en-US" smtClean="0"/>
              <a:t>5/19/26</a:t>
            </a:fld>
            <a:endParaRPr lang="en-US"/>
          </a:p>
        </p:txBody>
      </p:sp>
      <p:sp>
        <p:nvSpPr>
          <p:cNvPr id="8" name="Footer Placeholder 7">
            <a:extLst>
              <a:ext uri="{FF2B5EF4-FFF2-40B4-BE49-F238E27FC236}">
                <a16:creationId xmlns:a16="http://schemas.microsoft.com/office/drawing/2014/main" id="{7ECDD684-F83D-C862-A110-5EEC3FA498A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4C911C6-3632-05CA-8470-AB07E4D49D5A}"/>
              </a:ext>
            </a:extLst>
          </p:cNvPr>
          <p:cNvSpPr>
            <a:spLocks noGrp="1"/>
          </p:cNvSpPr>
          <p:nvPr>
            <p:ph type="sldNum" sz="quarter" idx="12"/>
          </p:nvPr>
        </p:nvSpPr>
        <p:spPr/>
        <p:txBody>
          <a:bodyPr/>
          <a:lstStyle/>
          <a:p>
            <a:fld id="{A5F3E29C-7DC8-DD40-A9AF-1B9F74E180A3}" type="slidenum">
              <a:rPr lang="en-US" smtClean="0"/>
              <a:t>‹#›</a:t>
            </a:fld>
            <a:endParaRPr lang="en-US"/>
          </a:p>
        </p:txBody>
      </p:sp>
    </p:spTree>
    <p:extLst>
      <p:ext uri="{BB962C8B-B14F-4D97-AF65-F5344CB8AC3E}">
        <p14:creationId xmlns:p14="http://schemas.microsoft.com/office/powerpoint/2010/main" val="25841783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2C962E-ED3A-6340-E1AE-A42F2DB1593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81E9D93-5DD1-6E7B-EBD3-AE954FDFE66C}"/>
              </a:ext>
            </a:extLst>
          </p:cNvPr>
          <p:cNvSpPr>
            <a:spLocks noGrp="1"/>
          </p:cNvSpPr>
          <p:nvPr>
            <p:ph type="dt" sz="half" idx="10"/>
          </p:nvPr>
        </p:nvSpPr>
        <p:spPr/>
        <p:txBody>
          <a:bodyPr/>
          <a:lstStyle/>
          <a:p>
            <a:fld id="{0120D111-4C6C-6B47-B020-D2213ABB74B9}" type="datetimeFigureOut">
              <a:rPr lang="en-US" smtClean="0"/>
              <a:t>5/19/26</a:t>
            </a:fld>
            <a:endParaRPr lang="en-US"/>
          </a:p>
        </p:txBody>
      </p:sp>
      <p:sp>
        <p:nvSpPr>
          <p:cNvPr id="4" name="Footer Placeholder 3">
            <a:extLst>
              <a:ext uri="{FF2B5EF4-FFF2-40B4-BE49-F238E27FC236}">
                <a16:creationId xmlns:a16="http://schemas.microsoft.com/office/drawing/2014/main" id="{C8FCE97D-8ACD-807F-EB2E-48C2627EC3B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1D74792-CA55-2298-B874-E5F93C53E0D3}"/>
              </a:ext>
            </a:extLst>
          </p:cNvPr>
          <p:cNvSpPr>
            <a:spLocks noGrp="1"/>
          </p:cNvSpPr>
          <p:nvPr>
            <p:ph type="sldNum" sz="quarter" idx="12"/>
          </p:nvPr>
        </p:nvSpPr>
        <p:spPr/>
        <p:txBody>
          <a:bodyPr/>
          <a:lstStyle/>
          <a:p>
            <a:fld id="{A5F3E29C-7DC8-DD40-A9AF-1B9F74E180A3}" type="slidenum">
              <a:rPr lang="en-US" smtClean="0"/>
              <a:t>‹#›</a:t>
            </a:fld>
            <a:endParaRPr lang="en-US"/>
          </a:p>
        </p:txBody>
      </p:sp>
    </p:spTree>
    <p:extLst>
      <p:ext uri="{BB962C8B-B14F-4D97-AF65-F5344CB8AC3E}">
        <p14:creationId xmlns:p14="http://schemas.microsoft.com/office/powerpoint/2010/main" val="24305436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726DD73-9FD1-6D31-4A41-B2C141C7B51A}"/>
              </a:ext>
            </a:extLst>
          </p:cNvPr>
          <p:cNvSpPr>
            <a:spLocks noGrp="1"/>
          </p:cNvSpPr>
          <p:nvPr>
            <p:ph type="dt" sz="half" idx="10"/>
          </p:nvPr>
        </p:nvSpPr>
        <p:spPr/>
        <p:txBody>
          <a:bodyPr/>
          <a:lstStyle/>
          <a:p>
            <a:fld id="{0120D111-4C6C-6B47-B020-D2213ABB74B9}" type="datetimeFigureOut">
              <a:rPr lang="en-US" smtClean="0"/>
              <a:t>5/19/26</a:t>
            </a:fld>
            <a:endParaRPr lang="en-US"/>
          </a:p>
        </p:txBody>
      </p:sp>
      <p:sp>
        <p:nvSpPr>
          <p:cNvPr id="3" name="Footer Placeholder 2">
            <a:extLst>
              <a:ext uri="{FF2B5EF4-FFF2-40B4-BE49-F238E27FC236}">
                <a16:creationId xmlns:a16="http://schemas.microsoft.com/office/drawing/2014/main" id="{3A6F5E49-876B-41EA-1511-9D30AE3317D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6107B44-BB50-FE54-B2D4-60085E3A256D}"/>
              </a:ext>
            </a:extLst>
          </p:cNvPr>
          <p:cNvSpPr>
            <a:spLocks noGrp="1"/>
          </p:cNvSpPr>
          <p:nvPr>
            <p:ph type="sldNum" sz="quarter" idx="12"/>
          </p:nvPr>
        </p:nvSpPr>
        <p:spPr/>
        <p:txBody>
          <a:bodyPr/>
          <a:lstStyle/>
          <a:p>
            <a:fld id="{A5F3E29C-7DC8-DD40-A9AF-1B9F74E180A3}" type="slidenum">
              <a:rPr lang="en-US" smtClean="0"/>
              <a:t>‹#›</a:t>
            </a:fld>
            <a:endParaRPr lang="en-US"/>
          </a:p>
        </p:txBody>
      </p:sp>
    </p:spTree>
    <p:extLst>
      <p:ext uri="{BB962C8B-B14F-4D97-AF65-F5344CB8AC3E}">
        <p14:creationId xmlns:p14="http://schemas.microsoft.com/office/powerpoint/2010/main" val="23351630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C8079B-76C6-D85C-996B-34F51190AF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E5E4280-753F-A6A9-3413-1422B9E186E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5CF6D32-78A8-6F8E-1C43-F0C693407E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05BCAB8-A3BA-1B6D-7A56-7E258C94D4BF}"/>
              </a:ext>
            </a:extLst>
          </p:cNvPr>
          <p:cNvSpPr>
            <a:spLocks noGrp="1"/>
          </p:cNvSpPr>
          <p:nvPr>
            <p:ph type="dt" sz="half" idx="10"/>
          </p:nvPr>
        </p:nvSpPr>
        <p:spPr/>
        <p:txBody>
          <a:bodyPr/>
          <a:lstStyle/>
          <a:p>
            <a:fld id="{0120D111-4C6C-6B47-B020-D2213ABB74B9}" type="datetimeFigureOut">
              <a:rPr lang="en-US" smtClean="0"/>
              <a:t>5/19/26</a:t>
            </a:fld>
            <a:endParaRPr lang="en-US"/>
          </a:p>
        </p:txBody>
      </p:sp>
      <p:sp>
        <p:nvSpPr>
          <p:cNvPr id="6" name="Footer Placeholder 5">
            <a:extLst>
              <a:ext uri="{FF2B5EF4-FFF2-40B4-BE49-F238E27FC236}">
                <a16:creationId xmlns:a16="http://schemas.microsoft.com/office/drawing/2014/main" id="{9C3C7265-536B-F2AF-E133-6443BFE50B4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AF49FA1-95E2-8136-871F-F353243B8BD9}"/>
              </a:ext>
            </a:extLst>
          </p:cNvPr>
          <p:cNvSpPr>
            <a:spLocks noGrp="1"/>
          </p:cNvSpPr>
          <p:nvPr>
            <p:ph type="sldNum" sz="quarter" idx="12"/>
          </p:nvPr>
        </p:nvSpPr>
        <p:spPr/>
        <p:txBody>
          <a:bodyPr/>
          <a:lstStyle/>
          <a:p>
            <a:fld id="{A5F3E29C-7DC8-DD40-A9AF-1B9F74E180A3}" type="slidenum">
              <a:rPr lang="en-US" smtClean="0"/>
              <a:t>‹#›</a:t>
            </a:fld>
            <a:endParaRPr lang="en-US"/>
          </a:p>
        </p:txBody>
      </p:sp>
    </p:spTree>
    <p:extLst>
      <p:ext uri="{BB962C8B-B14F-4D97-AF65-F5344CB8AC3E}">
        <p14:creationId xmlns:p14="http://schemas.microsoft.com/office/powerpoint/2010/main" val="42092723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97CF4-5102-4CA5-B45B-180BD8B5D9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0676197-14E1-61DF-3385-713F15A1749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42F3EDF-D476-D737-5654-82111A7B78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3C67072-705F-F975-A041-AA205AA54B30}"/>
              </a:ext>
            </a:extLst>
          </p:cNvPr>
          <p:cNvSpPr>
            <a:spLocks noGrp="1"/>
          </p:cNvSpPr>
          <p:nvPr>
            <p:ph type="dt" sz="half" idx="10"/>
          </p:nvPr>
        </p:nvSpPr>
        <p:spPr/>
        <p:txBody>
          <a:bodyPr/>
          <a:lstStyle/>
          <a:p>
            <a:fld id="{0120D111-4C6C-6B47-B020-D2213ABB74B9}" type="datetimeFigureOut">
              <a:rPr lang="en-US" smtClean="0"/>
              <a:t>5/19/26</a:t>
            </a:fld>
            <a:endParaRPr lang="en-US"/>
          </a:p>
        </p:txBody>
      </p:sp>
      <p:sp>
        <p:nvSpPr>
          <p:cNvPr id="6" name="Footer Placeholder 5">
            <a:extLst>
              <a:ext uri="{FF2B5EF4-FFF2-40B4-BE49-F238E27FC236}">
                <a16:creationId xmlns:a16="http://schemas.microsoft.com/office/drawing/2014/main" id="{D8DA1B54-97DC-E957-EDC8-B576B0C4E49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3BDA114-BB85-30D3-0FC4-0DF089907CC3}"/>
              </a:ext>
            </a:extLst>
          </p:cNvPr>
          <p:cNvSpPr>
            <a:spLocks noGrp="1"/>
          </p:cNvSpPr>
          <p:nvPr>
            <p:ph type="sldNum" sz="quarter" idx="12"/>
          </p:nvPr>
        </p:nvSpPr>
        <p:spPr/>
        <p:txBody>
          <a:bodyPr/>
          <a:lstStyle/>
          <a:p>
            <a:fld id="{A5F3E29C-7DC8-DD40-A9AF-1B9F74E180A3}" type="slidenum">
              <a:rPr lang="en-US" smtClean="0"/>
              <a:t>‹#›</a:t>
            </a:fld>
            <a:endParaRPr lang="en-US"/>
          </a:p>
        </p:txBody>
      </p:sp>
    </p:spTree>
    <p:extLst>
      <p:ext uri="{BB962C8B-B14F-4D97-AF65-F5344CB8AC3E}">
        <p14:creationId xmlns:p14="http://schemas.microsoft.com/office/powerpoint/2010/main" val="35999146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67E03B-F9B7-C210-BE09-6E0426D9862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0191CCA-3FBB-D044-363B-AC3480D274F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4ABCD92-0FF6-6A51-93E1-5786E34FB42F}"/>
              </a:ext>
            </a:extLst>
          </p:cNvPr>
          <p:cNvSpPr>
            <a:spLocks noGrp="1"/>
          </p:cNvSpPr>
          <p:nvPr>
            <p:ph type="dt" sz="half" idx="10"/>
          </p:nvPr>
        </p:nvSpPr>
        <p:spPr/>
        <p:txBody>
          <a:bodyPr/>
          <a:lstStyle/>
          <a:p>
            <a:fld id="{0120D111-4C6C-6B47-B020-D2213ABB74B9}" type="datetimeFigureOut">
              <a:rPr lang="en-US" smtClean="0"/>
              <a:t>5/19/26</a:t>
            </a:fld>
            <a:endParaRPr lang="en-US"/>
          </a:p>
        </p:txBody>
      </p:sp>
      <p:sp>
        <p:nvSpPr>
          <p:cNvPr id="5" name="Footer Placeholder 4">
            <a:extLst>
              <a:ext uri="{FF2B5EF4-FFF2-40B4-BE49-F238E27FC236}">
                <a16:creationId xmlns:a16="http://schemas.microsoft.com/office/drawing/2014/main" id="{3475658A-64E8-CAA8-7D15-325EAE1F62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83FDB7A-46C6-B92D-C250-BA744040ACBA}"/>
              </a:ext>
            </a:extLst>
          </p:cNvPr>
          <p:cNvSpPr>
            <a:spLocks noGrp="1"/>
          </p:cNvSpPr>
          <p:nvPr>
            <p:ph type="sldNum" sz="quarter" idx="12"/>
          </p:nvPr>
        </p:nvSpPr>
        <p:spPr/>
        <p:txBody>
          <a:bodyPr/>
          <a:lstStyle/>
          <a:p>
            <a:fld id="{A5F3E29C-7DC8-DD40-A9AF-1B9F74E180A3}" type="slidenum">
              <a:rPr lang="en-US" smtClean="0"/>
              <a:t>‹#›</a:t>
            </a:fld>
            <a:endParaRPr lang="en-US"/>
          </a:p>
        </p:txBody>
      </p:sp>
    </p:spTree>
    <p:extLst>
      <p:ext uri="{BB962C8B-B14F-4D97-AF65-F5344CB8AC3E}">
        <p14:creationId xmlns:p14="http://schemas.microsoft.com/office/powerpoint/2010/main" val="25123885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A35B4F9-0D73-36BA-2A86-4290D1C1A41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345F8AB-DDC7-768D-DAE0-52959BBF2A3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BDE4CF9-B805-24E9-1DD2-2224941A46C1}"/>
              </a:ext>
            </a:extLst>
          </p:cNvPr>
          <p:cNvSpPr>
            <a:spLocks noGrp="1"/>
          </p:cNvSpPr>
          <p:nvPr>
            <p:ph type="dt" sz="half" idx="10"/>
          </p:nvPr>
        </p:nvSpPr>
        <p:spPr/>
        <p:txBody>
          <a:bodyPr/>
          <a:lstStyle/>
          <a:p>
            <a:fld id="{0120D111-4C6C-6B47-B020-D2213ABB74B9}" type="datetimeFigureOut">
              <a:rPr lang="en-US" smtClean="0"/>
              <a:t>5/19/26</a:t>
            </a:fld>
            <a:endParaRPr lang="en-US"/>
          </a:p>
        </p:txBody>
      </p:sp>
      <p:sp>
        <p:nvSpPr>
          <p:cNvPr id="5" name="Footer Placeholder 4">
            <a:extLst>
              <a:ext uri="{FF2B5EF4-FFF2-40B4-BE49-F238E27FC236}">
                <a16:creationId xmlns:a16="http://schemas.microsoft.com/office/drawing/2014/main" id="{1CF33D89-D0C9-F7FE-BAA4-FC53AD8BE2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FF07A7-CDBE-3F53-1451-3E0D89186AFB}"/>
              </a:ext>
            </a:extLst>
          </p:cNvPr>
          <p:cNvSpPr>
            <a:spLocks noGrp="1"/>
          </p:cNvSpPr>
          <p:nvPr>
            <p:ph type="sldNum" sz="quarter" idx="12"/>
          </p:nvPr>
        </p:nvSpPr>
        <p:spPr/>
        <p:txBody>
          <a:bodyPr/>
          <a:lstStyle/>
          <a:p>
            <a:fld id="{A5F3E29C-7DC8-DD40-A9AF-1B9F74E180A3}" type="slidenum">
              <a:rPr lang="en-US" smtClean="0"/>
              <a:t>‹#›</a:t>
            </a:fld>
            <a:endParaRPr lang="en-US"/>
          </a:p>
        </p:txBody>
      </p:sp>
    </p:spTree>
    <p:extLst>
      <p:ext uri="{BB962C8B-B14F-4D97-AF65-F5344CB8AC3E}">
        <p14:creationId xmlns:p14="http://schemas.microsoft.com/office/powerpoint/2010/main" val="12736919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F96B386-82D2-D14B-F30B-108F1ADBAE5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FC8B7A6-3CBF-40E5-A016-C8A832F8714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BE6203-A9D7-0DEA-D899-1D0395248AA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120D111-4C6C-6B47-B020-D2213ABB74B9}" type="datetimeFigureOut">
              <a:rPr lang="en-US" smtClean="0"/>
              <a:t>5/19/26</a:t>
            </a:fld>
            <a:endParaRPr lang="en-US"/>
          </a:p>
        </p:txBody>
      </p:sp>
      <p:sp>
        <p:nvSpPr>
          <p:cNvPr id="5" name="Footer Placeholder 4">
            <a:extLst>
              <a:ext uri="{FF2B5EF4-FFF2-40B4-BE49-F238E27FC236}">
                <a16:creationId xmlns:a16="http://schemas.microsoft.com/office/drawing/2014/main" id="{B1E58A18-8069-07A1-2035-03DF9BE6A72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EAEF312-68EA-1F8D-3967-F2323315900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5F3E29C-7DC8-DD40-A9AF-1B9F74E180A3}" type="slidenum">
              <a:rPr lang="en-US" smtClean="0"/>
              <a:t>‹#›</a:t>
            </a:fld>
            <a:endParaRPr lang="en-US"/>
          </a:p>
        </p:txBody>
      </p:sp>
    </p:spTree>
    <p:extLst>
      <p:ext uri="{BB962C8B-B14F-4D97-AF65-F5344CB8AC3E}">
        <p14:creationId xmlns:p14="http://schemas.microsoft.com/office/powerpoint/2010/main" val="848653947"/>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hyperlink" Target="https://meshtastic.org/docs/overview/mesh-algo/"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meshcore.co.uk/wiki.html#1-introduction"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hyperlink" Target="https://www.pe1hvh.nl/pdf/MeshCore_Complete_Guide_EN.pdf?utm_source=chatgpt.com" TargetMode="External"/></Relationships>
</file>

<file path=ppt/slides/_rels/slide21.xml.rels><?xml version="1.0" encoding="UTF-8" standalone="yes"?>
<Relationships xmlns="http://schemas.openxmlformats.org/package/2006/relationships"><Relationship Id="rId3" Type="http://schemas.openxmlformats.org/officeDocument/2006/relationships/hyperlink" Target="https://flasher.meshtastic.org/"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hyperlink" Target="https://meshcore.co.uk/flasher.html" TargetMode="External"/></Relationships>
</file>

<file path=ppt/slides/_rels/slide22.xml.rels><?xml version="1.0" encoding="UTF-8" standalone="yes"?>
<Relationships xmlns="http://schemas.openxmlformats.org/package/2006/relationships"><Relationship Id="rId3" Type="http://schemas.openxmlformats.org/officeDocument/2006/relationships/hyperlink" Target="https://github.com/meshtastic"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hyperlink" Target="https://github.com/meshcore-dev/MeshCore" TargetMode="External"/></Relationships>
</file>

<file path=ppt/slides/_rels/slide23.xml.rels><?xml version="1.0" encoding="UTF-8" standalone="yes"?>
<Relationships xmlns="http://schemas.openxmlformats.org/package/2006/relationships"><Relationship Id="rId3" Type="http://schemas.openxmlformats.org/officeDocument/2006/relationships/hyperlink" Target="https://dev.to/noperai42eng/meshtastic-getting-started-first-message-in-30-min-4d35"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hyperlink" Target="https://kindlymorrow.com/blog/what-is-meshcore-guide-2026" TargetMode="External"/><Relationship Id="rId4" Type="http://schemas.openxmlformats.org/officeDocument/2006/relationships/hyperlink" Target="https://www.austinmesh.org/join/getting-started-meshcore/" TargetMode="External"/></Relationships>
</file>

<file path=ppt/slides/_rels/slide24.xml.rels><?xml version="1.0" encoding="UTF-8" standalone="yes"?>
<Relationships xmlns="http://schemas.openxmlformats.org/package/2006/relationships"><Relationship Id="rId3" Type="http://schemas.openxmlformats.org/officeDocument/2006/relationships/hyperlink" Target="https://www.youtube.com/watch?v=smQALUBiJ8s"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hyperlink" Target="https://www.youtube.com/watch?v=EAQI2ZSmxPU&amp;t=384s" TargetMode="External"/><Relationship Id="rId5" Type="http://schemas.openxmlformats.org/officeDocument/2006/relationships/hyperlink" Target="https://www.youtube.com/watch?v=w_jprAfrjjg" TargetMode="External"/><Relationship Id="rId4" Type="http://schemas.openxmlformats.org/officeDocument/2006/relationships/hyperlink" Target="https://www.youtube.com/watch?v=mj8yAi7D688"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2DFC0-D3D6-1FBF-BD7B-8B1FE0C15B5A}"/>
              </a:ext>
            </a:extLst>
          </p:cNvPr>
          <p:cNvSpPr>
            <a:spLocks noGrp="1"/>
          </p:cNvSpPr>
          <p:nvPr>
            <p:ph type="ctrTitle"/>
          </p:nvPr>
        </p:nvSpPr>
        <p:spPr/>
        <p:txBody>
          <a:bodyPr/>
          <a:lstStyle/>
          <a:p>
            <a:r>
              <a:rPr lang="en-US" dirty="0"/>
              <a:t>Week 1 Readings</a:t>
            </a:r>
          </a:p>
        </p:txBody>
      </p:sp>
      <p:sp>
        <p:nvSpPr>
          <p:cNvPr id="3" name="Subtitle 2">
            <a:extLst>
              <a:ext uri="{FF2B5EF4-FFF2-40B4-BE49-F238E27FC236}">
                <a16:creationId xmlns:a16="http://schemas.microsoft.com/office/drawing/2014/main" id="{09C967DC-6FAB-D963-EE2A-5CDE14B5D852}"/>
              </a:ext>
            </a:extLst>
          </p:cNvPr>
          <p:cNvSpPr>
            <a:spLocks noGrp="1"/>
          </p:cNvSpPr>
          <p:nvPr>
            <p:ph type="subTitle" idx="1"/>
          </p:nvPr>
        </p:nvSpPr>
        <p:spPr/>
        <p:txBody>
          <a:bodyPr/>
          <a:lstStyle/>
          <a:p>
            <a:r>
              <a:rPr lang="en-US" dirty="0"/>
              <a:t>Jon Earle</a:t>
            </a:r>
          </a:p>
        </p:txBody>
      </p:sp>
    </p:spTree>
    <p:extLst>
      <p:ext uri="{BB962C8B-B14F-4D97-AF65-F5344CB8AC3E}">
        <p14:creationId xmlns:p14="http://schemas.microsoft.com/office/powerpoint/2010/main" val="4003137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882489-FB1B-313A-8298-682BFBF5D93B}"/>
              </a:ext>
            </a:extLst>
          </p:cNvPr>
          <p:cNvSpPr>
            <a:spLocks noGrp="1"/>
          </p:cNvSpPr>
          <p:nvPr>
            <p:ph type="title"/>
          </p:nvPr>
        </p:nvSpPr>
        <p:spPr>
          <a:xfrm>
            <a:off x="838200" y="1241905"/>
            <a:ext cx="10515600" cy="2852737"/>
          </a:xfrm>
        </p:spPr>
        <p:txBody>
          <a:bodyPr/>
          <a:lstStyle/>
          <a:p>
            <a:pPr algn="ctr"/>
            <a:r>
              <a:rPr lang="en-US" dirty="0"/>
              <a:t>Overview</a:t>
            </a:r>
          </a:p>
        </p:txBody>
      </p:sp>
    </p:spTree>
    <p:extLst>
      <p:ext uri="{BB962C8B-B14F-4D97-AF65-F5344CB8AC3E}">
        <p14:creationId xmlns:p14="http://schemas.microsoft.com/office/powerpoint/2010/main" val="4280430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3F4B0-1045-2F45-D2EF-F12BC2889BB2}"/>
              </a:ext>
            </a:extLst>
          </p:cNvPr>
          <p:cNvSpPr>
            <a:spLocks noGrp="1"/>
          </p:cNvSpPr>
          <p:nvPr>
            <p:ph type="title"/>
          </p:nvPr>
        </p:nvSpPr>
        <p:spPr/>
        <p:txBody>
          <a:bodyPr/>
          <a:lstStyle/>
          <a:p>
            <a:r>
              <a:rPr lang="en-US" dirty="0"/>
              <a:t>What is Mesh and LoRa?</a:t>
            </a:r>
          </a:p>
        </p:txBody>
      </p:sp>
      <p:sp>
        <p:nvSpPr>
          <p:cNvPr id="3" name="Content Placeholder 2">
            <a:extLst>
              <a:ext uri="{FF2B5EF4-FFF2-40B4-BE49-F238E27FC236}">
                <a16:creationId xmlns:a16="http://schemas.microsoft.com/office/drawing/2014/main" id="{D0CEF68F-DCFF-8714-2257-43474035277D}"/>
              </a:ext>
            </a:extLst>
          </p:cNvPr>
          <p:cNvSpPr>
            <a:spLocks noGrp="1"/>
          </p:cNvSpPr>
          <p:nvPr>
            <p:ph idx="1"/>
          </p:nvPr>
        </p:nvSpPr>
        <p:spPr/>
        <p:txBody>
          <a:bodyPr>
            <a:normAutofit fontScale="92500" lnSpcReduction="10000"/>
          </a:bodyPr>
          <a:lstStyle/>
          <a:p>
            <a:r>
              <a:rPr lang="en-US" dirty="0"/>
              <a:t>Mesh: A network where nodes connect directly to as many other nodes as possible to efficiently send data to and from clients.</a:t>
            </a:r>
          </a:p>
          <a:p>
            <a:r>
              <a:rPr lang="en-US" dirty="0"/>
              <a:t>Mesh networks are decentralized, meaning it generally does not rely on one central router.</a:t>
            </a:r>
          </a:p>
          <a:p>
            <a:r>
              <a:rPr lang="en-US" dirty="0"/>
              <a:t>LoRa is a wireless radio technology designed for the long-range communication of low-power devices. Thus, it is commonly used in IoT and mesh communication, where power is a serious constraint.</a:t>
            </a:r>
          </a:p>
          <a:p>
            <a:pPr lvl="1"/>
            <a:r>
              <a:rPr lang="en-US" dirty="0"/>
              <a:t>LoRa sacrifices speed for distance and reliability.</a:t>
            </a:r>
          </a:p>
          <a:p>
            <a:r>
              <a:rPr lang="en-US" dirty="0"/>
              <a:t>LoRa is also resistant to noise (because of Chirp Spread Spectrum) and is good at detecting weak signals. However, it is vulnerable to blockage and works best with a clear line-of-sight.</a:t>
            </a:r>
          </a:p>
        </p:txBody>
      </p:sp>
    </p:spTree>
    <p:extLst>
      <p:ext uri="{BB962C8B-B14F-4D97-AF65-F5344CB8AC3E}">
        <p14:creationId xmlns:p14="http://schemas.microsoft.com/office/powerpoint/2010/main" val="38288223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B812577-3648-F899-D262-925FC95F4D99}"/>
              </a:ext>
            </a:extLst>
          </p:cNvPr>
          <p:cNvPicPr>
            <a:picLocks noChangeAspect="1"/>
          </p:cNvPicPr>
          <p:nvPr/>
        </p:nvPicPr>
        <p:blipFill>
          <a:blip r:embed="rId2"/>
          <a:stretch>
            <a:fillRect/>
          </a:stretch>
        </p:blipFill>
        <p:spPr>
          <a:xfrm>
            <a:off x="462000" y="413339"/>
            <a:ext cx="11267999" cy="5634000"/>
          </a:xfrm>
          <a:prstGeom prst="rect">
            <a:avLst/>
          </a:prstGeom>
        </p:spPr>
      </p:pic>
      <p:sp>
        <p:nvSpPr>
          <p:cNvPr id="5" name="TextBox 4">
            <a:extLst>
              <a:ext uri="{FF2B5EF4-FFF2-40B4-BE49-F238E27FC236}">
                <a16:creationId xmlns:a16="http://schemas.microsoft.com/office/drawing/2014/main" id="{4612511B-7CDD-FBBD-F088-86B2A3EF653B}"/>
              </a:ext>
            </a:extLst>
          </p:cNvPr>
          <p:cNvSpPr txBox="1"/>
          <p:nvPr/>
        </p:nvSpPr>
        <p:spPr>
          <a:xfrm>
            <a:off x="1413181" y="6099555"/>
            <a:ext cx="10177670" cy="369332"/>
          </a:xfrm>
          <a:prstGeom prst="rect">
            <a:avLst/>
          </a:prstGeom>
          <a:noFill/>
        </p:spPr>
        <p:txBody>
          <a:bodyPr wrap="square" rtlCol="0">
            <a:spAutoFit/>
          </a:bodyPr>
          <a:lstStyle/>
          <a:p>
            <a:r>
              <a:rPr lang="en-US" b="1" dirty="0"/>
              <a:t>Bandwidth: The maximum rate at which data can be transmitted within a given time frame.</a:t>
            </a:r>
          </a:p>
        </p:txBody>
      </p:sp>
    </p:spTree>
    <p:extLst>
      <p:ext uri="{BB962C8B-B14F-4D97-AF65-F5344CB8AC3E}">
        <p14:creationId xmlns:p14="http://schemas.microsoft.com/office/powerpoint/2010/main" val="1311607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1DC68D0-5D25-D8AB-EEAC-E302732AA788}"/>
              </a:ext>
            </a:extLst>
          </p:cNvPr>
          <p:cNvPicPr>
            <a:picLocks noChangeAspect="1"/>
          </p:cNvPicPr>
          <p:nvPr/>
        </p:nvPicPr>
        <p:blipFill>
          <a:blip r:embed="rId2"/>
          <a:stretch>
            <a:fillRect/>
          </a:stretch>
        </p:blipFill>
        <p:spPr>
          <a:xfrm>
            <a:off x="1310108" y="291671"/>
            <a:ext cx="9571784" cy="5373633"/>
          </a:xfrm>
          <a:prstGeom prst="rect">
            <a:avLst/>
          </a:prstGeom>
        </p:spPr>
      </p:pic>
      <p:sp>
        <p:nvSpPr>
          <p:cNvPr id="7" name="TextBox 6">
            <a:extLst>
              <a:ext uri="{FF2B5EF4-FFF2-40B4-BE49-F238E27FC236}">
                <a16:creationId xmlns:a16="http://schemas.microsoft.com/office/drawing/2014/main" id="{C7324123-6D09-2C49-688A-38ADEDBC24F8}"/>
              </a:ext>
            </a:extLst>
          </p:cNvPr>
          <p:cNvSpPr txBox="1"/>
          <p:nvPr/>
        </p:nvSpPr>
        <p:spPr>
          <a:xfrm>
            <a:off x="1310108" y="5665304"/>
            <a:ext cx="9821718" cy="707886"/>
          </a:xfrm>
          <a:prstGeom prst="rect">
            <a:avLst/>
          </a:prstGeom>
          <a:noFill/>
        </p:spPr>
        <p:txBody>
          <a:bodyPr wrap="square" rtlCol="0">
            <a:spAutoFit/>
          </a:bodyPr>
          <a:lstStyle/>
          <a:p>
            <a:r>
              <a:rPr lang="en-US" sz="2000" dirty="0"/>
              <a:t>Note: The link between the smartphone/computer does not have to be Wi-Fi but can also be Bluetooth or serial.</a:t>
            </a:r>
          </a:p>
        </p:txBody>
      </p:sp>
    </p:spTree>
    <p:extLst>
      <p:ext uri="{BB962C8B-B14F-4D97-AF65-F5344CB8AC3E}">
        <p14:creationId xmlns:p14="http://schemas.microsoft.com/office/powerpoint/2010/main" val="25776568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02959D-0974-73D5-6CB9-A223EA2E408E}"/>
              </a:ext>
            </a:extLst>
          </p:cNvPr>
          <p:cNvSpPr>
            <a:spLocks noGrp="1"/>
          </p:cNvSpPr>
          <p:nvPr>
            <p:ph type="title"/>
          </p:nvPr>
        </p:nvSpPr>
        <p:spPr/>
        <p:txBody>
          <a:bodyPr/>
          <a:lstStyle/>
          <a:p>
            <a:r>
              <a:rPr lang="en-US" dirty="0"/>
              <a:t>Why Mesh Communication? </a:t>
            </a:r>
          </a:p>
        </p:txBody>
      </p:sp>
      <p:sp>
        <p:nvSpPr>
          <p:cNvPr id="3" name="Content Placeholder 2">
            <a:extLst>
              <a:ext uri="{FF2B5EF4-FFF2-40B4-BE49-F238E27FC236}">
                <a16:creationId xmlns:a16="http://schemas.microsoft.com/office/drawing/2014/main" id="{701A3635-7216-00E4-1ABB-A90DB8B3BA73}"/>
              </a:ext>
            </a:extLst>
          </p:cNvPr>
          <p:cNvSpPr>
            <a:spLocks noGrp="1"/>
          </p:cNvSpPr>
          <p:nvPr>
            <p:ph idx="1"/>
          </p:nvPr>
        </p:nvSpPr>
        <p:spPr/>
        <p:txBody>
          <a:bodyPr>
            <a:normAutofit fontScale="92500" lnSpcReduction="10000"/>
          </a:bodyPr>
          <a:lstStyle/>
          <a:p>
            <a:r>
              <a:rPr lang="en-US" dirty="0"/>
              <a:t>Programs like Meshtastic and MeshCore use LoRa to create a mesh network, allowing for simple, long-range communication without the use of cellular or Wi-Fi.</a:t>
            </a:r>
          </a:p>
          <a:p>
            <a:r>
              <a:rPr lang="en-US" dirty="0"/>
              <a:t>Unlike traditional HAM radio, LoRa does not require certification to use. </a:t>
            </a:r>
          </a:p>
          <a:p>
            <a:r>
              <a:rPr lang="en-US" dirty="0"/>
              <a:t>Thus, LoRa mesh communications are highly appealing in the event of an emergency, where all cellular and Wi-Fi communication fails.</a:t>
            </a:r>
          </a:p>
          <a:p>
            <a:pPr lvl="1"/>
            <a:r>
              <a:rPr lang="en-US" dirty="0"/>
              <a:t>The most prominent emergency would be a natural disaster. In Halifax, the most likely emergency would be a hurricane.</a:t>
            </a:r>
          </a:p>
          <a:p>
            <a:pPr lvl="1"/>
            <a:r>
              <a:rPr lang="en-US" dirty="0"/>
              <a:t>The LoRa frequency band varies based on location. Here, it is 915 </a:t>
            </a:r>
            <a:r>
              <a:rPr lang="en-US" dirty="0" err="1"/>
              <a:t>MHz.</a:t>
            </a:r>
            <a:endParaRPr lang="en-US" dirty="0"/>
          </a:p>
          <a:p>
            <a:r>
              <a:rPr lang="en-US" dirty="0"/>
              <a:t>Hobbyists enjoy using LoRa mesh communication when hiking, camping or any other ’off-grid’ activity, to communicate with friends or family, near or far, without the need to become radio certified.</a:t>
            </a:r>
          </a:p>
        </p:txBody>
      </p:sp>
    </p:spTree>
    <p:extLst>
      <p:ext uri="{BB962C8B-B14F-4D97-AF65-F5344CB8AC3E}">
        <p14:creationId xmlns:p14="http://schemas.microsoft.com/office/powerpoint/2010/main" val="2000866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D7C043-D2FB-49C6-91A0-0F059EC6609A}"/>
              </a:ext>
            </a:extLst>
          </p:cNvPr>
          <p:cNvSpPr>
            <a:spLocks noGrp="1"/>
          </p:cNvSpPr>
          <p:nvPr>
            <p:ph type="title"/>
          </p:nvPr>
        </p:nvSpPr>
        <p:spPr/>
        <p:txBody>
          <a:bodyPr/>
          <a:lstStyle/>
          <a:p>
            <a:r>
              <a:rPr lang="en-US" dirty="0"/>
              <a:t>LoRa Mesh Networking Ecosystems</a:t>
            </a:r>
          </a:p>
        </p:txBody>
      </p:sp>
      <p:sp>
        <p:nvSpPr>
          <p:cNvPr id="3" name="Content Placeholder 2">
            <a:extLst>
              <a:ext uri="{FF2B5EF4-FFF2-40B4-BE49-F238E27FC236}">
                <a16:creationId xmlns:a16="http://schemas.microsoft.com/office/drawing/2014/main" id="{19DA90CF-BF8E-543E-65C0-44E265B0C2D7}"/>
              </a:ext>
            </a:extLst>
          </p:cNvPr>
          <p:cNvSpPr>
            <a:spLocks noGrp="1"/>
          </p:cNvSpPr>
          <p:nvPr>
            <p:ph idx="1"/>
          </p:nvPr>
        </p:nvSpPr>
        <p:spPr/>
        <p:txBody>
          <a:bodyPr>
            <a:normAutofit fontScale="92500"/>
          </a:bodyPr>
          <a:lstStyle/>
          <a:p>
            <a:r>
              <a:rPr lang="en-US" dirty="0"/>
              <a:t>The two main LoRa mesh networking ecosystems are Meshtastic and MeshCore.</a:t>
            </a:r>
          </a:p>
          <a:p>
            <a:r>
              <a:rPr lang="en-US" dirty="0"/>
              <a:t>Meshtastic is an older, open-source mesh, which uses a flood-based routing (managed flooding) algorithm to communicate. Meshtastic has a much larger community outreach because of its age.</a:t>
            </a:r>
          </a:p>
          <a:p>
            <a:r>
              <a:rPr lang="en-US" dirty="0"/>
              <a:t>MeshCore is a newer mesh which uses a role-based, multi-hop routing design to optimize mesh performance when a specific use case is known. MeshCore has a smaller, but rapidly growing community.</a:t>
            </a:r>
          </a:p>
          <a:p>
            <a:r>
              <a:rPr lang="en-US" dirty="0"/>
              <a:t>Although Meshtastic vs. MeshCore is a popular debate in the mesh community, the best program depends on the use case.</a:t>
            </a:r>
          </a:p>
        </p:txBody>
      </p:sp>
    </p:spTree>
    <p:extLst>
      <p:ext uri="{BB962C8B-B14F-4D97-AF65-F5344CB8AC3E}">
        <p14:creationId xmlns:p14="http://schemas.microsoft.com/office/powerpoint/2010/main" val="35406582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A7BC8A-29ED-ECA3-A9E2-8D0D03095746}"/>
              </a:ext>
            </a:extLst>
          </p:cNvPr>
          <p:cNvSpPr>
            <a:spLocks noGrp="1"/>
          </p:cNvSpPr>
          <p:nvPr>
            <p:ph type="title"/>
          </p:nvPr>
        </p:nvSpPr>
        <p:spPr/>
        <p:txBody>
          <a:bodyPr/>
          <a:lstStyle/>
          <a:p>
            <a:r>
              <a:rPr lang="en-US" dirty="0"/>
              <a:t>Meshtastic</a:t>
            </a:r>
          </a:p>
        </p:txBody>
      </p:sp>
      <p:sp>
        <p:nvSpPr>
          <p:cNvPr id="3" name="Content Placeholder 2">
            <a:extLst>
              <a:ext uri="{FF2B5EF4-FFF2-40B4-BE49-F238E27FC236}">
                <a16:creationId xmlns:a16="http://schemas.microsoft.com/office/drawing/2014/main" id="{A40765B6-56FE-7623-6C18-379B666087A5}"/>
              </a:ext>
            </a:extLst>
          </p:cNvPr>
          <p:cNvSpPr>
            <a:spLocks noGrp="1"/>
          </p:cNvSpPr>
          <p:nvPr>
            <p:ph idx="1"/>
          </p:nvPr>
        </p:nvSpPr>
        <p:spPr/>
        <p:txBody>
          <a:bodyPr>
            <a:normAutofit/>
          </a:bodyPr>
          <a:lstStyle/>
          <a:p>
            <a:r>
              <a:rPr lang="en-US" dirty="0"/>
              <a:t>Meshtastic is an open-source communication system that allows low-power devices to communicate long distances without the use of Wi-Fi or a cellular network, by taking advantage of LoRa radio.</a:t>
            </a:r>
          </a:p>
          <a:p>
            <a:r>
              <a:rPr lang="en-US" dirty="0"/>
              <a:t>Meshtastic is accessible and easy to use. Anyone can buy a node, flash the firmware onto the device with little restriction and begin communication with other nodes via web or mobile.</a:t>
            </a:r>
          </a:p>
          <a:p>
            <a:r>
              <a:rPr lang="en-US" dirty="0"/>
              <a:t>Meshtastic is supported by a wide variety of devices, including most ESP32, nRF52 and Raspberry Pi Devices. A list of supported devices can be found on the Meshtastic documentation.</a:t>
            </a:r>
          </a:p>
          <a:p>
            <a:endParaRPr lang="en-US" dirty="0"/>
          </a:p>
          <a:p>
            <a:endParaRPr lang="en-US" dirty="0"/>
          </a:p>
        </p:txBody>
      </p:sp>
    </p:spTree>
    <p:extLst>
      <p:ext uri="{BB962C8B-B14F-4D97-AF65-F5344CB8AC3E}">
        <p14:creationId xmlns:p14="http://schemas.microsoft.com/office/powerpoint/2010/main" val="29533540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C007AA-05C6-7A44-64B5-8AB79551E39C}"/>
              </a:ext>
            </a:extLst>
          </p:cNvPr>
          <p:cNvSpPr>
            <a:spLocks noGrp="1"/>
          </p:cNvSpPr>
          <p:nvPr>
            <p:ph type="title"/>
          </p:nvPr>
        </p:nvSpPr>
        <p:spPr/>
        <p:txBody>
          <a:bodyPr/>
          <a:lstStyle/>
          <a:p>
            <a:r>
              <a:rPr lang="en-US" dirty="0"/>
              <a:t>Meshtastic cont.</a:t>
            </a:r>
          </a:p>
        </p:txBody>
      </p:sp>
      <p:sp>
        <p:nvSpPr>
          <p:cNvPr id="3" name="Content Placeholder 2">
            <a:extLst>
              <a:ext uri="{FF2B5EF4-FFF2-40B4-BE49-F238E27FC236}">
                <a16:creationId xmlns:a16="http://schemas.microsoft.com/office/drawing/2014/main" id="{61F7A850-54CA-16A1-DE04-B055522D50CA}"/>
              </a:ext>
            </a:extLst>
          </p:cNvPr>
          <p:cNvSpPr>
            <a:spLocks noGrp="1"/>
          </p:cNvSpPr>
          <p:nvPr>
            <p:ph idx="1"/>
          </p:nvPr>
        </p:nvSpPr>
        <p:spPr/>
        <p:txBody>
          <a:bodyPr>
            <a:normAutofit/>
          </a:bodyPr>
          <a:lstStyle/>
          <a:p>
            <a:r>
              <a:rPr lang="en-US" dirty="0"/>
              <a:t>The Meshtastic algorithm is a ‘managed flooding’ design.</a:t>
            </a:r>
          </a:p>
          <a:p>
            <a:pPr lvl="1"/>
            <a:r>
              <a:rPr lang="en-US" dirty="0"/>
              <a:t>See next slide</a:t>
            </a:r>
          </a:p>
          <a:p>
            <a:r>
              <a:rPr lang="en-US" dirty="0"/>
              <a:t>Flood routing is a routing method where if a node hears a new packet, it will automatically rebroadcast it until the maximum hop count is reached or the node has already seen the packet.</a:t>
            </a:r>
          </a:p>
          <a:p>
            <a:pPr lvl="1"/>
            <a:r>
              <a:rPr lang="en-US" dirty="0"/>
              <a:t>Max hops is 3 by default, absolute max is 7</a:t>
            </a:r>
          </a:p>
          <a:p>
            <a:r>
              <a:rPr lang="en-US" dirty="0"/>
              <a:t>Thus, every node is both a sender and receiver. For the most part, every node is equal. </a:t>
            </a:r>
          </a:p>
          <a:p>
            <a:pPr lvl="1"/>
            <a:r>
              <a:rPr lang="en-US" dirty="0"/>
              <a:t>Nodes that are further away tend to have higher priority to flood first, while closer nodes will refrain from flooding.</a:t>
            </a:r>
          </a:p>
        </p:txBody>
      </p:sp>
    </p:spTree>
    <p:extLst>
      <p:ext uri="{BB962C8B-B14F-4D97-AF65-F5344CB8AC3E}">
        <p14:creationId xmlns:p14="http://schemas.microsoft.com/office/powerpoint/2010/main" val="16072711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47F916-1380-6E35-5AA6-FA68DB55E8F2}"/>
              </a:ext>
            </a:extLst>
          </p:cNvPr>
          <p:cNvSpPr>
            <a:spLocks noGrp="1"/>
          </p:cNvSpPr>
          <p:nvPr>
            <p:ph type="title"/>
          </p:nvPr>
        </p:nvSpPr>
        <p:spPr/>
        <p:txBody>
          <a:bodyPr/>
          <a:lstStyle/>
          <a:p>
            <a:r>
              <a:rPr lang="en-US" dirty="0"/>
              <a:t>Meshtastic cont.</a:t>
            </a:r>
          </a:p>
        </p:txBody>
      </p:sp>
      <p:sp>
        <p:nvSpPr>
          <p:cNvPr id="3" name="Content Placeholder 2">
            <a:extLst>
              <a:ext uri="{FF2B5EF4-FFF2-40B4-BE49-F238E27FC236}">
                <a16:creationId xmlns:a16="http://schemas.microsoft.com/office/drawing/2014/main" id="{C4AD4DD9-E02F-49AF-D969-54AAD2B04C10}"/>
              </a:ext>
            </a:extLst>
          </p:cNvPr>
          <p:cNvSpPr>
            <a:spLocks noGrp="1"/>
          </p:cNvSpPr>
          <p:nvPr>
            <p:ph idx="1"/>
          </p:nvPr>
        </p:nvSpPr>
        <p:spPr/>
        <p:txBody>
          <a:bodyPr>
            <a:normAutofit lnSpcReduction="10000"/>
          </a:bodyPr>
          <a:lstStyle/>
          <a:p>
            <a:r>
              <a:rPr lang="en-US" dirty="0"/>
              <a:t>What makes Meshtastic a managed flooding design is that it uses flood routing, but if another nearby node has already rebroadcasted the current packet, it will not rebroadcast it.</a:t>
            </a:r>
          </a:p>
          <a:p>
            <a:pPr lvl="1"/>
            <a:r>
              <a:rPr lang="en-US" dirty="0"/>
              <a:t>Increases simplicity, reduces unnecessary traffic.</a:t>
            </a:r>
          </a:p>
          <a:p>
            <a:r>
              <a:rPr lang="en-US" dirty="0"/>
              <a:t>The only exception to the managed flooding design is with direct messaging.</a:t>
            </a:r>
          </a:p>
          <a:p>
            <a:pPr lvl="1"/>
            <a:r>
              <a:rPr lang="en-US" dirty="0"/>
              <a:t>If direct messaging is detected, the nodes involved in the previous transmission/response will be marked as next-hop.</a:t>
            </a:r>
          </a:p>
          <a:p>
            <a:r>
              <a:rPr lang="en-US" dirty="0"/>
              <a:t>Although Meshtastic nodes do have roles, they mostly change sleep behavior and relay behavior. All nodes still must participate in flooding.</a:t>
            </a:r>
            <a:endParaRPr lang="en-US" i="1" dirty="0"/>
          </a:p>
        </p:txBody>
      </p:sp>
    </p:spTree>
    <p:extLst>
      <p:ext uri="{BB962C8B-B14F-4D97-AF65-F5344CB8AC3E}">
        <p14:creationId xmlns:p14="http://schemas.microsoft.com/office/powerpoint/2010/main" val="12692970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0F5103-CA06-82EB-9DA7-700FF348477E}"/>
              </a:ext>
            </a:extLst>
          </p:cNvPr>
          <p:cNvSpPr>
            <a:spLocks noGrp="1"/>
          </p:cNvSpPr>
          <p:nvPr>
            <p:ph type="title"/>
          </p:nvPr>
        </p:nvSpPr>
        <p:spPr/>
        <p:txBody>
          <a:bodyPr/>
          <a:lstStyle/>
          <a:p>
            <a:r>
              <a:rPr lang="en-US" dirty="0"/>
              <a:t>Meshtastic LoRa Configuration</a:t>
            </a:r>
          </a:p>
        </p:txBody>
      </p:sp>
      <p:sp>
        <p:nvSpPr>
          <p:cNvPr id="3" name="Content Placeholder 2">
            <a:extLst>
              <a:ext uri="{FF2B5EF4-FFF2-40B4-BE49-F238E27FC236}">
                <a16:creationId xmlns:a16="http://schemas.microsoft.com/office/drawing/2014/main" id="{121454F1-EDC2-09B3-3E0D-F76051D1466F}"/>
              </a:ext>
            </a:extLst>
          </p:cNvPr>
          <p:cNvSpPr>
            <a:spLocks noGrp="1"/>
          </p:cNvSpPr>
          <p:nvPr>
            <p:ph idx="1"/>
          </p:nvPr>
        </p:nvSpPr>
        <p:spPr/>
        <p:txBody>
          <a:bodyPr>
            <a:normAutofit fontScale="92500" lnSpcReduction="10000"/>
          </a:bodyPr>
          <a:lstStyle/>
          <a:p>
            <a:r>
              <a:rPr lang="en-US" dirty="0"/>
              <a:t>Meshtastic provides a multitude of LoRa configuration settings to allow the user to fine tune the communication based on the mesh setup and use case.</a:t>
            </a:r>
          </a:p>
          <a:p>
            <a:r>
              <a:rPr lang="en-US" dirty="0"/>
              <a:t>The most important of these include:</a:t>
            </a:r>
          </a:p>
          <a:p>
            <a:pPr lvl="1"/>
            <a:r>
              <a:rPr lang="en-US" b="1" dirty="0"/>
              <a:t>Region (Required)</a:t>
            </a:r>
          </a:p>
          <a:p>
            <a:pPr lvl="1"/>
            <a:r>
              <a:rPr lang="en-US" b="1" dirty="0"/>
              <a:t>Modem Preset</a:t>
            </a:r>
          </a:p>
          <a:p>
            <a:pPr lvl="1"/>
            <a:r>
              <a:rPr lang="en-US" dirty="0"/>
              <a:t>Max Hops</a:t>
            </a:r>
          </a:p>
          <a:p>
            <a:pPr lvl="1"/>
            <a:r>
              <a:rPr lang="en-US" dirty="0"/>
              <a:t>Transmit Power</a:t>
            </a:r>
          </a:p>
          <a:p>
            <a:pPr lvl="1"/>
            <a:r>
              <a:rPr lang="en-US" dirty="0"/>
              <a:t>Bandwidth</a:t>
            </a:r>
          </a:p>
          <a:p>
            <a:pPr lvl="1"/>
            <a:r>
              <a:rPr lang="en-US" dirty="0"/>
              <a:t>Spread Factor</a:t>
            </a:r>
          </a:p>
          <a:p>
            <a:pPr lvl="1"/>
            <a:r>
              <a:rPr lang="en-US" dirty="0"/>
              <a:t>Coding Rate</a:t>
            </a:r>
          </a:p>
          <a:p>
            <a:r>
              <a:rPr lang="en-US" dirty="0"/>
              <a:t>All nodes must share the same configuration settings to communicate. </a:t>
            </a:r>
          </a:p>
        </p:txBody>
      </p:sp>
    </p:spTree>
    <p:extLst>
      <p:ext uri="{BB962C8B-B14F-4D97-AF65-F5344CB8AC3E}">
        <p14:creationId xmlns:p14="http://schemas.microsoft.com/office/powerpoint/2010/main" val="30157654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F62DB3-A064-B3E8-100B-B7BD68B4FA76}"/>
              </a:ext>
            </a:extLst>
          </p:cNvPr>
          <p:cNvSpPr>
            <a:spLocks noGrp="1"/>
          </p:cNvSpPr>
          <p:nvPr>
            <p:ph type="title"/>
          </p:nvPr>
        </p:nvSpPr>
        <p:spPr/>
        <p:txBody>
          <a:bodyPr/>
          <a:lstStyle/>
          <a:p>
            <a:r>
              <a:rPr lang="en-US" dirty="0"/>
              <a:t>MeshCore</a:t>
            </a:r>
          </a:p>
        </p:txBody>
      </p:sp>
      <p:sp>
        <p:nvSpPr>
          <p:cNvPr id="3" name="Content Placeholder 2">
            <a:extLst>
              <a:ext uri="{FF2B5EF4-FFF2-40B4-BE49-F238E27FC236}">
                <a16:creationId xmlns:a16="http://schemas.microsoft.com/office/drawing/2014/main" id="{804BF795-BBB1-7371-1286-14098EDB369B}"/>
              </a:ext>
            </a:extLst>
          </p:cNvPr>
          <p:cNvSpPr>
            <a:spLocks noGrp="1"/>
          </p:cNvSpPr>
          <p:nvPr>
            <p:ph idx="1"/>
          </p:nvPr>
        </p:nvSpPr>
        <p:spPr/>
        <p:txBody>
          <a:bodyPr>
            <a:normAutofit fontScale="92500" lnSpcReduction="10000"/>
          </a:bodyPr>
          <a:lstStyle/>
          <a:p>
            <a:r>
              <a:rPr lang="en-US" dirty="0"/>
              <a:t>MeshCore, just like Meshtastic, is an open-source communication system that uses LoRa to allow low power devices to communicate without the internet.</a:t>
            </a:r>
          </a:p>
          <a:p>
            <a:r>
              <a:rPr lang="en-US" dirty="0"/>
              <a:t>Although the two have similar functions, Meshtastic and MeshCore differ in their architecture. While Meshtastic uses managed flooding, MeshCore uses a hybrid next-hop routing system.</a:t>
            </a:r>
          </a:p>
          <a:p>
            <a:r>
              <a:rPr lang="en-US" dirty="0"/>
              <a:t>How does hybrid routing work?</a:t>
            </a:r>
          </a:p>
          <a:p>
            <a:pPr lvl="1"/>
            <a:r>
              <a:rPr lang="en-US" dirty="0"/>
              <a:t>Flood routing is used for the first message between two nodes. When the message arrives successfully, the receiving node send back a path-return packet. This allows the sending node to add this route to its contacts.</a:t>
            </a:r>
          </a:p>
          <a:p>
            <a:pPr lvl="1"/>
            <a:r>
              <a:rPr lang="en-US" dirty="0"/>
              <a:t>For any future communication between the same nodes, the flood will be skipped, and the message will move directly as specified in the saved route. If the route is lost, communication will fall back to flooding.</a:t>
            </a:r>
          </a:p>
        </p:txBody>
      </p:sp>
    </p:spTree>
    <p:extLst>
      <p:ext uri="{BB962C8B-B14F-4D97-AF65-F5344CB8AC3E}">
        <p14:creationId xmlns:p14="http://schemas.microsoft.com/office/powerpoint/2010/main" val="1427460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0EA49B-3FBE-E2D8-4B33-0FB385A755A7}"/>
              </a:ext>
            </a:extLst>
          </p:cNvPr>
          <p:cNvSpPr>
            <a:spLocks noGrp="1"/>
          </p:cNvSpPr>
          <p:nvPr>
            <p:ph type="title"/>
          </p:nvPr>
        </p:nvSpPr>
        <p:spPr/>
        <p:txBody>
          <a:bodyPr/>
          <a:lstStyle/>
          <a:p>
            <a:r>
              <a:rPr lang="en-US" dirty="0"/>
              <a:t>MeshCore cont.</a:t>
            </a:r>
          </a:p>
        </p:txBody>
      </p:sp>
      <p:sp>
        <p:nvSpPr>
          <p:cNvPr id="3" name="Content Placeholder 2">
            <a:extLst>
              <a:ext uri="{FF2B5EF4-FFF2-40B4-BE49-F238E27FC236}">
                <a16:creationId xmlns:a16="http://schemas.microsoft.com/office/drawing/2014/main" id="{6B635A54-5B7B-B4E0-2CCA-19516AB323DA}"/>
              </a:ext>
            </a:extLst>
          </p:cNvPr>
          <p:cNvSpPr>
            <a:spLocks noGrp="1"/>
          </p:cNvSpPr>
          <p:nvPr>
            <p:ph idx="1"/>
          </p:nvPr>
        </p:nvSpPr>
        <p:spPr/>
        <p:txBody>
          <a:bodyPr>
            <a:normAutofit fontScale="92500"/>
          </a:bodyPr>
          <a:lstStyle/>
          <a:p>
            <a:r>
              <a:rPr lang="en-US" dirty="0"/>
              <a:t>Because MeshCore uses a hybrid next-hop routing system, MeshCore requires that nodes have varying roles. MeshCore has three key roles:</a:t>
            </a:r>
          </a:p>
          <a:p>
            <a:pPr lvl="1"/>
            <a:r>
              <a:rPr lang="en-US" dirty="0"/>
              <a:t>Companion</a:t>
            </a:r>
          </a:p>
          <a:p>
            <a:pPr lvl="1"/>
            <a:r>
              <a:rPr lang="en-US" dirty="0"/>
              <a:t>Repeater</a:t>
            </a:r>
          </a:p>
          <a:p>
            <a:pPr lvl="1"/>
            <a:r>
              <a:rPr lang="en-US" dirty="0"/>
              <a:t>Room Server</a:t>
            </a:r>
          </a:p>
          <a:p>
            <a:r>
              <a:rPr lang="en-US" dirty="0"/>
              <a:t>Companion devices connect to your phone and are used to send and receive messages. Repeater devices’ main purpose is to rebroadcast packets.</a:t>
            </a:r>
          </a:p>
          <a:p>
            <a:r>
              <a:rPr lang="en-US" dirty="0"/>
              <a:t>The downside with the hybrid routing system is that a learned path must stay stable, meaning that if a repeater is moved, it is highly likely that the route will break.</a:t>
            </a:r>
          </a:p>
          <a:p>
            <a:endParaRPr lang="en-US" dirty="0"/>
          </a:p>
          <a:p>
            <a:endParaRPr lang="en-US" dirty="0"/>
          </a:p>
        </p:txBody>
      </p:sp>
    </p:spTree>
    <p:extLst>
      <p:ext uri="{BB962C8B-B14F-4D97-AF65-F5344CB8AC3E}">
        <p14:creationId xmlns:p14="http://schemas.microsoft.com/office/powerpoint/2010/main" val="31631538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34D2D9-3BC1-F202-DC00-2D4F3160121B}"/>
              </a:ext>
            </a:extLst>
          </p:cNvPr>
          <p:cNvSpPr>
            <a:spLocks noGrp="1"/>
          </p:cNvSpPr>
          <p:nvPr>
            <p:ph type="title"/>
          </p:nvPr>
        </p:nvSpPr>
        <p:spPr/>
        <p:txBody>
          <a:bodyPr/>
          <a:lstStyle/>
          <a:p>
            <a:r>
              <a:rPr lang="en-US" dirty="0"/>
              <a:t>Meshtastic vs. MeshCore</a:t>
            </a:r>
          </a:p>
        </p:txBody>
      </p:sp>
      <p:sp>
        <p:nvSpPr>
          <p:cNvPr id="3" name="Content Placeholder 2">
            <a:extLst>
              <a:ext uri="{FF2B5EF4-FFF2-40B4-BE49-F238E27FC236}">
                <a16:creationId xmlns:a16="http://schemas.microsoft.com/office/drawing/2014/main" id="{EA3C4E8F-C74D-4A4C-573B-51DE0AE75F4D}"/>
              </a:ext>
            </a:extLst>
          </p:cNvPr>
          <p:cNvSpPr>
            <a:spLocks noGrp="1"/>
          </p:cNvSpPr>
          <p:nvPr>
            <p:ph idx="1"/>
          </p:nvPr>
        </p:nvSpPr>
        <p:spPr>
          <a:xfrm>
            <a:off x="838200" y="1510748"/>
            <a:ext cx="10515600" cy="4982127"/>
          </a:xfrm>
        </p:spPr>
        <p:txBody>
          <a:bodyPr>
            <a:normAutofit fontScale="92500" lnSpcReduction="20000"/>
          </a:bodyPr>
          <a:lstStyle/>
          <a:p>
            <a:r>
              <a:rPr lang="en-US" dirty="0"/>
              <a:t>As hop count increases, managed flooding becomes highly airtime intensive. More nodes rebroadcasting results in more redundant transmissions.</a:t>
            </a:r>
          </a:p>
          <a:p>
            <a:pPr lvl="1"/>
            <a:r>
              <a:rPr lang="en-US" dirty="0"/>
              <a:t>Airtime = How long a packet occupies the radio channel throughout transmission.</a:t>
            </a:r>
          </a:p>
          <a:p>
            <a:r>
              <a:rPr lang="en-US" dirty="0"/>
              <a:t>Because of this, Meshtastic has their hop limit set to 7 at most. MeshCore on the other hand, has a hop limit of 64, thus, allowing longer potential routes.</a:t>
            </a:r>
          </a:p>
          <a:p>
            <a:r>
              <a:rPr lang="en-US" dirty="0"/>
              <a:t>MeshCore’s learned-path routing requires that repeaters do not move. Thus, Meshtastic is the best form of communication for off-grid, mobile groups (For example, a group of hikers or campers)</a:t>
            </a:r>
          </a:p>
          <a:p>
            <a:r>
              <a:rPr lang="en-US" dirty="0"/>
              <a:t>Meshtastic also has more supported hardware, documentation and telemetry data.</a:t>
            </a:r>
          </a:p>
          <a:p>
            <a:r>
              <a:rPr lang="en-US" dirty="0"/>
              <a:t>Meshtastic is versatile and simple, while MeshCore is best for stationary, optimization-focused meshes.</a:t>
            </a:r>
          </a:p>
        </p:txBody>
      </p:sp>
    </p:spTree>
    <p:extLst>
      <p:ext uri="{BB962C8B-B14F-4D97-AF65-F5344CB8AC3E}">
        <p14:creationId xmlns:p14="http://schemas.microsoft.com/office/powerpoint/2010/main" val="42191006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571DE5F-0634-1F64-44DC-E8669DC83938}"/>
              </a:ext>
            </a:extLst>
          </p:cNvPr>
          <p:cNvPicPr>
            <a:picLocks noChangeAspect="1"/>
          </p:cNvPicPr>
          <p:nvPr/>
        </p:nvPicPr>
        <p:blipFill>
          <a:blip r:embed="rId2"/>
          <a:stretch>
            <a:fillRect/>
          </a:stretch>
        </p:blipFill>
        <p:spPr>
          <a:xfrm>
            <a:off x="2657061" y="57871"/>
            <a:ext cx="6877878" cy="6742258"/>
          </a:xfrm>
          <a:prstGeom prst="rect">
            <a:avLst/>
          </a:prstGeom>
        </p:spPr>
      </p:pic>
    </p:spTree>
    <p:extLst>
      <p:ext uri="{BB962C8B-B14F-4D97-AF65-F5344CB8AC3E}">
        <p14:creationId xmlns:p14="http://schemas.microsoft.com/office/powerpoint/2010/main" val="36105484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FB2950-F008-4C88-8F0D-2739E595D6A5}"/>
              </a:ext>
            </a:extLst>
          </p:cNvPr>
          <p:cNvSpPr>
            <a:spLocks noGrp="1"/>
          </p:cNvSpPr>
          <p:nvPr>
            <p:ph type="title"/>
          </p:nvPr>
        </p:nvSpPr>
        <p:spPr/>
        <p:txBody>
          <a:bodyPr/>
          <a:lstStyle/>
          <a:p>
            <a:r>
              <a:rPr lang="en-US" dirty="0"/>
              <a:t>Meshtastic Encryption</a:t>
            </a:r>
          </a:p>
        </p:txBody>
      </p:sp>
      <p:sp>
        <p:nvSpPr>
          <p:cNvPr id="3" name="Content Placeholder 2">
            <a:extLst>
              <a:ext uri="{FF2B5EF4-FFF2-40B4-BE49-F238E27FC236}">
                <a16:creationId xmlns:a16="http://schemas.microsoft.com/office/drawing/2014/main" id="{9AEBFDE6-FC18-09E9-8B5C-01696170E76E}"/>
              </a:ext>
            </a:extLst>
          </p:cNvPr>
          <p:cNvSpPr>
            <a:spLocks noGrp="1"/>
          </p:cNvSpPr>
          <p:nvPr>
            <p:ph idx="1"/>
          </p:nvPr>
        </p:nvSpPr>
        <p:spPr/>
        <p:txBody>
          <a:bodyPr>
            <a:normAutofit lnSpcReduction="10000"/>
          </a:bodyPr>
          <a:lstStyle/>
          <a:p>
            <a:r>
              <a:rPr lang="en-US" dirty="0"/>
              <a:t>Meshtastic is encrypted using AES-256 in CTR mode. However, only the payload is encrypted, not the header/metadata.</a:t>
            </a:r>
          </a:p>
          <a:p>
            <a:pPr lvl="1"/>
            <a:r>
              <a:rPr lang="en-US" dirty="0"/>
              <a:t>Important for flooding: unencrypted headers allow nodes to forward packets they cannot decrypt.</a:t>
            </a:r>
          </a:p>
          <a:p>
            <a:r>
              <a:rPr lang="en-US" dirty="0"/>
              <a:t>Meshtastic channels are secured using a Pre-Shared Key. Everyone in the channel (including intermediate nodes) are members of the channel and have access to the key.</a:t>
            </a:r>
          </a:p>
          <a:p>
            <a:pPr lvl="1"/>
            <a:r>
              <a:rPr lang="en-US" dirty="0"/>
              <a:t>It is a bad idea to share private info while leaving nodes unattended!</a:t>
            </a:r>
          </a:p>
          <a:p>
            <a:r>
              <a:rPr lang="en-US" dirty="0"/>
              <a:t>Meshtastic DMs are encrypted using Public Key Cryptography. Only senders and recipients have access to private keys, meaning intermediate nodes do not have access to message contents.</a:t>
            </a:r>
          </a:p>
        </p:txBody>
      </p:sp>
    </p:spTree>
    <p:extLst>
      <p:ext uri="{BB962C8B-B14F-4D97-AF65-F5344CB8AC3E}">
        <p14:creationId xmlns:p14="http://schemas.microsoft.com/office/powerpoint/2010/main" val="41276989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81761-2B19-13A8-7E68-E66E8C94FECB}"/>
              </a:ext>
            </a:extLst>
          </p:cNvPr>
          <p:cNvSpPr>
            <a:spLocks noGrp="1"/>
          </p:cNvSpPr>
          <p:nvPr>
            <p:ph type="title"/>
          </p:nvPr>
        </p:nvSpPr>
        <p:spPr/>
        <p:txBody>
          <a:bodyPr/>
          <a:lstStyle/>
          <a:p>
            <a:r>
              <a:rPr lang="en-US" dirty="0"/>
              <a:t>MeshCore Encryption</a:t>
            </a:r>
          </a:p>
        </p:txBody>
      </p:sp>
      <p:sp>
        <p:nvSpPr>
          <p:cNvPr id="3" name="Content Placeholder 2">
            <a:extLst>
              <a:ext uri="{FF2B5EF4-FFF2-40B4-BE49-F238E27FC236}">
                <a16:creationId xmlns:a16="http://schemas.microsoft.com/office/drawing/2014/main" id="{1219691F-F656-B1F3-D15F-03678E457D5C}"/>
              </a:ext>
            </a:extLst>
          </p:cNvPr>
          <p:cNvSpPr>
            <a:spLocks noGrp="1"/>
          </p:cNvSpPr>
          <p:nvPr>
            <p:ph idx="1"/>
          </p:nvPr>
        </p:nvSpPr>
        <p:spPr/>
        <p:txBody>
          <a:bodyPr>
            <a:normAutofit lnSpcReduction="10000"/>
          </a:bodyPr>
          <a:lstStyle/>
          <a:p>
            <a:r>
              <a:rPr lang="en-US" dirty="0"/>
              <a:t>There is very little difference between message encryption between Meshtastic and MeshCore.</a:t>
            </a:r>
          </a:p>
          <a:p>
            <a:r>
              <a:rPr lang="en-US" dirty="0"/>
              <a:t>MeshCore channels are secured using a PSK, where all members of the channel, including intermediate nodes, have access to messages.</a:t>
            </a:r>
          </a:p>
          <a:p>
            <a:r>
              <a:rPr lang="en-US" dirty="0"/>
              <a:t>MeshCore DMs are also secured with PKC, establishing end-to-end encryption between users.</a:t>
            </a:r>
          </a:p>
          <a:p>
            <a:r>
              <a:rPr lang="en-US" dirty="0"/>
              <a:t>One difference between the two systems is that MeshCore is AES-128 encrypted (according to the MeshCore website)  while Meshtastic is AES-256 encrypted. Both are still extremely secure.</a:t>
            </a:r>
          </a:p>
          <a:p>
            <a:pPr lvl="1"/>
            <a:r>
              <a:rPr lang="en-US" dirty="0"/>
              <a:t>Maybe Meshtastic is more ‘quantum-resistant’ if that is a concern.</a:t>
            </a:r>
          </a:p>
        </p:txBody>
      </p:sp>
    </p:spTree>
    <p:extLst>
      <p:ext uri="{BB962C8B-B14F-4D97-AF65-F5344CB8AC3E}">
        <p14:creationId xmlns:p14="http://schemas.microsoft.com/office/powerpoint/2010/main" val="36349122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906BE9-B8E7-D20E-88CC-A652B2662B4B}"/>
              </a:ext>
            </a:extLst>
          </p:cNvPr>
          <p:cNvSpPr>
            <a:spLocks noGrp="1"/>
          </p:cNvSpPr>
          <p:nvPr>
            <p:ph type="title"/>
          </p:nvPr>
        </p:nvSpPr>
        <p:spPr>
          <a:xfrm>
            <a:off x="838200" y="1326966"/>
            <a:ext cx="10515600" cy="2852737"/>
          </a:xfrm>
        </p:spPr>
        <p:txBody>
          <a:bodyPr/>
          <a:lstStyle/>
          <a:p>
            <a:pPr algn="ctr"/>
            <a:r>
              <a:rPr lang="en-US" dirty="0"/>
              <a:t>Readings</a:t>
            </a:r>
          </a:p>
        </p:txBody>
      </p:sp>
    </p:spTree>
    <p:extLst>
      <p:ext uri="{BB962C8B-B14F-4D97-AF65-F5344CB8AC3E}">
        <p14:creationId xmlns:p14="http://schemas.microsoft.com/office/powerpoint/2010/main" val="4223004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4661A-DA57-FFD7-27A8-D6499BDEF3F5}"/>
              </a:ext>
            </a:extLst>
          </p:cNvPr>
          <p:cNvSpPr>
            <a:spLocks noGrp="1"/>
          </p:cNvSpPr>
          <p:nvPr>
            <p:ph type="title"/>
          </p:nvPr>
        </p:nvSpPr>
        <p:spPr/>
        <p:txBody>
          <a:bodyPr/>
          <a:lstStyle/>
          <a:p>
            <a:r>
              <a:rPr lang="en-US" dirty="0"/>
              <a:t>Meshtastic Main Site</a:t>
            </a:r>
          </a:p>
        </p:txBody>
      </p:sp>
      <p:sp>
        <p:nvSpPr>
          <p:cNvPr id="3" name="Content Placeholder 2">
            <a:extLst>
              <a:ext uri="{FF2B5EF4-FFF2-40B4-BE49-F238E27FC236}">
                <a16:creationId xmlns:a16="http://schemas.microsoft.com/office/drawing/2014/main" id="{BFC04494-A36F-A065-309C-1674913797D9}"/>
              </a:ext>
            </a:extLst>
          </p:cNvPr>
          <p:cNvSpPr>
            <a:spLocks noGrp="1"/>
          </p:cNvSpPr>
          <p:nvPr>
            <p:ph idx="1"/>
          </p:nvPr>
        </p:nvSpPr>
        <p:spPr/>
        <p:txBody>
          <a:bodyPr>
            <a:normAutofit fontScale="92500" lnSpcReduction="20000"/>
          </a:bodyPr>
          <a:lstStyle/>
          <a:p>
            <a:r>
              <a:rPr lang="en-US" dirty="0"/>
              <a:t>The </a:t>
            </a:r>
            <a:r>
              <a:rPr lang="en-US" dirty="0">
                <a:hlinkClick r:id="rId3"/>
              </a:rPr>
              <a:t>Meshtastic website </a:t>
            </a:r>
            <a:r>
              <a:rPr lang="en-US" dirty="0"/>
              <a:t>is, unsurprisingly, the absolute best resource for anything Meshtastic related.</a:t>
            </a:r>
          </a:p>
          <a:p>
            <a:r>
              <a:rPr lang="en-US" dirty="0"/>
              <a:t>The documentation covers Meshtastic basics, as well as the smallest of details.</a:t>
            </a:r>
          </a:p>
          <a:p>
            <a:r>
              <a:rPr lang="en-US" dirty="0"/>
              <a:t>Key areas in the documentation include:</a:t>
            </a:r>
          </a:p>
          <a:p>
            <a:pPr lvl="1"/>
            <a:r>
              <a:rPr lang="en-US" dirty="0"/>
              <a:t>Radio settings</a:t>
            </a:r>
          </a:p>
          <a:p>
            <a:pPr lvl="1"/>
            <a:r>
              <a:rPr lang="en-US" dirty="0"/>
              <a:t>Meshtastic Algorithm and Encryption details</a:t>
            </a:r>
          </a:p>
          <a:p>
            <a:pPr lvl="1"/>
            <a:r>
              <a:rPr lang="en-US" dirty="0"/>
              <a:t>Installing and flashing firmware</a:t>
            </a:r>
          </a:p>
          <a:p>
            <a:pPr lvl="1"/>
            <a:r>
              <a:rPr lang="en-US" dirty="0"/>
              <a:t>Device configuration (most importantly and radio, module config)</a:t>
            </a:r>
          </a:p>
          <a:p>
            <a:pPr lvl="1"/>
            <a:r>
              <a:rPr lang="en-US" dirty="0"/>
              <a:t>Compatible hardware</a:t>
            </a:r>
          </a:p>
          <a:p>
            <a:pPr lvl="1"/>
            <a:r>
              <a:rPr lang="en-US" dirty="0"/>
              <a:t>Additional software</a:t>
            </a:r>
          </a:p>
          <a:p>
            <a:pPr lvl="1"/>
            <a:r>
              <a:rPr lang="en-US" dirty="0"/>
              <a:t>Development guides</a:t>
            </a:r>
          </a:p>
          <a:p>
            <a:pPr lvl="1"/>
            <a:r>
              <a:rPr lang="en-US" dirty="0"/>
              <a:t>And more</a:t>
            </a:r>
          </a:p>
          <a:p>
            <a:pPr lvl="1"/>
            <a:endParaRPr lang="en-US" dirty="0"/>
          </a:p>
        </p:txBody>
      </p:sp>
    </p:spTree>
    <p:extLst>
      <p:ext uri="{BB962C8B-B14F-4D97-AF65-F5344CB8AC3E}">
        <p14:creationId xmlns:p14="http://schemas.microsoft.com/office/powerpoint/2010/main" val="12663934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4C084-5150-B5C4-CA79-266C6FBB4764}"/>
              </a:ext>
            </a:extLst>
          </p:cNvPr>
          <p:cNvSpPr>
            <a:spLocks noGrp="1"/>
          </p:cNvSpPr>
          <p:nvPr>
            <p:ph type="title"/>
          </p:nvPr>
        </p:nvSpPr>
        <p:spPr/>
        <p:txBody>
          <a:bodyPr/>
          <a:lstStyle/>
          <a:p>
            <a:r>
              <a:rPr lang="en-US" dirty="0"/>
              <a:t>MeshCore Main Site</a:t>
            </a:r>
          </a:p>
        </p:txBody>
      </p:sp>
      <p:sp>
        <p:nvSpPr>
          <p:cNvPr id="3" name="Content Placeholder 2">
            <a:extLst>
              <a:ext uri="{FF2B5EF4-FFF2-40B4-BE49-F238E27FC236}">
                <a16:creationId xmlns:a16="http://schemas.microsoft.com/office/drawing/2014/main" id="{5910C4DD-B669-6712-C404-E2116E54D1A6}"/>
              </a:ext>
            </a:extLst>
          </p:cNvPr>
          <p:cNvSpPr>
            <a:spLocks noGrp="1"/>
          </p:cNvSpPr>
          <p:nvPr>
            <p:ph idx="1"/>
          </p:nvPr>
        </p:nvSpPr>
        <p:spPr/>
        <p:txBody>
          <a:bodyPr>
            <a:normAutofit lnSpcReduction="10000"/>
          </a:bodyPr>
          <a:lstStyle/>
          <a:p>
            <a:r>
              <a:rPr lang="en-US" dirty="0"/>
              <a:t>The </a:t>
            </a:r>
            <a:r>
              <a:rPr lang="en-US" dirty="0">
                <a:hlinkClick r:id="rId3"/>
              </a:rPr>
              <a:t>MeshCore main site</a:t>
            </a:r>
            <a:r>
              <a:rPr lang="en-US" dirty="0"/>
              <a:t> is a good resource for most things MeshCore. </a:t>
            </a:r>
          </a:p>
          <a:p>
            <a:r>
              <a:rPr lang="en-US" dirty="0"/>
              <a:t>However, the documentation of MeshCore’s website does not go into nearly as much detail as the Meshtastic site. </a:t>
            </a:r>
          </a:p>
          <a:p>
            <a:r>
              <a:rPr lang="en-US" dirty="0"/>
              <a:t>The website docs are one giant FAQ page, covering anything to do with device compatibility, flashing and troubleshooting. It does not go into detail into MeshCore’s architecture, algorithm, or encryption.</a:t>
            </a:r>
          </a:p>
          <a:p>
            <a:r>
              <a:rPr lang="en-US" dirty="0">
                <a:hlinkClick r:id="rId4"/>
              </a:rPr>
              <a:t>This document </a:t>
            </a:r>
            <a:r>
              <a:rPr lang="en-US" dirty="0"/>
              <a:t>by pe1hvh is a complete manual to MeshCore. It is by far the best MeshCore document I have found and is better than the FAQ on the main site.</a:t>
            </a:r>
          </a:p>
        </p:txBody>
      </p:sp>
    </p:spTree>
    <p:extLst>
      <p:ext uri="{BB962C8B-B14F-4D97-AF65-F5344CB8AC3E}">
        <p14:creationId xmlns:p14="http://schemas.microsoft.com/office/powerpoint/2010/main" val="18183402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DCDB0B-3FD0-118B-D565-9322A4BE8167}"/>
              </a:ext>
            </a:extLst>
          </p:cNvPr>
          <p:cNvSpPr>
            <a:spLocks noGrp="1"/>
          </p:cNvSpPr>
          <p:nvPr>
            <p:ph type="title"/>
          </p:nvPr>
        </p:nvSpPr>
        <p:spPr/>
        <p:txBody>
          <a:bodyPr/>
          <a:lstStyle/>
          <a:p>
            <a:r>
              <a:rPr lang="en-US" dirty="0"/>
              <a:t>Meshtastic/MeshCore Web Flasher</a:t>
            </a:r>
          </a:p>
        </p:txBody>
      </p:sp>
      <p:sp>
        <p:nvSpPr>
          <p:cNvPr id="3" name="Content Placeholder 2">
            <a:extLst>
              <a:ext uri="{FF2B5EF4-FFF2-40B4-BE49-F238E27FC236}">
                <a16:creationId xmlns:a16="http://schemas.microsoft.com/office/drawing/2014/main" id="{FBF043EE-FE37-5C9B-C8FE-ED166885917A}"/>
              </a:ext>
            </a:extLst>
          </p:cNvPr>
          <p:cNvSpPr>
            <a:spLocks noGrp="1"/>
          </p:cNvSpPr>
          <p:nvPr>
            <p:ph idx="1"/>
          </p:nvPr>
        </p:nvSpPr>
        <p:spPr/>
        <p:txBody>
          <a:bodyPr>
            <a:normAutofit/>
          </a:bodyPr>
          <a:lstStyle/>
          <a:p>
            <a:r>
              <a:rPr lang="en-US" dirty="0"/>
              <a:t>The </a:t>
            </a:r>
            <a:r>
              <a:rPr lang="en-US" dirty="0">
                <a:hlinkClick r:id="rId3"/>
              </a:rPr>
              <a:t>Meshtastic web flasher</a:t>
            </a:r>
            <a:r>
              <a:rPr lang="en-US" dirty="0"/>
              <a:t> is the simplest way to flash firmware onto a device.</a:t>
            </a:r>
          </a:p>
          <a:p>
            <a:r>
              <a:rPr lang="en-US" dirty="0"/>
              <a:t>MeshCore has a very similar, easy-to-use </a:t>
            </a:r>
            <a:r>
              <a:rPr lang="en-US" dirty="0">
                <a:hlinkClick r:id="rId4"/>
              </a:rPr>
              <a:t>web flasher</a:t>
            </a:r>
            <a:r>
              <a:rPr lang="en-US" dirty="0"/>
              <a:t> equivalent to Meshtastic</a:t>
            </a:r>
          </a:p>
          <a:p>
            <a:r>
              <a:rPr lang="en-US" dirty="0"/>
              <a:t>The Meshtastic website gives step-by-step instruction how to flash the firmware onto the device, giving different instructions depending on what device is being used.</a:t>
            </a:r>
          </a:p>
          <a:p>
            <a:r>
              <a:rPr lang="en-US" dirty="0"/>
              <a:t>The web flasher is a great alternative to the traditional CLI flasher and makes Meshtastic much more accessible.</a:t>
            </a:r>
          </a:p>
        </p:txBody>
      </p:sp>
    </p:spTree>
    <p:extLst>
      <p:ext uri="{BB962C8B-B14F-4D97-AF65-F5344CB8AC3E}">
        <p14:creationId xmlns:p14="http://schemas.microsoft.com/office/powerpoint/2010/main" val="12089966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53996E-615A-024D-FE08-AA125F5495D7}"/>
              </a:ext>
            </a:extLst>
          </p:cNvPr>
          <p:cNvSpPr>
            <a:spLocks noGrp="1"/>
          </p:cNvSpPr>
          <p:nvPr>
            <p:ph type="title"/>
          </p:nvPr>
        </p:nvSpPr>
        <p:spPr/>
        <p:txBody>
          <a:bodyPr/>
          <a:lstStyle/>
          <a:p>
            <a:r>
              <a:rPr lang="en-US" dirty="0"/>
              <a:t>Meshtastic/MeshCore GitHub </a:t>
            </a:r>
          </a:p>
        </p:txBody>
      </p:sp>
      <p:sp>
        <p:nvSpPr>
          <p:cNvPr id="3" name="Content Placeholder 2">
            <a:extLst>
              <a:ext uri="{FF2B5EF4-FFF2-40B4-BE49-F238E27FC236}">
                <a16:creationId xmlns:a16="http://schemas.microsoft.com/office/drawing/2014/main" id="{F59925E1-62DB-54C6-6423-396504C1B179}"/>
              </a:ext>
            </a:extLst>
          </p:cNvPr>
          <p:cNvSpPr>
            <a:spLocks noGrp="1"/>
          </p:cNvSpPr>
          <p:nvPr>
            <p:ph idx="1"/>
          </p:nvPr>
        </p:nvSpPr>
        <p:spPr/>
        <p:txBody>
          <a:bodyPr/>
          <a:lstStyle/>
          <a:p>
            <a:r>
              <a:rPr lang="en-US" dirty="0"/>
              <a:t>The </a:t>
            </a:r>
            <a:r>
              <a:rPr lang="en-US" dirty="0">
                <a:hlinkClick r:id="rId3"/>
              </a:rPr>
              <a:t>Meshtastic GitHub</a:t>
            </a:r>
            <a:r>
              <a:rPr lang="en-US" dirty="0"/>
              <a:t> page includes all of their software, including the firmware, website, Apple and Android apps, web flasher, web client, website API, simulator and more.</a:t>
            </a:r>
          </a:p>
          <a:p>
            <a:r>
              <a:rPr lang="en-US" dirty="0"/>
              <a:t>The </a:t>
            </a:r>
            <a:r>
              <a:rPr lang="en-US" dirty="0">
                <a:hlinkClick r:id="rId4"/>
              </a:rPr>
              <a:t>MeshCore GitHub</a:t>
            </a:r>
            <a:r>
              <a:rPr lang="en-US" dirty="0"/>
              <a:t> includes most their firmware. Notably, MeshCore includes example apps to give a foundation for developers.</a:t>
            </a:r>
          </a:p>
          <a:p>
            <a:r>
              <a:rPr lang="en-US" dirty="0"/>
              <a:t>Both are essential resources for building custom firmware, specific documentation and flashing software without the web flasher.</a:t>
            </a:r>
          </a:p>
        </p:txBody>
      </p:sp>
    </p:spTree>
    <p:extLst>
      <p:ext uri="{BB962C8B-B14F-4D97-AF65-F5344CB8AC3E}">
        <p14:creationId xmlns:p14="http://schemas.microsoft.com/office/powerpoint/2010/main" val="3233933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D98487-BC77-7406-939E-D195321AE0EB}"/>
              </a:ext>
            </a:extLst>
          </p:cNvPr>
          <p:cNvSpPr>
            <a:spLocks noGrp="1"/>
          </p:cNvSpPr>
          <p:nvPr>
            <p:ph type="title"/>
          </p:nvPr>
        </p:nvSpPr>
        <p:spPr/>
        <p:txBody>
          <a:bodyPr/>
          <a:lstStyle/>
          <a:p>
            <a:r>
              <a:rPr lang="en-US" dirty="0"/>
              <a:t>Readings cont.</a:t>
            </a:r>
          </a:p>
        </p:txBody>
      </p:sp>
      <p:sp>
        <p:nvSpPr>
          <p:cNvPr id="3" name="Content Placeholder 2">
            <a:extLst>
              <a:ext uri="{FF2B5EF4-FFF2-40B4-BE49-F238E27FC236}">
                <a16:creationId xmlns:a16="http://schemas.microsoft.com/office/drawing/2014/main" id="{0C7A42D1-AA42-62A0-8E05-F74F789607CA}"/>
              </a:ext>
            </a:extLst>
          </p:cNvPr>
          <p:cNvSpPr>
            <a:spLocks noGrp="1"/>
          </p:cNvSpPr>
          <p:nvPr>
            <p:ph idx="1"/>
          </p:nvPr>
        </p:nvSpPr>
        <p:spPr/>
        <p:txBody>
          <a:bodyPr>
            <a:normAutofit fontScale="92500"/>
          </a:bodyPr>
          <a:lstStyle/>
          <a:p>
            <a:r>
              <a:rPr lang="en-US" b="1" dirty="0">
                <a:hlinkClick r:id="rId3"/>
              </a:rPr>
              <a:t>dev.to – First message in 30 minutes</a:t>
            </a:r>
            <a:endParaRPr lang="en-US" b="1" dirty="0"/>
          </a:p>
          <a:p>
            <a:pPr lvl="1"/>
            <a:r>
              <a:rPr lang="en-US" dirty="0"/>
              <a:t>The best text tutorial to start using Meshtastic.</a:t>
            </a:r>
          </a:p>
          <a:p>
            <a:pPr lvl="1"/>
            <a:r>
              <a:rPr lang="en-US" dirty="0"/>
              <a:t>A simple, easy tutorial with no overcomplication or unnecessary information.</a:t>
            </a:r>
          </a:p>
          <a:p>
            <a:r>
              <a:rPr lang="en-US" b="1" dirty="0">
                <a:hlinkClick r:id="rId4"/>
              </a:rPr>
              <a:t>Austin Mesh – Getting Started with MeshCore</a:t>
            </a:r>
            <a:endParaRPr lang="en-US" b="1" dirty="0"/>
          </a:p>
          <a:p>
            <a:pPr lvl="1"/>
            <a:r>
              <a:rPr lang="en-US" dirty="0"/>
              <a:t>The best text tutorial to  start using MeshCore.</a:t>
            </a:r>
          </a:p>
          <a:p>
            <a:pPr lvl="1"/>
            <a:r>
              <a:rPr lang="en-US" dirty="0"/>
              <a:t>Like the dev.to tutorial, this tutorial does not beat around the bush, keeping things simple, easy and informative.</a:t>
            </a:r>
          </a:p>
          <a:p>
            <a:r>
              <a:rPr lang="en-US" b="1" dirty="0">
                <a:hlinkClick r:id="rId5"/>
              </a:rPr>
              <a:t>Kindlymorrow – What is MeshCore</a:t>
            </a:r>
            <a:endParaRPr lang="en-US" b="1" dirty="0"/>
          </a:p>
          <a:p>
            <a:pPr lvl="1"/>
            <a:r>
              <a:rPr lang="en-US" dirty="0"/>
              <a:t>A fantastic resource explaining the MeshCore architecture and giving a detailed comparison between Meshtastic and MeshCore.</a:t>
            </a:r>
          </a:p>
          <a:p>
            <a:pPr lvl="1"/>
            <a:r>
              <a:rPr lang="en-US" dirty="0"/>
              <a:t>Gives great insight into which ecosystems are thrive depending on the use case</a:t>
            </a:r>
          </a:p>
        </p:txBody>
      </p:sp>
    </p:spTree>
    <p:extLst>
      <p:ext uri="{BB962C8B-B14F-4D97-AF65-F5344CB8AC3E}">
        <p14:creationId xmlns:p14="http://schemas.microsoft.com/office/powerpoint/2010/main" val="25557448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FE5B7-B72D-9979-F4B8-14FFC72F607E}"/>
              </a:ext>
            </a:extLst>
          </p:cNvPr>
          <p:cNvSpPr>
            <a:spLocks noGrp="1"/>
          </p:cNvSpPr>
          <p:nvPr>
            <p:ph type="title"/>
          </p:nvPr>
        </p:nvSpPr>
        <p:spPr/>
        <p:txBody>
          <a:bodyPr/>
          <a:lstStyle/>
          <a:p>
            <a:r>
              <a:rPr lang="en-US" dirty="0"/>
              <a:t>Video Resources</a:t>
            </a:r>
          </a:p>
        </p:txBody>
      </p:sp>
      <p:sp>
        <p:nvSpPr>
          <p:cNvPr id="3" name="Content Placeholder 2">
            <a:extLst>
              <a:ext uri="{FF2B5EF4-FFF2-40B4-BE49-F238E27FC236}">
                <a16:creationId xmlns:a16="http://schemas.microsoft.com/office/drawing/2014/main" id="{955CE2A8-E576-3C71-565C-C51962862D14}"/>
              </a:ext>
            </a:extLst>
          </p:cNvPr>
          <p:cNvSpPr>
            <a:spLocks noGrp="1"/>
          </p:cNvSpPr>
          <p:nvPr>
            <p:ph idx="1"/>
          </p:nvPr>
        </p:nvSpPr>
        <p:spPr/>
        <p:txBody>
          <a:bodyPr>
            <a:normAutofit fontScale="92500" lnSpcReduction="20000"/>
          </a:bodyPr>
          <a:lstStyle/>
          <a:p>
            <a:r>
              <a:rPr lang="en-CA" b="1" dirty="0">
                <a:hlinkClick r:id="rId3"/>
              </a:rPr>
              <a:t>How to Set Up Meshtastic (Step-by-Step Guide for Beginners)</a:t>
            </a:r>
            <a:endParaRPr lang="en-CA" b="1" dirty="0"/>
          </a:p>
          <a:p>
            <a:pPr lvl="1"/>
            <a:r>
              <a:rPr lang="en-CA" dirty="0"/>
              <a:t>Great video for setting up devices and using Meshtastic for the first time.</a:t>
            </a:r>
          </a:p>
          <a:p>
            <a:r>
              <a:rPr lang="en-CA" b="1" dirty="0">
                <a:hlinkClick r:id="rId4"/>
              </a:rPr>
              <a:t>Web Firmware / Configuration Guide - LILYGO Meshtastic T-Beam V1.1 ESP32 Wireless Module</a:t>
            </a:r>
            <a:endParaRPr lang="en-CA" b="1" dirty="0"/>
          </a:p>
          <a:p>
            <a:pPr lvl="1"/>
            <a:r>
              <a:rPr lang="en-CA" dirty="0"/>
              <a:t>Best video for showing how to use Meshtastic with the web client.</a:t>
            </a:r>
            <a:endParaRPr lang="en-CA" b="1" dirty="0"/>
          </a:p>
          <a:p>
            <a:r>
              <a:rPr lang="en-CA" b="1" dirty="0">
                <a:hlinkClick r:id="rId5"/>
              </a:rPr>
              <a:t>How to Flash a MeshCore Repeater</a:t>
            </a:r>
            <a:endParaRPr lang="en-CA" b="1" dirty="0"/>
          </a:p>
          <a:p>
            <a:pPr lvl="1"/>
            <a:r>
              <a:rPr lang="en-CA" dirty="0"/>
              <a:t>Best video for showing how to flash devices with MeshCore. This video shows how to configure a repeater, but setting up a companion is nearly the same.</a:t>
            </a:r>
          </a:p>
          <a:p>
            <a:r>
              <a:rPr lang="en-CA" b="1" dirty="0">
                <a:hlinkClick r:id="rId6"/>
              </a:rPr>
              <a:t>465 Rutgers University Confirmed: Meshtastic and LoRa are dangerous</a:t>
            </a:r>
            <a:endParaRPr lang="en-CA" b="1" dirty="0"/>
          </a:p>
          <a:p>
            <a:pPr lvl="1"/>
            <a:r>
              <a:rPr lang="en-CA" dirty="0"/>
              <a:t>More informative video on how to use Meshtastic. Dives into more specifics, including connecting to MQTT servers and integrating sensors nodes into the mesh network. Interesting watch.</a:t>
            </a:r>
            <a:endParaRPr lang="en-US" b="1" dirty="0"/>
          </a:p>
        </p:txBody>
      </p:sp>
    </p:spTree>
    <p:extLst>
      <p:ext uri="{BB962C8B-B14F-4D97-AF65-F5344CB8AC3E}">
        <p14:creationId xmlns:p14="http://schemas.microsoft.com/office/powerpoint/2010/main" val="32387882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54F8CE-3FB5-8E57-7DF4-2A39FCC2AAE4}"/>
              </a:ext>
            </a:extLst>
          </p:cNvPr>
          <p:cNvSpPr>
            <a:spLocks noGrp="1"/>
          </p:cNvSpPr>
          <p:nvPr>
            <p:ph type="title"/>
          </p:nvPr>
        </p:nvSpPr>
        <p:spPr/>
        <p:txBody>
          <a:bodyPr/>
          <a:lstStyle/>
          <a:p>
            <a:r>
              <a:rPr lang="en-US" dirty="0"/>
              <a:t>Next Steps</a:t>
            </a:r>
          </a:p>
        </p:txBody>
      </p:sp>
      <p:sp>
        <p:nvSpPr>
          <p:cNvPr id="3" name="Content Placeholder 2">
            <a:extLst>
              <a:ext uri="{FF2B5EF4-FFF2-40B4-BE49-F238E27FC236}">
                <a16:creationId xmlns:a16="http://schemas.microsoft.com/office/drawing/2014/main" id="{E905A5C5-E4C0-4F44-C0D4-28DC08C7BDB1}"/>
              </a:ext>
            </a:extLst>
          </p:cNvPr>
          <p:cNvSpPr>
            <a:spLocks noGrp="1"/>
          </p:cNvSpPr>
          <p:nvPr>
            <p:ph idx="1"/>
          </p:nvPr>
        </p:nvSpPr>
        <p:spPr/>
        <p:txBody>
          <a:bodyPr/>
          <a:lstStyle/>
          <a:p>
            <a:r>
              <a:rPr lang="en-US" dirty="0"/>
              <a:t>First, learn how to flash both Meshtastic and MeshCore firmware onto nodes.</a:t>
            </a:r>
          </a:p>
          <a:p>
            <a:r>
              <a:rPr lang="en-US" dirty="0"/>
              <a:t>Send messages between both Meshtastic and MeshCore nodes to ensure nodes are working properly.</a:t>
            </a:r>
          </a:p>
          <a:p>
            <a:r>
              <a:rPr lang="en-US" dirty="0"/>
              <a:t>Create documentation for Meshtastic and MeshCore node setup, communication and troubleshooting</a:t>
            </a:r>
          </a:p>
          <a:p>
            <a:r>
              <a:rPr lang="en-US" dirty="0"/>
              <a:t>Plan and strategize mesh node placement around Halifax and potentially around the entire HRM</a:t>
            </a:r>
          </a:p>
          <a:p>
            <a:pPr lvl="1"/>
            <a:r>
              <a:rPr lang="en-US" dirty="0"/>
              <a:t>Depending on project scope and inventory</a:t>
            </a:r>
          </a:p>
        </p:txBody>
      </p:sp>
    </p:spTree>
    <p:extLst>
      <p:ext uri="{BB962C8B-B14F-4D97-AF65-F5344CB8AC3E}">
        <p14:creationId xmlns:p14="http://schemas.microsoft.com/office/powerpoint/2010/main" val="10193898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7274</TotalTime>
  <Words>3042</Words>
  <Application>Microsoft Macintosh PowerPoint</Application>
  <PresentationFormat>Widescreen</PresentationFormat>
  <Paragraphs>202</Paragraphs>
  <Slides>25</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Aptos</vt:lpstr>
      <vt:lpstr>Aptos Display</vt:lpstr>
      <vt:lpstr>Arial</vt:lpstr>
      <vt:lpstr>Office Theme</vt:lpstr>
      <vt:lpstr>Week 1 Readings</vt:lpstr>
      <vt:lpstr>Overview</vt:lpstr>
      <vt:lpstr>What is Mesh and LoRa?</vt:lpstr>
      <vt:lpstr>PowerPoint Presentation</vt:lpstr>
      <vt:lpstr>PowerPoint Presentation</vt:lpstr>
      <vt:lpstr>Why Mesh Communication? </vt:lpstr>
      <vt:lpstr>LoRa Mesh Networking Ecosystems</vt:lpstr>
      <vt:lpstr>Meshtastic</vt:lpstr>
      <vt:lpstr>Meshtastic cont.</vt:lpstr>
      <vt:lpstr>Meshtastic cont.</vt:lpstr>
      <vt:lpstr>Meshtastic LoRa Configuration</vt:lpstr>
      <vt:lpstr>MeshCore</vt:lpstr>
      <vt:lpstr>MeshCore cont.</vt:lpstr>
      <vt:lpstr>Meshtastic vs. MeshCore</vt:lpstr>
      <vt:lpstr>PowerPoint Presentation</vt:lpstr>
      <vt:lpstr>Meshtastic Encryption</vt:lpstr>
      <vt:lpstr>MeshCore Encryption</vt:lpstr>
      <vt:lpstr>Readings</vt:lpstr>
      <vt:lpstr>Meshtastic Main Site</vt:lpstr>
      <vt:lpstr>MeshCore Main Site</vt:lpstr>
      <vt:lpstr>Meshtastic/MeshCore Web Flasher</vt:lpstr>
      <vt:lpstr>Meshtastic/MeshCore GitHub </vt:lpstr>
      <vt:lpstr>Readings cont.</vt:lpstr>
      <vt:lpstr>Video Resources</vt:lpstr>
      <vt:lpstr>Next Steps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Jonathan Earle</dc:creator>
  <cp:lastModifiedBy>Jonathan Earle</cp:lastModifiedBy>
  <cp:revision>41</cp:revision>
  <dcterms:created xsi:type="dcterms:W3CDTF">2026-05-12T18:07:33Z</dcterms:created>
  <dcterms:modified xsi:type="dcterms:W3CDTF">2026-05-21T16:59:25Z</dcterms:modified>
</cp:coreProperties>
</file>