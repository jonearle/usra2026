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59"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96"/>
    <p:restoredTop sz="94681"/>
  </p:normalViewPr>
  <p:slideViewPr>
    <p:cSldViewPr snapToGrid="0">
      <p:cViewPr>
        <p:scale>
          <a:sx n="69" d="100"/>
          <a:sy n="69" d="100"/>
        </p:scale>
        <p:origin x="-200" y="1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4B08D-F011-772B-62B8-33CFBC6536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9AF4F0-9BEB-0579-5E75-1EC2C24121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EAEA47-4B24-88ED-D252-C9AB9DE0D7C8}"/>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5F4820FD-9471-1C14-09B0-D2498C8A1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F01593-D8DB-768E-6E8E-13422C98C51E}"/>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94897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949A-C3A6-57AC-EFAA-8410B54441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7EEBB-4C2E-A3DC-822A-117096817E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B782E5-7EEF-3C40-FFBA-D42FF92BE535}"/>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BF3433F2-3545-73C9-256A-76FE7866D9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FFD75-5AA7-3461-7FB4-4834E41AEE03}"/>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293987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75B53-8912-F7FD-2219-975EA684FF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F64EB9-C87A-5BB9-1EA6-8577EB8C6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EAB456-7DB1-B0DD-E024-1C1F209A4108}"/>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687DD868-C804-12FB-85F3-DE6BB6D4C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DA0DF-8220-9140-42FB-86E3F162E08C}"/>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451700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39530-B0B6-FE86-C4D9-7A995D1D89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FF3189-DCE8-A82C-6908-50E43B0FD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5853E3-6D09-FF86-E5E6-325E034E34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79393C-5DCF-7257-869F-4270DFF381AB}"/>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6" name="Footer Placeholder 5">
            <a:extLst>
              <a:ext uri="{FF2B5EF4-FFF2-40B4-BE49-F238E27FC236}">
                <a16:creationId xmlns:a16="http://schemas.microsoft.com/office/drawing/2014/main" id="{8AEF74DC-3A65-FD93-E7C0-2339CB9C7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8A99A3-18A9-ACC0-F54E-4DCA6DFA5838}"/>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296231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29476-53F9-A0F9-6847-CC8A235ABC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37A25-6BD6-9C7C-AE48-C3F4954C8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AE89BA-9AAC-9DB2-5894-129C93D1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FA1917-645D-C513-1761-475FD1AE2A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E64A9-F4FC-906E-CBFA-39178906A8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DE394E-A5FA-7A47-A2E4-E1181E2C5F03}"/>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8" name="Footer Placeholder 7">
            <a:extLst>
              <a:ext uri="{FF2B5EF4-FFF2-40B4-BE49-F238E27FC236}">
                <a16:creationId xmlns:a16="http://schemas.microsoft.com/office/drawing/2014/main" id="{BFEA3017-0626-A7F0-1A25-317638A43C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E17D3B-E249-20D4-2379-8930E3724D06}"/>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54663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EA36-5B97-0676-AB0C-5979127A4F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224E5C-E40D-C8D5-4A5D-EFAD2274105A}"/>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4" name="Footer Placeholder 3">
            <a:extLst>
              <a:ext uri="{FF2B5EF4-FFF2-40B4-BE49-F238E27FC236}">
                <a16:creationId xmlns:a16="http://schemas.microsoft.com/office/drawing/2014/main" id="{4B415530-15F7-5E4C-61D8-54495CEBF5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5C758-0526-D420-70F2-EA473959EB12}"/>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072879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A2F5A-6A97-2F79-231A-C2CC86646D9F}"/>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3" name="Footer Placeholder 2">
            <a:extLst>
              <a:ext uri="{FF2B5EF4-FFF2-40B4-BE49-F238E27FC236}">
                <a16:creationId xmlns:a16="http://schemas.microsoft.com/office/drawing/2014/main" id="{9FF28E54-70C7-34C9-9D36-3EAC072446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63D6FC-579A-777E-D6E5-BD1CED1EB783}"/>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380495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F197-6BB4-577A-C992-58903BB247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18AB90-FEF4-E169-B5E8-63F591FEB4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FA8C4C-2F9C-D3C9-57E4-38B3FDB11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2776C8-D949-5F12-32DD-3535DC4787B0}"/>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6" name="Footer Placeholder 5">
            <a:extLst>
              <a:ext uri="{FF2B5EF4-FFF2-40B4-BE49-F238E27FC236}">
                <a16:creationId xmlns:a16="http://schemas.microsoft.com/office/drawing/2014/main" id="{45FB0733-1581-EFE2-7678-82AB06EA68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2369CA-4172-B73C-7B9F-6AAF0A7B2633}"/>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4112475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D4AD-9008-38B1-A743-EBA5DA52F7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36A834-31A2-87BF-F82B-5A1F7755F8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68B33F-315D-BC46-5046-2AED880EC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97DE56-0D14-383D-2F7C-BC69073E91BC}"/>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6" name="Footer Placeholder 5">
            <a:extLst>
              <a:ext uri="{FF2B5EF4-FFF2-40B4-BE49-F238E27FC236}">
                <a16:creationId xmlns:a16="http://schemas.microsoft.com/office/drawing/2014/main" id="{FF66FE5D-A734-4A37-88CE-1F8B06E718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18A63-09AE-789C-C31D-1319E5530829}"/>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2579529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E34C-A032-C021-CEEB-4F3BDFCA7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3697B2-EF7A-6361-158B-D987215536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B987BD-5EA1-BE12-BA97-B57BC992E2DC}"/>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7F287D22-C1D1-3E21-934D-978EF64146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155158-1359-8ADF-DA2F-4E84E9A0514E}"/>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4212185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54354A-1899-A6E1-7ECF-48F2FE4D17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7EA8D9-4493-5012-F856-A98AE09F7A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B690F-434E-579E-82B2-BBDD006EDD1D}"/>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65DB781D-C1C0-8A81-A73D-C4F34E73D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140FA-59F5-D4B5-16B3-D665F85C63E7}"/>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67371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C43664-2AA1-700C-4EB8-DF9C60891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B24D1A-4F86-4A68-0F9B-B266671295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03C8E4-0ACE-63D9-FDF4-6343E672B9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E74CE6C6-4F3F-B62D-F981-FA1C78D93E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93DB99-F607-4A9F-463E-9778FC59E0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88ED23-96CD-814F-99A3-831D19739905}" type="slidenum">
              <a:rPr lang="en-US" smtClean="0"/>
              <a:t>‹#›</a:t>
            </a:fld>
            <a:endParaRPr lang="en-US"/>
          </a:p>
        </p:txBody>
      </p:sp>
    </p:spTree>
    <p:extLst>
      <p:ext uri="{BB962C8B-B14F-4D97-AF65-F5344CB8AC3E}">
        <p14:creationId xmlns:p14="http://schemas.microsoft.com/office/powerpoint/2010/main" val="2366911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minew.com/lorawan-range-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F5A3-4D2E-AC96-7F16-2B591BE28F75}"/>
              </a:ext>
            </a:extLst>
          </p:cNvPr>
          <p:cNvSpPr>
            <a:spLocks noGrp="1"/>
          </p:cNvSpPr>
          <p:nvPr>
            <p:ph type="ctrTitle"/>
          </p:nvPr>
        </p:nvSpPr>
        <p:spPr/>
        <p:txBody>
          <a:bodyPr/>
          <a:lstStyle/>
          <a:p>
            <a:r>
              <a:rPr lang="en-US" dirty="0"/>
              <a:t>Project Planning</a:t>
            </a:r>
          </a:p>
        </p:txBody>
      </p:sp>
      <p:sp>
        <p:nvSpPr>
          <p:cNvPr id="3" name="Subtitle 2">
            <a:extLst>
              <a:ext uri="{FF2B5EF4-FFF2-40B4-BE49-F238E27FC236}">
                <a16:creationId xmlns:a16="http://schemas.microsoft.com/office/drawing/2014/main" id="{957893DB-B526-C30A-B8BB-464446215DD8}"/>
              </a:ext>
            </a:extLst>
          </p:cNvPr>
          <p:cNvSpPr>
            <a:spLocks noGrp="1"/>
          </p:cNvSpPr>
          <p:nvPr>
            <p:ph type="subTitle" idx="1"/>
          </p:nvPr>
        </p:nvSpPr>
        <p:spPr/>
        <p:txBody>
          <a:bodyPr/>
          <a:lstStyle/>
          <a:p>
            <a:r>
              <a:rPr lang="en-US" dirty="0"/>
              <a:t>Jon Earle – USRA 2026</a:t>
            </a:r>
          </a:p>
        </p:txBody>
      </p:sp>
    </p:spTree>
    <p:extLst>
      <p:ext uri="{BB962C8B-B14F-4D97-AF65-F5344CB8AC3E}">
        <p14:creationId xmlns:p14="http://schemas.microsoft.com/office/powerpoint/2010/main" val="105839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A28B-C0D7-04AC-E643-433DE1822A64}"/>
              </a:ext>
            </a:extLst>
          </p:cNvPr>
          <p:cNvSpPr>
            <a:spLocks noGrp="1"/>
          </p:cNvSpPr>
          <p:nvPr>
            <p:ph type="title"/>
          </p:nvPr>
        </p:nvSpPr>
        <p:spPr/>
        <p:txBody>
          <a:bodyPr/>
          <a:lstStyle/>
          <a:p>
            <a:r>
              <a:rPr lang="en-US" dirty="0"/>
              <a:t>Review: LoRa Radio</a:t>
            </a:r>
          </a:p>
        </p:txBody>
      </p:sp>
      <p:sp>
        <p:nvSpPr>
          <p:cNvPr id="3" name="Content Placeholder 2">
            <a:extLst>
              <a:ext uri="{FF2B5EF4-FFF2-40B4-BE49-F238E27FC236}">
                <a16:creationId xmlns:a16="http://schemas.microsoft.com/office/drawing/2014/main" id="{D3F0E272-80D7-69A4-0A0B-D5D70AC6E356}"/>
              </a:ext>
            </a:extLst>
          </p:cNvPr>
          <p:cNvSpPr>
            <a:spLocks noGrp="1"/>
          </p:cNvSpPr>
          <p:nvPr>
            <p:ph idx="1"/>
          </p:nvPr>
        </p:nvSpPr>
        <p:spPr/>
        <p:txBody>
          <a:bodyPr/>
          <a:lstStyle/>
          <a:p>
            <a:r>
              <a:rPr lang="en-US" dirty="0"/>
              <a:t>Review: LoRa is a wireless radio technology designed for the long-range communication of low-power devices.</a:t>
            </a:r>
          </a:p>
          <a:p>
            <a:r>
              <a:rPr lang="en-US" dirty="0"/>
              <a:t>A poor wireless connection can result in lost packets or an increased power consumption to compensate for losses.</a:t>
            </a:r>
          </a:p>
          <a:p>
            <a:r>
              <a:rPr lang="en-US" dirty="0"/>
              <a:t>Because LoRa is used for transmitting weaker signals over long ranges, strong node placement is important for good performance, especially for a city-wide mesh.</a:t>
            </a:r>
          </a:p>
          <a:p>
            <a:r>
              <a:rPr lang="en-US" dirty="0"/>
              <a:t>Good node placement is outdoors on high places away from buildings and other blockages. A strong line of sight between nodes is always ideal.</a:t>
            </a:r>
          </a:p>
        </p:txBody>
      </p:sp>
    </p:spTree>
    <p:extLst>
      <p:ext uri="{BB962C8B-B14F-4D97-AF65-F5344CB8AC3E}">
        <p14:creationId xmlns:p14="http://schemas.microsoft.com/office/powerpoint/2010/main" val="3269461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AFC81-5B82-D8DC-FC41-DB4652191CB5}"/>
              </a:ext>
            </a:extLst>
          </p:cNvPr>
          <p:cNvSpPr>
            <a:spLocks noGrp="1"/>
          </p:cNvSpPr>
          <p:nvPr>
            <p:ph type="title"/>
          </p:nvPr>
        </p:nvSpPr>
        <p:spPr/>
        <p:txBody>
          <a:bodyPr/>
          <a:lstStyle/>
          <a:p>
            <a:r>
              <a:rPr lang="en-US" dirty="0"/>
              <a:t>Meshtastic vs. MeshCore Node Placement</a:t>
            </a:r>
          </a:p>
        </p:txBody>
      </p:sp>
      <p:sp>
        <p:nvSpPr>
          <p:cNvPr id="3" name="Content Placeholder 2">
            <a:extLst>
              <a:ext uri="{FF2B5EF4-FFF2-40B4-BE49-F238E27FC236}">
                <a16:creationId xmlns:a16="http://schemas.microsoft.com/office/drawing/2014/main" id="{DEB69F4B-B3E7-8484-23E8-43BEC32016FB}"/>
              </a:ext>
            </a:extLst>
          </p:cNvPr>
          <p:cNvSpPr>
            <a:spLocks noGrp="1"/>
          </p:cNvSpPr>
          <p:nvPr>
            <p:ph idx="1"/>
          </p:nvPr>
        </p:nvSpPr>
        <p:spPr/>
        <p:txBody>
          <a:bodyPr>
            <a:normAutofit lnSpcReduction="10000"/>
          </a:bodyPr>
          <a:lstStyle/>
          <a:p>
            <a:r>
              <a:rPr lang="en-US" dirty="0"/>
              <a:t>Both Meshtastic and MeshCore nodes should follow the general guidelines as described previously.</a:t>
            </a:r>
          </a:p>
          <a:p>
            <a:r>
              <a:rPr lang="en-US" dirty="0"/>
              <a:t>However, MeshCore’s role-based architecture requires more careful network planning.</a:t>
            </a:r>
          </a:p>
          <a:p>
            <a:r>
              <a:rPr lang="en-US" dirty="0"/>
              <a:t>With MeshCore, receiver nodes should not only be at the highest and clearest locations but should also be near the center of the mesh or surrounded by other nodes to make communication throughout the mesh more efficient.</a:t>
            </a:r>
          </a:p>
          <a:p>
            <a:r>
              <a:rPr lang="en-US" dirty="0"/>
              <a:t>For both systems, a realistic maximum range between nodes in an urban environment is 2-5km (</a:t>
            </a:r>
            <a:r>
              <a:rPr lang="en-US" dirty="0">
                <a:hlinkClick r:id="rId2"/>
              </a:rPr>
              <a:t>source</a:t>
            </a:r>
            <a:r>
              <a:rPr lang="en-US" dirty="0"/>
              <a:t>). Thus, we should also scatter nodes such that this distance is not exceeded.</a:t>
            </a:r>
          </a:p>
        </p:txBody>
      </p:sp>
    </p:spTree>
    <p:extLst>
      <p:ext uri="{BB962C8B-B14F-4D97-AF65-F5344CB8AC3E}">
        <p14:creationId xmlns:p14="http://schemas.microsoft.com/office/powerpoint/2010/main" val="3931808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907B-4CF5-CED6-4FFF-5B484625E01F}"/>
              </a:ext>
            </a:extLst>
          </p:cNvPr>
          <p:cNvSpPr>
            <a:spLocks noGrp="1"/>
          </p:cNvSpPr>
          <p:nvPr>
            <p:ph type="title"/>
          </p:nvPr>
        </p:nvSpPr>
        <p:spPr/>
        <p:txBody>
          <a:bodyPr/>
          <a:lstStyle/>
          <a:p>
            <a:r>
              <a:rPr lang="en-US" dirty="0"/>
              <a:t>Topographic Map of Halifax Area</a:t>
            </a:r>
          </a:p>
        </p:txBody>
      </p:sp>
      <p:pic>
        <p:nvPicPr>
          <p:cNvPr id="5" name="Content Placeholder 4">
            <a:extLst>
              <a:ext uri="{FF2B5EF4-FFF2-40B4-BE49-F238E27FC236}">
                <a16:creationId xmlns:a16="http://schemas.microsoft.com/office/drawing/2014/main" id="{93300E92-9ED2-FACF-0492-6E0103C64D58}"/>
              </a:ext>
            </a:extLst>
          </p:cNvPr>
          <p:cNvPicPr>
            <a:picLocks noGrp="1" noChangeAspect="1"/>
          </p:cNvPicPr>
          <p:nvPr>
            <p:ph idx="1"/>
          </p:nvPr>
        </p:nvPicPr>
        <p:blipFill>
          <a:blip r:embed="rId2"/>
          <a:stretch>
            <a:fillRect/>
          </a:stretch>
        </p:blipFill>
        <p:spPr>
          <a:xfrm>
            <a:off x="838200" y="1447614"/>
            <a:ext cx="5062930" cy="5410386"/>
          </a:xfrm>
          <a:prstGeom prst="rect">
            <a:avLst/>
          </a:prstGeom>
        </p:spPr>
      </p:pic>
      <p:pic>
        <p:nvPicPr>
          <p:cNvPr id="7" name="Picture 6">
            <a:extLst>
              <a:ext uri="{FF2B5EF4-FFF2-40B4-BE49-F238E27FC236}">
                <a16:creationId xmlns:a16="http://schemas.microsoft.com/office/drawing/2014/main" id="{54AA9421-1AE1-C361-D5BF-96219D50712E}"/>
              </a:ext>
            </a:extLst>
          </p:cNvPr>
          <p:cNvPicPr>
            <a:picLocks noChangeAspect="1"/>
          </p:cNvPicPr>
          <p:nvPr/>
        </p:nvPicPr>
        <p:blipFill>
          <a:blip r:embed="rId3"/>
          <a:stretch>
            <a:fillRect/>
          </a:stretch>
        </p:blipFill>
        <p:spPr>
          <a:xfrm>
            <a:off x="6485740" y="1488526"/>
            <a:ext cx="5062930" cy="5369474"/>
          </a:xfrm>
          <a:prstGeom prst="rect">
            <a:avLst/>
          </a:prstGeom>
        </p:spPr>
      </p:pic>
    </p:spTree>
    <p:extLst>
      <p:ext uri="{BB962C8B-B14F-4D97-AF65-F5344CB8AC3E}">
        <p14:creationId xmlns:p14="http://schemas.microsoft.com/office/powerpoint/2010/main" val="3676937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9670-FF6F-1913-6DC8-66FD47A0FB19}"/>
              </a:ext>
            </a:extLst>
          </p:cNvPr>
          <p:cNvSpPr>
            <a:spLocks noGrp="1"/>
          </p:cNvSpPr>
          <p:nvPr>
            <p:ph type="title"/>
          </p:nvPr>
        </p:nvSpPr>
        <p:spPr/>
        <p:txBody>
          <a:bodyPr/>
          <a:lstStyle/>
          <a:p>
            <a:r>
              <a:rPr lang="en-US" dirty="0"/>
              <a:t>Candidate Locations for Nodes (Halifax)</a:t>
            </a:r>
          </a:p>
        </p:txBody>
      </p:sp>
      <p:sp>
        <p:nvSpPr>
          <p:cNvPr id="3" name="Content Placeholder 2">
            <a:extLst>
              <a:ext uri="{FF2B5EF4-FFF2-40B4-BE49-F238E27FC236}">
                <a16:creationId xmlns:a16="http://schemas.microsoft.com/office/drawing/2014/main" id="{7724B99D-DBA9-8528-9913-328F93F03AF4}"/>
              </a:ext>
            </a:extLst>
          </p:cNvPr>
          <p:cNvSpPr>
            <a:spLocks noGrp="1"/>
          </p:cNvSpPr>
          <p:nvPr>
            <p:ph idx="1"/>
          </p:nvPr>
        </p:nvSpPr>
        <p:spPr>
          <a:xfrm>
            <a:off x="838200" y="1825624"/>
            <a:ext cx="5257800" cy="5032375"/>
          </a:xfrm>
        </p:spPr>
        <p:txBody>
          <a:bodyPr>
            <a:normAutofit lnSpcReduction="10000"/>
          </a:bodyPr>
          <a:lstStyle/>
          <a:p>
            <a:pPr fontAlgn="base"/>
            <a:r>
              <a:rPr lang="en-CA" dirty="0"/>
              <a:t>Citadel Hill</a:t>
            </a:r>
          </a:p>
          <a:p>
            <a:pPr fontAlgn="base"/>
            <a:r>
              <a:rPr lang="en-CA" dirty="0"/>
              <a:t>One77 Quinpool Road</a:t>
            </a:r>
          </a:p>
          <a:p>
            <a:pPr fontAlgn="base"/>
            <a:r>
              <a:rPr lang="en-CA" dirty="0"/>
              <a:t>North End (Robie St.) Water Tower</a:t>
            </a:r>
          </a:p>
          <a:p>
            <a:pPr fontAlgn="base"/>
            <a:r>
              <a:rPr lang="en-CA" dirty="0"/>
              <a:t>Fenwick Tower/The Vuse</a:t>
            </a:r>
          </a:p>
          <a:p>
            <a:pPr fontAlgn="base"/>
            <a:r>
              <a:rPr lang="en-CA" dirty="0"/>
              <a:t>Goldberg Computer Science Building</a:t>
            </a:r>
          </a:p>
          <a:p>
            <a:pPr fontAlgn="base"/>
            <a:r>
              <a:rPr lang="en-CA" dirty="0"/>
              <a:t>Tupper Medical Building</a:t>
            </a:r>
            <a:endParaRPr lang="en-US" dirty="0"/>
          </a:p>
          <a:p>
            <a:r>
              <a:rPr lang="en-US" dirty="0"/>
              <a:t>Dingle Tower</a:t>
            </a:r>
          </a:p>
          <a:p>
            <a:r>
              <a:rPr lang="en-US" dirty="0"/>
              <a:t>The Northwest (apt. building)</a:t>
            </a:r>
          </a:p>
          <a:p>
            <a:r>
              <a:rPr lang="en-US" dirty="0"/>
              <a:t>Maritime Center</a:t>
            </a:r>
          </a:p>
        </p:txBody>
      </p:sp>
      <p:sp>
        <p:nvSpPr>
          <p:cNvPr id="4" name="Content Placeholder 2">
            <a:extLst>
              <a:ext uri="{FF2B5EF4-FFF2-40B4-BE49-F238E27FC236}">
                <a16:creationId xmlns:a16="http://schemas.microsoft.com/office/drawing/2014/main" id="{0D2283C0-C7D4-801C-6D9B-E09E872E66C3}"/>
              </a:ext>
            </a:extLst>
          </p:cNvPr>
          <p:cNvSpPr txBox="1">
            <a:spLocks/>
          </p:cNvSpPr>
          <p:nvPr/>
        </p:nvSpPr>
        <p:spPr>
          <a:xfrm>
            <a:off x="6096000" y="1825625"/>
            <a:ext cx="5257800" cy="50323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t>Halifax Forum (somewhere in that area)</a:t>
            </a:r>
          </a:p>
          <a:p>
            <a:pPr fontAlgn="base"/>
            <a:r>
              <a:rPr lang="en-US" dirty="0"/>
              <a:t>Prince of Wales Tower (PPP)</a:t>
            </a:r>
          </a:p>
          <a:p>
            <a:pPr fontAlgn="base"/>
            <a:r>
              <a:rPr lang="en-US" dirty="0"/>
              <a:t>Tupper Medical Building</a:t>
            </a:r>
          </a:p>
          <a:p>
            <a:pPr fontAlgn="base"/>
            <a:r>
              <a:rPr lang="en-US" dirty="0"/>
              <a:t>Saint Mary’s University Observatory</a:t>
            </a:r>
          </a:p>
          <a:p>
            <a:pPr fontAlgn="base"/>
            <a:r>
              <a:rPr lang="en-US" dirty="0"/>
              <a:t>Atlantica Hotel</a:t>
            </a:r>
          </a:p>
          <a:p>
            <a:pPr fontAlgn="base"/>
            <a:r>
              <a:rPr lang="en-US" dirty="0"/>
              <a:t>Merv Sullivan Park</a:t>
            </a:r>
          </a:p>
          <a:p>
            <a:pPr fontAlgn="base"/>
            <a:r>
              <a:rPr lang="en-US" dirty="0"/>
              <a:t>Fort Needham Park</a:t>
            </a:r>
          </a:p>
          <a:p>
            <a:pPr fontAlgn="base"/>
            <a:r>
              <a:rPr lang="en-US" dirty="0"/>
              <a:t>Northwood Home</a:t>
            </a:r>
          </a:p>
          <a:p>
            <a:pPr fontAlgn="base"/>
            <a:r>
              <a:rPr lang="en-US" dirty="0"/>
              <a:t>St. Thomas Aquinas Church</a:t>
            </a:r>
          </a:p>
        </p:txBody>
      </p:sp>
    </p:spTree>
    <p:extLst>
      <p:ext uri="{BB962C8B-B14F-4D97-AF65-F5344CB8AC3E}">
        <p14:creationId xmlns:p14="http://schemas.microsoft.com/office/powerpoint/2010/main" val="169919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BB04-313C-6B8C-7593-52246EE3334C}"/>
              </a:ext>
            </a:extLst>
          </p:cNvPr>
          <p:cNvSpPr>
            <a:spLocks noGrp="1"/>
          </p:cNvSpPr>
          <p:nvPr>
            <p:ph type="title"/>
          </p:nvPr>
        </p:nvSpPr>
        <p:spPr/>
        <p:txBody>
          <a:bodyPr/>
          <a:lstStyle/>
          <a:p>
            <a:r>
              <a:rPr lang="en-US" dirty="0"/>
              <a:t>Candidate Locations for Nodes (Outside HFX)</a:t>
            </a:r>
          </a:p>
        </p:txBody>
      </p:sp>
      <p:sp>
        <p:nvSpPr>
          <p:cNvPr id="3" name="Content Placeholder 2">
            <a:extLst>
              <a:ext uri="{FF2B5EF4-FFF2-40B4-BE49-F238E27FC236}">
                <a16:creationId xmlns:a16="http://schemas.microsoft.com/office/drawing/2014/main" id="{C8A11DDB-AE83-E532-4EE3-BDF4B463B00E}"/>
              </a:ext>
            </a:extLst>
          </p:cNvPr>
          <p:cNvSpPr>
            <a:spLocks noGrp="1"/>
          </p:cNvSpPr>
          <p:nvPr>
            <p:ph idx="1"/>
          </p:nvPr>
        </p:nvSpPr>
        <p:spPr>
          <a:xfrm>
            <a:off x="838200" y="1825625"/>
            <a:ext cx="5257800" cy="4351338"/>
          </a:xfrm>
        </p:spPr>
        <p:txBody>
          <a:bodyPr>
            <a:normAutofit lnSpcReduction="10000"/>
          </a:bodyPr>
          <a:lstStyle/>
          <a:p>
            <a:r>
              <a:rPr lang="en-CA" dirty="0"/>
              <a:t>Wyse Tower</a:t>
            </a:r>
          </a:p>
          <a:p>
            <a:r>
              <a:rPr lang="en-CA" dirty="0"/>
              <a:t>The Kevel</a:t>
            </a:r>
          </a:p>
          <a:p>
            <a:r>
              <a:rPr lang="en-CA" dirty="0"/>
              <a:t>Brightwood Golf Course</a:t>
            </a:r>
          </a:p>
          <a:p>
            <a:r>
              <a:rPr lang="en-CA" dirty="0"/>
              <a:t>Horizon Court Apartments</a:t>
            </a:r>
          </a:p>
          <a:p>
            <a:r>
              <a:rPr lang="en-CA" dirty="0"/>
              <a:t>1 Oak Street Apartment</a:t>
            </a:r>
          </a:p>
          <a:p>
            <a:r>
              <a:rPr lang="en-CA" dirty="0"/>
              <a:t>Northbrook Park Apartment</a:t>
            </a:r>
          </a:p>
          <a:p>
            <a:r>
              <a:rPr lang="en-CA" dirty="0"/>
              <a:t>4 Franklyn Court Apartment</a:t>
            </a:r>
          </a:p>
          <a:p>
            <a:r>
              <a:rPr lang="en-CA" dirty="0"/>
              <a:t>Bell Lake Trail</a:t>
            </a:r>
          </a:p>
          <a:p>
            <a:r>
              <a:rPr lang="en-CA" dirty="0"/>
              <a:t>Cowie Hill Apartments</a:t>
            </a:r>
          </a:p>
        </p:txBody>
      </p:sp>
      <p:sp>
        <p:nvSpPr>
          <p:cNvPr id="4" name="Content Placeholder 2">
            <a:extLst>
              <a:ext uri="{FF2B5EF4-FFF2-40B4-BE49-F238E27FC236}">
                <a16:creationId xmlns:a16="http://schemas.microsoft.com/office/drawing/2014/main" id="{D963C643-ECA1-A8E4-CAC0-BB4A550DBAF6}"/>
              </a:ext>
            </a:extLst>
          </p:cNvPr>
          <p:cNvSpPr txBox="1">
            <a:spLocks/>
          </p:cNvSpPr>
          <p:nvPr/>
        </p:nvSpPr>
        <p:spPr>
          <a:xfrm>
            <a:off x="6096000"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The Waterton Condominiums</a:t>
            </a:r>
          </a:p>
          <a:p>
            <a:r>
              <a:rPr lang="en-CA" dirty="0"/>
              <a:t>HCHC Apartments</a:t>
            </a:r>
          </a:p>
          <a:p>
            <a:r>
              <a:rPr lang="en-CA" dirty="0"/>
              <a:t>The MZM</a:t>
            </a:r>
          </a:p>
          <a:p>
            <a:r>
              <a:rPr lang="en-CA" dirty="0"/>
              <a:t>Icon Bay Developments</a:t>
            </a:r>
          </a:p>
          <a:p>
            <a:pPr marL="0" indent="0">
              <a:buNone/>
            </a:pPr>
            <a:endParaRPr lang="en-CA" dirty="0"/>
          </a:p>
          <a:p>
            <a:pPr marL="0" indent="0">
              <a:buNone/>
            </a:pPr>
            <a:endParaRPr lang="en-CA" dirty="0"/>
          </a:p>
          <a:p>
            <a:pPr marL="0" indent="0">
              <a:buNone/>
            </a:pPr>
            <a:r>
              <a:rPr lang="en-CA" b="1" dirty="0"/>
              <a:t>…and potentially more?</a:t>
            </a:r>
          </a:p>
        </p:txBody>
      </p:sp>
    </p:spTree>
    <p:extLst>
      <p:ext uri="{BB962C8B-B14F-4D97-AF65-F5344CB8AC3E}">
        <p14:creationId xmlns:p14="http://schemas.microsoft.com/office/powerpoint/2010/main" val="756468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3D2B-30C3-2249-D441-CB0FB495FFDF}"/>
              </a:ext>
            </a:extLst>
          </p:cNvPr>
          <p:cNvSpPr>
            <a:spLocks noGrp="1"/>
          </p:cNvSpPr>
          <p:nvPr>
            <p:ph type="title"/>
          </p:nvPr>
        </p:nvSpPr>
        <p:spPr/>
        <p:txBody>
          <a:bodyPr/>
          <a:lstStyle/>
          <a:p>
            <a:r>
              <a:rPr lang="en-US" dirty="0"/>
              <a:t>Candidate Locations for Nodes </a:t>
            </a:r>
          </a:p>
        </p:txBody>
      </p:sp>
      <p:pic>
        <p:nvPicPr>
          <p:cNvPr id="5" name="Content Placeholder 4">
            <a:extLst>
              <a:ext uri="{FF2B5EF4-FFF2-40B4-BE49-F238E27FC236}">
                <a16:creationId xmlns:a16="http://schemas.microsoft.com/office/drawing/2014/main" id="{4D1769D5-9DF3-A996-E3FA-C5A3C5B0602C}"/>
              </a:ext>
            </a:extLst>
          </p:cNvPr>
          <p:cNvPicPr>
            <a:picLocks noGrp="1" noChangeAspect="1"/>
          </p:cNvPicPr>
          <p:nvPr>
            <p:ph idx="1"/>
          </p:nvPr>
        </p:nvPicPr>
        <p:blipFill>
          <a:blip r:embed="rId2"/>
          <a:stretch>
            <a:fillRect/>
          </a:stretch>
        </p:blipFill>
        <p:spPr>
          <a:xfrm>
            <a:off x="2056797" y="1418253"/>
            <a:ext cx="8078405" cy="5259797"/>
          </a:xfrm>
          <a:prstGeom prst="rect">
            <a:avLst/>
          </a:prstGeom>
        </p:spPr>
      </p:pic>
    </p:spTree>
    <p:extLst>
      <p:ext uri="{BB962C8B-B14F-4D97-AF65-F5344CB8AC3E}">
        <p14:creationId xmlns:p14="http://schemas.microsoft.com/office/powerpoint/2010/main" val="2687869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5FE9-2AAA-35ED-03DA-775EADEBA109}"/>
              </a:ext>
            </a:extLst>
          </p:cNvPr>
          <p:cNvSpPr>
            <a:spLocks noGrp="1"/>
          </p:cNvSpPr>
          <p:nvPr>
            <p:ph type="title"/>
          </p:nvPr>
        </p:nvSpPr>
        <p:spPr/>
        <p:txBody>
          <a:bodyPr/>
          <a:lstStyle/>
          <a:p>
            <a:r>
              <a:rPr lang="en-US" dirty="0"/>
              <a:t>Strong MeshCore Receiver Candidates</a:t>
            </a:r>
          </a:p>
        </p:txBody>
      </p:sp>
      <p:sp>
        <p:nvSpPr>
          <p:cNvPr id="3" name="Content Placeholder 2">
            <a:extLst>
              <a:ext uri="{FF2B5EF4-FFF2-40B4-BE49-F238E27FC236}">
                <a16:creationId xmlns:a16="http://schemas.microsoft.com/office/drawing/2014/main" id="{F6BC5941-76EE-A827-95D1-6CAAF7288020}"/>
              </a:ext>
            </a:extLst>
          </p:cNvPr>
          <p:cNvSpPr>
            <a:spLocks noGrp="1"/>
          </p:cNvSpPr>
          <p:nvPr>
            <p:ph idx="1"/>
          </p:nvPr>
        </p:nvSpPr>
        <p:spPr/>
        <p:txBody>
          <a:bodyPr/>
          <a:lstStyle/>
          <a:p>
            <a:r>
              <a:rPr lang="en-US" dirty="0"/>
              <a:t>Atlantica Hotel</a:t>
            </a:r>
          </a:p>
          <a:p>
            <a:r>
              <a:rPr lang="en-US" dirty="0"/>
              <a:t>Tupper Medical Building</a:t>
            </a:r>
          </a:p>
          <a:p>
            <a:r>
              <a:rPr lang="en-US"/>
              <a:t>Citadel Hill</a:t>
            </a:r>
          </a:p>
        </p:txBody>
      </p:sp>
    </p:spTree>
    <p:extLst>
      <p:ext uri="{BB962C8B-B14F-4D97-AF65-F5344CB8AC3E}">
        <p14:creationId xmlns:p14="http://schemas.microsoft.com/office/powerpoint/2010/main" val="3075513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TotalTime>
  <Words>354</Words>
  <Application>Microsoft Macintosh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Project Planning</vt:lpstr>
      <vt:lpstr>Review: LoRa Radio</vt:lpstr>
      <vt:lpstr>Meshtastic vs. MeshCore Node Placement</vt:lpstr>
      <vt:lpstr>Topographic Map of Halifax Area</vt:lpstr>
      <vt:lpstr>Candidate Locations for Nodes (Halifax)</vt:lpstr>
      <vt:lpstr>Candidate Locations for Nodes (Outside HFX)</vt:lpstr>
      <vt:lpstr>Candidate Locations for Nodes </vt:lpstr>
      <vt:lpstr>Strong MeshCore Receiver Candidates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16</cp:revision>
  <dcterms:created xsi:type="dcterms:W3CDTF">2026-05-19T12:20:02Z</dcterms:created>
  <dcterms:modified xsi:type="dcterms:W3CDTF">2026-05-19T18:30:59Z</dcterms:modified>
</cp:coreProperties>
</file>